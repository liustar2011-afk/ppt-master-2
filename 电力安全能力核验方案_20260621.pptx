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本报告由中电联数智科技有限公司联合中国电力企业联合会共同提交，聚焦电力外委人员入场安全能力可信核验场景，作为国家数据局电力领域先行先试项目的首批落地成果。</a:t>
            </a:r>
          </a:p>
          <a:p>
            <a:endParaRPr lang="en-US" dirty="0"/>
          </a:p>
          <a:p>
            <a:r>
              <a:rPr lang="zh-CN" dirty="0"/>
              <a:t>核心命题：在电力行业外委作业人员持续增长的背景下，如何以数据手段打通"培训-考试-证照-准入"四环节，实现安全能力核验的标准化与可信化。</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本次报告分四章展开：第一章阐述行业痛点与政策依据，第二章提出总体解决方案，第三章深入技术与业务实现细节，第四章聚焦实施路径与运营机制。</a:t>
            </a:r>
          </a:p>
          <a:p>
            <a:endParaRPr lang="en-US" dirty="0"/>
          </a:p>
          <a:p>
            <a:r>
              <a:rPr lang="zh-CN" dirty="0"/>
              <a:t>建议听众重点关注第二章的差异化定位与第三章的合规设计——这是本方案区别于市场现有训考产品的核心所在。</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大结构性矛盾是本方案的出发点。作业场景分散化意味着一家电力企业可能同时管理数百家承包商、数千名外委人员；标准口径碎片化意味着同一岗位在不同企业、不同地区的准入要求各不相同；跨主体复用缺失意味着同一个人每换一个项目就要重新培训、重新考试。</a:t>
            </a:r>
          </a:p>
          <a:p>
            <a:endParaRPr lang="en-US" dirty="0"/>
          </a:p>
          <a:p>
            <a:r>
              <a:rPr lang="zh-CN" dirty="0"/>
              <a:t>这三个矛盾相互叠加，构成了目前电力安全管理的核心挑战，也是本服务场景的价值锚点。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方案的合规性建立在四类政策文件基础上。安全生产侧的依据来自《安全生产法》修订版对承包商安全能力的明确要求；数据基础设施侧依托国家数据局电力领域先行先试的政策背景；个人信息保护侧严格遵循《个人信息保护法》授权原则；企业安全管理侧对接各大电力企业现行安全准入制度。</a:t>
            </a:r>
          </a:p>
          <a:p>
            <a:endParaRPr lang="en-US" dirty="0"/>
          </a:p>
          <a:p>
            <a:r>
              <a:rPr lang="zh-CN" dirty="0"/>
              <a:t>四类依据并非孤立，而是共同构成本场景"政策合规、数据可用、安全可控"的三重底座。</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市场上已有通用训考平台、证照查验工具和企业自建系统三类产品，各有其覆盖范围，但均存在明显短板：通用训考不做核验结论；证照工具缺乏能力综合判断；企业自建无法跨主体共享。</a:t>
            </a:r>
          </a:p>
          <a:p>
            <a:endParaRPr lang="en-US" dirty="0"/>
          </a:p>
          <a:p>
            <a:r>
              <a:rPr lang="zh-CN" dirty="0"/>
              <a:t>中电联数智科技的差异化空间在于：以行业权威身份整合多源数据，输出标准化"可信核验结论"而非原始数据，同时提供跨企业可复用的行业级服务。</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项原则构成本方案的设计哲学。业务牵引意味着一切技术选择服从于真实外委入场场景；小步快跑意味着以90天先行验证期快速验证、快速迭代；合规前置意味着个人信息授权先于任何数据处理；数据沉淀意味着每次核验都在为行业级能力画像积累资产。</a:t>
            </a:r>
          </a:p>
          <a:p>
            <a:endParaRPr lang="en-US" dirty="0"/>
          </a:p>
          <a:p>
            <a:r>
              <a:rPr lang="zh-CN" dirty="0"/>
              <a:t>这四项原则之间有内在逻辑：先合规、后建设、在业务中跑、在跑中沉数据。</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阶段路径体现"先行验证—产品成型—规模推广"的递进逻辑。先行验证期90天内完成3家以上企业的真实场景验证，证明核验结论可用；产品成型期6-12个月形成标准化产品和商业模式；规模推广期面向全行业复制。</a:t>
            </a:r>
          </a:p>
          <a:p>
            <a:endParaRPr lang="en-US" dirty="0"/>
          </a:p>
          <a:p>
            <a:r>
              <a:rPr lang="zh-CN" dirty="0"/>
              <a:t>当前阶段处于先行验证期规划阶段，本报告即为先行验证期工作方案。</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类数据资源构成核验服务的基础设施。安规训考数据是最核心的差异化资产——中电联直接管理电力行业安规题库；人员能力数据记录个人历史学习与考试记录；证照资质数据需对接权威渠道核查有效性；项目准入数据来自各用工企业的准入规则配置；行业聚合数据则是在核验积累中形成的行业画像。</a:t>
            </a:r>
          </a:p>
          <a:p>
            <a:endParaRPr lang="en-US" dirty="0"/>
          </a:p>
          <a:p>
            <a:r>
              <a:rPr lang="zh-CN" dirty="0"/>
              <a:t>五类数据不独立存在，在核验引擎中综合判断。</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本服务场景不是孤立建设，而是依托电力领域数据基础设施的三个维度协同落地。安全管控维度保障数据全程可控；数据共享维度通过标准接口实现跨主体流通；价值共创维度让行业数据资产持续增值。</a:t>
            </a:r>
          </a:p>
          <a:p>
            <a:endParaRPr lang="en-US" dirty="0"/>
          </a:p>
          <a:p>
            <a:r>
              <a:rPr lang="zh-CN" dirty="0"/>
              <a:t>这三个维度相互支撑，使本场景既符合国家数据基础设施建设方向，又具备独立落地的可行性。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三类首批场景的选择依据是"外委人员密度高、安全风险大、信息化基础相对完善"。新能源站运维场景外委人员流动性强；电力建设施工场景人员来源最复杂；检修技改场景特种作业资质要求最高。</a:t>
            </a:r>
          </a:p>
          <a:p>
            <a:endParaRPr lang="en-US" dirty="0"/>
          </a:p>
          <a:p>
            <a:r>
              <a:rPr lang="zh-CN" dirty="0"/>
              <a:t>三类场景共同构成先行验证期的覆盖范围，验证结论可以互相印证、形成合力。</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八环节闭环是整个服务的业务骨架。从项目建档开始，到人员清单导入、个人授权确认、培训考试、证照核验、准入判断、企业审批使用，最终到审计复盘，每一环节都有明确的数据输入和输出。</a:t>
            </a:r>
          </a:p>
          <a:p>
            <a:endParaRPr lang="en-US" dirty="0"/>
          </a:p>
          <a:p>
            <a:r>
              <a:rPr lang="zh-CN" dirty="0"/>
              <a:t>特别提示：个人授权确认环节是整个流程的合规闸口——未授权不得核验，这一设计是个人信息保护法合规的核心体现。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六大功能模块覆盖全流程。人员与项目管理是基础台账；授权与合规管理是合规底座；训考服务承接培训与考试能力；证照核验对接权威渠道；准入规则引擎是核心决策组件；结果报告与看板面向企业使用方。</a:t>
            </a:r>
          </a:p>
          <a:p>
            <a:endParaRPr lang="en-US" dirty="0"/>
          </a:p>
          <a:p>
            <a:r>
              <a:rPr lang="zh-CN" dirty="0"/>
              <a:t>六个模块可以独立部署，也可以整体交付，具备模块化扩展能力。</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层架构设计体现"安全第一、合规内嵌"的技术哲学。接入层支持多端入口；授权层是独立的合规层，不与业务逻辑混合；核验层是核心计算层，整合训考、证照、规则三类判断；输出层面向企业使用需求；安全层横向覆盖全栈。</a:t>
            </a:r>
          </a:p>
          <a:p>
            <a:endParaRPr lang="en-US" dirty="0"/>
          </a:p>
          <a:p>
            <a:r>
              <a:rPr lang="zh-CN" dirty="0"/>
              <a:t>核心自建能力集中在授权层和核验层，其余层可借助成熟技术组件快速建设。</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最小必要原则贯穿全部七类数据的字段设计。敏感字段（身份证号、手机号）脱敏存储、有限输出；核验结论以摘要形式输出而非开放明细；全程授权留痕是每次数据处理的前提条件。</a:t>
            </a:r>
          </a:p>
          <a:p>
            <a:endParaRPr lang="en-US" dirty="0"/>
          </a:p>
          <a:p>
            <a:r>
              <a:rPr lang="zh-CN" dirty="0"/>
              <a:t>此页数据是向企业和监管方展示合规严肃性的重要依据，建议在实际汇报中重点停留。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四类治理机制形成完整的质量闭环。题库质量确保"输入可信"；核验规则治理确保"处理有据"；数据质量治理确保"过程完整"；结果质量治理确保"输出可申诉"。</a:t>
            </a:r>
          </a:p>
          <a:p>
            <a:endParaRPr lang="en-US" dirty="0"/>
          </a:p>
          <a:p>
            <a:r>
              <a:rPr lang="zh-CN" dirty="0"/>
              <a:t>只有四类机制同时运转，企业才有信心将核验结论用于真实的准入审批决策。这是本服务场景与通用工具的根本区别。</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90天五阶段计划是先行验证期的工作指引。启动准备阶段（W1-2）完成企业对接和分工；规则与合规设计阶段（W3-4）形成准入规则和合规文本；最小产品上线阶段（W5-8）完成核心系统开发和测试；真实运行阶段（W9-11）完成实战核验和闭环整改；复盘评估阶段（W12）产出验证报告和推广建议。</a:t>
            </a:r>
          </a:p>
          <a:p>
            <a:endParaRPr lang="en-US" dirty="0"/>
          </a:p>
          <a:p>
            <a:r>
              <a:rPr lang="zh-CN" dirty="0"/>
              <a:t>时间节点是刚性约束，建议立即启动企业对接工作。</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七类主体的协同是先行验证期成功的组织保障。中电联数智科技作为牵头方承担产品建设和运营；中电联相关业务机构提供题库和行业标准；用工企业安监部门提供真实场景和准入规则；技术服务方保障系统稳定运行。</a:t>
            </a:r>
          </a:p>
          <a:p>
            <a:endParaRPr lang="en-US" dirty="0"/>
          </a:p>
          <a:p>
            <a:r>
              <a:rPr lang="zh-CN" dirty="0"/>
              <a:t>协同关系需要通过合同或协议明确，建议在启动准备阶段完成全部合作协议签署。</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类验收指标是先行验证期成果的量化体现。业务嵌入深度（3家以上企业）验证可落地性；效率提升（50%以上）验证可量化价值；风险发现（5项以上）验证可信核验的安全价值；合规可控（100%留痕）验证合规底座；商业验证（2家付费意愿）验证商业路径。</a:t>
            </a:r>
          </a:p>
          <a:p>
            <a:endParaRPr lang="en-US" dirty="0"/>
          </a:p>
          <a:p>
            <a:r>
              <a:rPr lang="zh-CN" dirty="0"/>
              <a:t>指标设置遵循"可测量、可验证、与90天时间匹配"原则，具体数值在企业签约时双方确认。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五类服务产品体系是商业可持续的基础。能力核验服务是核心收入来源；题库授权服务变现中电联独有内容资产；平台运维支持保障服务稳定性；行业数据服务是中期增值方向；合规咨询服务对接专家资源变现。</a:t>
            </a:r>
          </a:p>
          <a:p>
            <a:endParaRPr lang="en-US" dirty="0"/>
          </a:p>
          <a:p>
            <a:r>
              <a:rPr lang="zh-CN" dirty="0"/>
              <a:t>五类产品不必同步上线，建议先行验证期聚焦核验服务，后续逐步丰富产品线。</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五类风险中，数据合规风险等级最高，需前置处理。其余四类风险均有明确的前置控制措施和责任方分工。</a:t>
            </a:r>
          </a:p>
          <a:p>
            <a:endParaRPr lang="en-US" dirty="0"/>
          </a:p>
          <a:p>
            <a:r>
              <a:rPr lang="zh-CN" dirty="0"/>
              <a:t>特别强调：政策变化风险虽然等级低，但影响周期最长，建议建立持续的政策追踪机制，并与监管部门保持主动沟通。</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六条建议按先后顺序排列，01（签署合作协议）和02（完成合规顶层设计）是最紧迫的前置工作，需在项目启动后两周内完成。</a:t>
            </a:r>
          </a:p>
          <a:p>
            <a:endParaRPr lang="en-US" dirty="0"/>
          </a:p>
          <a:p>
            <a:r>
              <a:rPr lang="zh-CN" dirty="0"/>
              <a:t>03（建设MVP）和04（组织真实运行）是验证期主体工作，需要技术服务方紧密配合。05（复盘报告）和06（规划产品成型期）是验证期的收尾工作，也是进入下一阶段的入场券。</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感谢各位聆听。本方案已完成前期论证，具备立即启动先行验证期的条件。</a:t>
            </a:r>
          </a:p>
          <a:p>
            <a:endParaRPr lang="en-US" dirty="0"/>
          </a:p>
          <a:p>
            <a:r>
              <a:rPr lang="zh-CN" dirty="0"/>
              <a:t>后续沟通重点：一是参与先行验证的企业名单确认；二是合作协议框架讨论；三是技术方案细化与开发排期。</a:t>
            </a:r>
          </a:p>
          <a:p>
            <a:endParaRPr lang="en-US" dirty="0"/>
          </a:p>
          <a:p>
            <a:r>
              <a:rPr lang="zh-CN" dirty="0"/>
              <a:t>欢迎就任何技术细节、合规设计或商业模式问题进一步交流。</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b350761a667c404.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b350761a667c404.jpg"/>
  <Relationship Id="rId3"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8" name="Group 8"/>
          <p:cNvGrpSpPr/>
          <p:nvPr/>
        </p:nvGrpSpPr>
        <p:grpSpPr>
          <a:xfrm>
            <a:off x="-952500" y="923925"/>
            <a:ext cx="12506325" cy="6886575"/>
            <a:chOff x="-952500" y="923925"/>
            <a:chExt cx="12506325" cy="6886575"/>
          </a:xfrm>
        </p:grpSpPr>
        <p:sp>
          <p:nvSpPr>
            <p:cNvPr id="3" name="Ellipse 3"/>
            <p:cNvSpPr/>
            <p:nvPr/>
          </p:nvSpPr>
          <p:spPr>
            <a:xfrm>
              <a:off x="-952500" y="4381500"/>
              <a:ext cx="3429000" cy="3429000"/>
            </a:xfrm>
            <a:prstGeom prst="ellipse">
              <a:avLst/>
            </a:prstGeom>
            <a:noFill/>
            <a:ln w="9525">
              <a:solidFill>
                <a:srgbClr val="4AB3D6">
                  <a:alpha val="12000"/>
                </a:srgbClr>
              </a:solidFill>
            </a:ln>
          </p:spPr>
        </p:sp>
        <p:sp>
          <p:nvSpPr>
            <p:cNvPr id="4" name="Ellipse 4"/>
            <p:cNvSpPr/>
            <p:nvPr/>
          </p:nvSpPr>
          <p:spPr>
            <a:xfrm>
              <a:off x="-381000" y="4953000"/>
              <a:ext cx="2286000" cy="2286000"/>
            </a:xfrm>
            <a:prstGeom prst="ellipse">
              <a:avLst/>
            </a:prstGeom>
            <a:noFill/>
            <a:ln w="9525">
              <a:solidFill>
                <a:srgbClr val="4AB3D6">
                  <a:alpha val="8000"/>
                </a:srgbClr>
              </a:solidFill>
            </a:ln>
          </p:spPr>
        </p:sp>
        <p:sp>
          <p:nvSpPr>
            <p:cNvPr id="5" name="Ellipse 5"/>
            <p:cNvSpPr/>
            <p:nvPr/>
          </p:nvSpPr>
          <p:spPr>
            <a:xfrm>
              <a:off x="11201400" y="1104900"/>
              <a:ext cx="76200" cy="76200"/>
            </a:xfrm>
            <a:prstGeom prst="ellipse">
              <a:avLst/>
            </a:prstGeom>
            <a:solidFill>
              <a:srgbClr val="8B0000">
                <a:alpha val="25000"/>
              </a:srgbClr>
            </a:solidFill>
            <a:ln>
              <a:noFill/>
            </a:ln>
          </p:spPr>
        </p:sp>
        <p:sp>
          <p:nvSpPr>
            <p:cNvPr id="6" name="Ellipse 6"/>
            <p:cNvSpPr/>
            <p:nvPr/>
          </p:nvSpPr>
          <p:spPr>
            <a:xfrm>
              <a:off x="11496675" y="923925"/>
              <a:ext cx="57150" cy="57150"/>
            </a:xfrm>
            <a:prstGeom prst="ellipse">
              <a:avLst/>
            </a:prstGeom>
            <a:solidFill>
              <a:srgbClr val="8B0000">
                <a:alpha val="18000"/>
              </a:srgbClr>
            </a:solidFill>
            <a:ln>
              <a:noFill/>
            </a:ln>
          </p:spPr>
        </p:sp>
        <p:sp>
          <p:nvSpPr>
            <p:cNvPr id="7" name="Ellipse 7"/>
            <p:cNvSpPr/>
            <p:nvPr/>
          </p:nvSpPr>
          <p:spPr>
            <a:xfrm>
              <a:off x="11363325" y="1362075"/>
              <a:ext cx="38100" cy="38100"/>
            </a:xfrm>
            <a:prstGeom prst="ellipse">
              <a:avLst/>
            </a:prstGeom>
            <a:solidFill>
              <a:srgbClr val="8B0000">
                <a:alpha val="12000"/>
              </a:srgbClr>
            </a:solidFill>
            <a:ln>
              <a:noFill/>
            </a:ln>
          </p:spPr>
        </p:sp>
      </p:grpSp>
      <p:sp>
        <p:nvSpPr>
          <p:cNvPr id="9" name="TextBox 9"/>
          <p:cNvSpPr txBox="1"/>
          <p:nvPr/>
        </p:nvSpPr>
        <p:spPr>
          <a:xfrm>
            <a:off x="3743801" y="1882140"/>
            <a:ext cx="4704398" cy="670560"/>
          </a:xfrm>
          <a:prstGeom prst="rect">
            <a:avLst/>
          </a:prstGeom>
          <a:noFill/>
          <a:ln>
            <a:noFill/>
          </a:ln>
        </p:spPr>
        <p:txBody>
          <a:bodyPr wrap="none" lIns="0" tIns="0" rIns="0" bIns="0" anchor="t" anchorCtr="0">
            <a:spAutoFit/>
          </a:bodyPr>
          <a:lstStyle/>
          <a:p>
            <a:pPr algn="ctr"/>
            <a:r>
              <a:rPr lang="zh-CN" sz="3300" b="1" dirty="0">
                <a:solidFill>
                  <a:srgbClr val="1F2933"/>
                </a:solidFill>
                <a:latin typeface="Arial"/>
                <a:ea typeface="SimHei"/>
                <a:cs typeface="Arial"/>
              </a:rPr>
              <a:t>电力从业人员安全能力</a:t>
            </a:r>
          </a:p>
        </p:txBody>
      </p:sp>
      <p:sp>
        <p:nvSpPr>
          <p:cNvPr id="10" name="TextBox 10"/>
          <p:cNvSpPr txBox="1"/>
          <p:nvPr/>
        </p:nvSpPr>
        <p:spPr>
          <a:xfrm>
            <a:off x="3281744" y="2377440"/>
            <a:ext cx="5628513" cy="670560"/>
          </a:xfrm>
          <a:prstGeom prst="rect">
            <a:avLst/>
          </a:prstGeom>
          <a:noFill/>
          <a:ln>
            <a:noFill/>
          </a:ln>
        </p:spPr>
        <p:txBody>
          <a:bodyPr wrap="none" lIns="0" tIns="0" rIns="0" bIns="0" anchor="t" anchorCtr="0">
            <a:spAutoFit/>
          </a:bodyPr>
          <a:lstStyle/>
          <a:p>
            <a:pPr algn="ctr"/>
            <a:r>
              <a:rPr lang="zh-CN" sz="3300" b="1" dirty="0">
                <a:solidFill>
                  <a:srgbClr val="1F2933"/>
                </a:solidFill>
                <a:latin typeface="Arial"/>
                <a:ea typeface="SimHei"/>
                <a:cs typeface="Arial"/>
              </a:rPr>
              <a:t>可信核验服务场景建设方案</a:t>
            </a:r>
          </a:p>
        </p:txBody>
      </p:sp>
      <p:sp>
        <p:nvSpPr>
          <p:cNvPr id="11" name="TextBox 11"/>
          <p:cNvSpPr txBox="1"/>
          <p:nvPr/>
        </p:nvSpPr>
        <p:spPr>
          <a:xfrm>
            <a:off x="3576638" y="3038475"/>
            <a:ext cx="5038725" cy="304800"/>
          </a:xfrm>
          <a:prstGeom prst="rect">
            <a:avLst/>
          </a:prstGeom>
          <a:noFill/>
          <a:ln>
            <a:noFill/>
          </a:ln>
        </p:spPr>
        <p:txBody>
          <a:bodyPr wrap="none" lIns="0" tIns="0" rIns="0" bIns="0" anchor="t" anchorCtr="0">
            <a:spAutoFit/>
          </a:bodyPr>
          <a:lstStyle/>
          <a:p>
            <a:pPr algn="ctr"/>
            <a:r>
              <a:rPr lang="zh-CN" sz="1500" dirty="0">
                <a:solidFill>
                  <a:srgbClr val="174A7C"/>
                </a:solidFill>
                <a:latin typeface="Arial"/>
                <a:ea typeface="Microsoft YaHei"/>
                <a:cs typeface="Arial"/>
              </a:rPr>
              <a:t>以外委人员入场安全能力核验为牵引的行业数据服务场景</a:t>
            </a:r>
          </a:p>
        </p:txBody>
      </p:sp>
      <p:sp>
        <p:nvSpPr>
          <p:cNvPr id="12" name="Rectangle 12"/>
          <p:cNvSpPr/>
          <p:nvPr/>
        </p:nvSpPr>
        <p:spPr>
          <a:xfrm>
            <a:off x="4572000" y="3409950"/>
            <a:ext cx="3048000" cy="247650"/>
          </a:xfrm>
          <a:prstGeom prst="roundRect">
            <a:avLst>
              <a:gd name="adj" fmla="val 7692"/>
            </a:avLst>
          </a:prstGeom>
          <a:solidFill>
            <a:srgbClr val="003A70">
              <a:alpha val="12000"/>
            </a:srgbClr>
          </a:solidFill>
          <a:ln>
            <a:noFill/>
          </a:ln>
        </p:spPr>
      </p:sp>
      <p:sp>
        <p:nvSpPr>
          <p:cNvPr id="13" name="TextBox 13"/>
          <p:cNvSpPr txBox="1"/>
          <p:nvPr/>
        </p:nvSpPr>
        <p:spPr>
          <a:xfrm>
            <a:off x="4643688" y="3476149"/>
            <a:ext cx="2904625" cy="198120"/>
          </a:xfrm>
          <a:prstGeom prst="rect">
            <a:avLst/>
          </a:prstGeom>
          <a:noFill/>
          <a:ln>
            <a:noFill/>
          </a:ln>
        </p:spPr>
        <p:txBody>
          <a:bodyPr wrap="none" lIns="0" tIns="0" rIns="0" bIns="0" anchor="t" anchorCtr="0">
            <a:spAutoFit/>
          </a:bodyPr>
          <a:lstStyle/>
          <a:p>
            <a:pPr algn="ctr"/>
            <a:r>
              <a:rPr lang="zh-CN" sz="975" dirty="0">
                <a:solidFill>
                  <a:srgbClr val="003A70"/>
                </a:solidFill>
                <a:latin typeface="Arial"/>
                <a:ea typeface="Microsoft YaHei"/>
                <a:cs typeface="Arial"/>
              </a:rPr>
              <a:t>国家数据局电力领域先行先试项目 · 首批落地场景</a:t>
            </a:r>
          </a:p>
        </p:txBody>
      </p:sp>
      <p:sp>
        <p:nvSpPr>
          <p:cNvPr id="14" name="TextBox 14"/>
          <p:cNvSpPr txBox="1"/>
          <p:nvPr/>
        </p:nvSpPr>
        <p:spPr>
          <a:xfrm>
            <a:off x="5200650" y="4632960"/>
            <a:ext cx="1790700" cy="243840"/>
          </a:xfrm>
          <a:prstGeom prst="rect">
            <a:avLst/>
          </a:prstGeom>
          <a:noFill/>
          <a:ln>
            <a:noFill/>
          </a:ln>
        </p:spPr>
        <p:txBody>
          <a:bodyPr wrap="none" lIns="0" tIns="0" rIns="0" bIns="0" anchor="t" anchorCtr="0">
            <a:spAutoFit/>
          </a:bodyPr>
          <a:lstStyle/>
          <a:p>
            <a:pPr algn="ctr"/>
            <a:r>
              <a:rPr lang="zh-CN" sz="1200" dirty="0">
                <a:solidFill>
                  <a:srgbClr val="EAF3FF">
                    <a:alphaMod val="85000"/>
                  </a:srgbClr>
                </a:solidFill>
                <a:latin typeface="Arial"/>
                <a:ea typeface="Microsoft YaHei"/>
                <a:cs typeface="Arial"/>
              </a:rPr>
              <a:t>中电联数智科技有限公司</a:t>
            </a:r>
          </a:p>
        </p:txBody>
      </p:sp>
      <p:sp>
        <p:nvSpPr>
          <p:cNvPr id="15" name="TextBox 15"/>
          <p:cNvSpPr txBox="1"/>
          <p:nvPr/>
        </p:nvSpPr>
        <p:spPr>
          <a:xfrm>
            <a:off x="4842581" y="4932998"/>
            <a:ext cx="2506837" cy="396240"/>
          </a:xfrm>
          <a:prstGeom prst="rect">
            <a:avLst/>
          </a:prstGeom>
          <a:noFill/>
          <a:ln>
            <a:noFill/>
          </a:ln>
        </p:spPr>
        <p:txBody>
          <a:bodyPr wrap="none" lIns="0" tIns="0" rIns="0" bIns="0" anchor="t" anchorCtr="0">
            <a:spAutoFit/>
          </a:bodyPr>
          <a:lstStyle/>
          <a:p>
            <a:pPr algn="ctr"/>
            <a:r>
              <a:rPr lang="zh-CN" sz="1950" b="1" dirty="0">
                <a:solidFill>
                  <a:srgbClr val="FFFFFF"/>
                </a:solidFill>
                <a:latin typeface="Arial"/>
                <a:ea typeface="SimHei"/>
                <a:cs typeface="Arial"/>
              </a:rPr>
              <a:t>中国电力企业联合会</a:t>
            </a:r>
          </a:p>
        </p:txBody>
      </p:sp>
      <p:sp>
        <p:nvSpPr>
          <p:cNvPr id="16" name="TextBox 16"/>
          <p:cNvSpPr txBox="1"/>
          <p:nvPr/>
        </p:nvSpPr>
        <p:spPr>
          <a:xfrm>
            <a:off x="5601891" y="5553075"/>
            <a:ext cx="988219" cy="304800"/>
          </a:xfrm>
          <a:prstGeom prst="rect">
            <a:avLst/>
          </a:prstGeom>
          <a:noFill/>
          <a:ln>
            <a:noFill/>
          </a:ln>
        </p:spPr>
        <p:txBody>
          <a:bodyPr wrap="none" lIns="0" tIns="0" rIns="0" bIns="0" anchor="t" anchorCtr="0">
            <a:spAutoFit/>
          </a:bodyPr>
          <a:lstStyle/>
          <a:p>
            <a:pPr algn="ctr"/>
            <a:r>
              <a:rPr lang="zh-CN" sz="1500" dirty="0">
                <a:solidFill>
                  <a:srgbClr val="EAF3FF"/>
                </a:solidFill>
                <a:latin typeface="Arial"/>
                <a:ea typeface="Microsoft YaHei"/>
                <a:cs typeface="Arial"/>
              </a:rPr>
              <a:t>2026年6月</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402153" cy="167640"/>
          </a:xfrm>
          <a:prstGeom prst="rect">
            <a:avLst/>
          </a:prstGeom>
          <a:noFill/>
          <a:ln>
            <a:noFill/>
          </a:ln>
        </p:spPr>
        <p:txBody>
          <a:bodyPr wrap="none" lIns="0" tIns="0" rIns="0" bIns="0" anchor="t" anchorCtr="0">
            <a:spAutoFit/>
          </a:bodyPr>
          <a:lstStyle/>
          <a:p>
            <a:pPr algn="l"/>
            <a:r>
              <a:rPr lang="en-US" sz="825" b="1" dirty="0">
                <a:solidFill>
                  <a:srgbClr val="0077CC"/>
                </a:solidFill>
                <a:latin typeface="Arial"/>
                <a:ea typeface="Arial"/>
                <a:cs typeface="Arial"/>
              </a:rPr>
              <a:t>AGENDA</a:t>
            </a:r>
          </a:p>
        </p:txBody>
      </p:sp>
      <p:sp>
        <p:nvSpPr>
          <p:cNvPr id="4" name="TextBox 4"/>
          <p:cNvSpPr txBox="1"/>
          <p:nvPr/>
        </p:nvSpPr>
        <p:spPr>
          <a:xfrm>
            <a:off x="523875" y="1166812"/>
            <a:ext cx="687229" cy="457200"/>
          </a:xfrm>
          <a:prstGeom prst="rect">
            <a:avLst/>
          </a:prstGeom>
          <a:noFill/>
          <a:ln>
            <a:noFill/>
          </a:ln>
        </p:spPr>
        <p:txBody>
          <a:bodyPr wrap="none" lIns="0" tIns="0" rIns="0" bIns="0" anchor="t" anchorCtr="0">
            <a:spAutoFit/>
          </a:bodyPr>
          <a:lstStyle/>
          <a:p>
            <a:pPr algn="l"/>
            <a:r>
              <a:rPr lang="zh-CN" sz="2250" b="1" dirty="0">
                <a:solidFill>
                  <a:srgbClr val="003A70"/>
                </a:solidFill>
                <a:latin typeface="Arial"/>
                <a:ea typeface="SimHei"/>
                <a:cs typeface="Arial"/>
              </a:rPr>
              <a:t>目录</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762125"/>
            <a:ext cx="2571750" cy="4191000"/>
          </a:xfrm>
          <a:prstGeom prst="roundRect">
            <a:avLst>
              <a:gd name="adj" fmla="val 741"/>
            </a:avLst>
          </a:prstGeom>
          <a:solidFill>
            <a:srgbClr val="F0F4F8"/>
          </a:solidFill>
          <a:ln>
            <a:noFill/>
          </a:ln>
        </p:spPr>
      </p:sp>
      <p:sp>
        <p:nvSpPr>
          <p:cNvPr id="7" name="Rectangle 7"/>
          <p:cNvSpPr/>
          <p:nvPr/>
        </p:nvSpPr>
        <p:spPr>
          <a:xfrm>
            <a:off x="552450" y="1762125"/>
            <a:ext cx="47625" cy="4191000"/>
          </a:xfrm>
          <a:prstGeom prst="rect">
            <a:avLst/>
          </a:prstGeom>
          <a:solidFill>
            <a:srgbClr val="003A70"/>
          </a:solidFill>
          <a:ln>
            <a:noFill/>
          </a:ln>
        </p:spPr>
      </p:sp>
      <p:sp>
        <p:nvSpPr>
          <p:cNvPr id="8" name="TextBox 8"/>
          <p:cNvSpPr txBox="1"/>
          <p:nvPr/>
        </p:nvSpPr>
        <p:spPr>
          <a:xfrm>
            <a:off x="754380" y="1783080"/>
            <a:ext cx="645909" cy="731520"/>
          </a:xfrm>
          <a:prstGeom prst="rect">
            <a:avLst/>
          </a:prstGeom>
          <a:noFill/>
          <a:ln>
            <a:noFill/>
          </a:ln>
        </p:spPr>
        <p:txBody>
          <a:bodyPr wrap="none" lIns="0" tIns="0" rIns="0" bIns="0" anchor="t" anchorCtr="0">
            <a:spAutoFit/>
          </a:bodyPr>
          <a:lstStyle/>
          <a:p>
            <a:pPr algn="l"/>
            <a:r>
              <a:rPr lang="en-US" sz="3600" b="1" dirty="0">
                <a:solidFill>
                  <a:srgbClr val="003A70">
                    <a:alphaMod val="15000"/>
                  </a:srgbClr>
                </a:solidFill>
                <a:latin typeface="Arial"/>
                <a:ea typeface="Arial"/>
                <a:cs typeface="Arial"/>
              </a:rPr>
              <a:t>01</a:t>
            </a:r>
          </a:p>
        </p:txBody>
      </p:sp>
      <p:sp>
        <p:nvSpPr>
          <p:cNvPr id="9" name="TextBox 9"/>
          <p:cNvSpPr txBox="1"/>
          <p:nvPr/>
        </p:nvSpPr>
        <p:spPr>
          <a:xfrm>
            <a:off x="781050" y="2505075"/>
            <a:ext cx="1508284" cy="304800"/>
          </a:xfrm>
          <a:prstGeom prst="rect">
            <a:avLst/>
          </a:prstGeom>
          <a:noFill/>
          <a:ln>
            <a:noFill/>
          </a:ln>
        </p:spPr>
        <p:txBody>
          <a:bodyPr wrap="none" lIns="0" tIns="0" rIns="0" bIns="0" anchor="t" anchorCtr="0">
            <a:spAutoFit/>
          </a:bodyPr>
          <a:lstStyle/>
          <a:p>
            <a:pPr algn="l"/>
            <a:r>
              <a:rPr lang="zh-CN" sz="1500" b="1" dirty="0">
                <a:solidFill>
                  <a:srgbClr val="003A70"/>
                </a:solidFill>
                <a:latin typeface="Arial"/>
                <a:ea typeface="SimHei"/>
                <a:cs typeface="Arial"/>
              </a:rPr>
              <a:t>建设背景与依据</a:t>
            </a:r>
          </a:p>
        </p:txBody>
      </p:sp>
      <p:sp>
        <p:nvSpPr>
          <p:cNvPr id="10" name="Line 10"/>
          <p:cNvSpPr/>
          <p:nvPr/>
        </p:nvSpPr>
        <p:spPr>
          <a:xfrm>
            <a:off x="800100" y="2800350"/>
            <a:ext cx="2133600" cy="9525"/>
          </a:xfrm>
          <a:custGeom>
            <a:avLst/>
            <a:gdLst/>
            <a:ahLst/>
            <a:cxnLst/>
            <a:rect l="l" t="t" r="r" b="b"/>
            <a:pathLst>
              <a:path w="2133600" h="9525">
                <a:moveTo>
                  <a:pt x="0" y="0"/>
                </a:moveTo>
                <a:lnTo>
                  <a:pt x="2133600" y="0"/>
                </a:lnTo>
              </a:path>
            </a:pathLst>
          </a:custGeom>
          <a:noFill/>
          <a:ln w="14288">
            <a:solidFill>
              <a:srgbClr val="0077CC"/>
            </a:solidFill>
          </a:ln>
        </p:spPr>
      </p:sp>
      <p:sp>
        <p:nvSpPr>
          <p:cNvPr id="11" name="TextBox 11"/>
          <p:cNvSpPr txBox="1"/>
          <p:nvPr/>
        </p:nvSpPr>
        <p:spPr>
          <a:xfrm>
            <a:off x="786765" y="2953702"/>
            <a:ext cx="1340168" cy="918210"/>
          </a:xfrm>
          <a:prstGeom prst="rect">
            <a:avLst/>
          </a:prstGeom>
          <a:noFill/>
          <a:ln>
            <a:noFill/>
          </a:ln>
        </p:spPr>
        <p:txBody>
          <a:bodyPr wrap="square" lIns="0" tIns="0" rIns="0" bIns="0" anchor="t" anchorCtr="0"/>
          <a:lstStyle/>
          <a:p>
            <a:pPr algn="l">
              <a:lnSpc>
                <a:spcPts val="1650"/>
              </a:lnSpc>
            </a:pPr>
            <a:r>
              <a:rPr lang="zh-CN" sz="1050" dirty="0">
                <a:solidFill>
                  <a:srgbClr val="4A5568"/>
                </a:solidFill>
                <a:latin typeface="Arial"/>
                <a:ea typeface="Microsoft YaHei"/>
                <a:cs typeface="Arial"/>
              </a:rPr>
              <a:t>· 行业痛点：三重挑战</a:t>
            </a:r>
          </a:p>
          <a:p>
            <a:pPr algn="l">
              <a:lnSpc>
                <a:spcPts val="1650"/>
              </a:lnSpc>
              <a:spcBef>
                <a:spcPts val="300"/>
              </a:spcBef>
            </a:pPr>
            <a:r>
              <a:rPr lang="zh-CN" sz="1050" dirty="0">
                <a:solidFill>
                  <a:srgbClr val="4A5568"/>
                </a:solidFill>
                <a:latin typeface="Arial"/>
                <a:ea typeface="Microsoft YaHei"/>
                <a:cs typeface="Arial"/>
              </a:rPr>
              <a:t>· 建设依据：四维支撑</a:t>
            </a:r>
          </a:p>
          <a:p>
            <a:pPr algn="l">
              <a:lnSpc>
                <a:spcPts val="1650"/>
              </a:lnSpc>
              <a:spcBef>
                <a:spcPts val="300"/>
              </a:spcBef>
            </a:pPr>
            <a:r>
              <a:rPr lang="zh-CN" sz="1050" dirty="0">
                <a:solidFill>
                  <a:srgbClr val="4A5568"/>
                </a:solidFill>
                <a:latin typeface="Arial"/>
                <a:ea typeface="Microsoft YaHei"/>
                <a:cs typeface="Arial"/>
              </a:rPr>
              <a:t>· 差异化定位：</a:t>
            </a:r>
            <a:r>
              <a:rPr lang="zh-CN" sz="1050" dirty="0">
                <a:solidFill>
                  <a:srgbClr val="4A5568"/>
                </a:solidFill>
                <a:latin typeface="Arial"/>
                <a:ea typeface="Microsoft YaHei"/>
                <a:cs typeface="Arial"/>
              </a:rPr>
              <a:t>可信核验 vs 通用训考</a:t>
            </a:r>
          </a:p>
        </p:txBody>
      </p:sp>
      <p:sp>
        <p:nvSpPr>
          <p:cNvPr id="12" name="TextBox 12"/>
          <p:cNvSpPr txBox="1"/>
          <p:nvPr/>
        </p:nvSpPr>
        <p:spPr>
          <a:xfrm>
            <a:off x="2494988" y="5596890"/>
            <a:ext cx="461572" cy="365760"/>
          </a:xfrm>
          <a:prstGeom prst="rect">
            <a:avLst/>
          </a:prstGeom>
          <a:noFill/>
          <a:ln>
            <a:noFill/>
          </a:ln>
        </p:spPr>
        <p:txBody>
          <a:bodyPr wrap="none" lIns="0" tIns="0" rIns="0" bIns="0" anchor="t" anchorCtr="0">
            <a:spAutoFit/>
          </a:bodyPr>
          <a:lstStyle/>
          <a:p>
            <a:pPr algn="r"/>
            <a:r>
              <a:rPr lang="en-US" sz="1800" b="1" dirty="0">
                <a:solidFill>
                  <a:srgbClr val="003A70">
                    <a:alphaMod val="25000"/>
                  </a:srgbClr>
                </a:solidFill>
                <a:latin typeface="Arial"/>
                <a:ea typeface="Arial"/>
                <a:cs typeface="Arial"/>
              </a:rPr>
              <a:t>P03</a:t>
            </a:r>
          </a:p>
        </p:txBody>
      </p:sp>
      <p:sp>
        <p:nvSpPr>
          <p:cNvPr id="13" name="Rectangle 13"/>
          <p:cNvSpPr/>
          <p:nvPr/>
        </p:nvSpPr>
        <p:spPr>
          <a:xfrm>
            <a:off x="3352800" y="1762125"/>
            <a:ext cx="2571750" cy="4191000"/>
          </a:xfrm>
          <a:prstGeom prst="roundRect">
            <a:avLst>
              <a:gd name="adj" fmla="val 741"/>
            </a:avLst>
          </a:prstGeom>
          <a:solidFill>
            <a:srgbClr val="F0F4F8"/>
          </a:solidFill>
          <a:ln>
            <a:noFill/>
          </a:ln>
        </p:spPr>
      </p:sp>
      <p:sp>
        <p:nvSpPr>
          <p:cNvPr id="14" name="Rectangle 14"/>
          <p:cNvSpPr/>
          <p:nvPr/>
        </p:nvSpPr>
        <p:spPr>
          <a:xfrm>
            <a:off x="3352800" y="1762125"/>
            <a:ext cx="47625" cy="4191000"/>
          </a:xfrm>
          <a:prstGeom prst="rect">
            <a:avLst/>
          </a:prstGeom>
          <a:solidFill>
            <a:srgbClr val="0077CC"/>
          </a:solidFill>
          <a:ln>
            <a:noFill/>
          </a:ln>
        </p:spPr>
      </p:sp>
      <p:sp>
        <p:nvSpPr>
          <p:cNvPr id="15" name="TextBox 15"/>
          <p:cNvSpPr txBox="1"/>
          <p:nvPr/>
        </p:nvSpPr>
        <p:spPr>
          <a:xfrm>
            <a:off x="3554730" y="1783080"/>
            <a:ext cx="645909" cy="731520"/>
          </a:xfrm>
          <a:prstGeom prst="rect">
            <a:avLst/>
          </a:prstGeom>
          <a:noFill/>
          <a:ln>
            <a:noFill/>
          </a:ln>
        </p:spPr>
        <p:txBody>
          <a:bodyPr wrap="none" lIns="0" tIns="0" rIns="0" bIns="0" anchor="t" anchorCtr="0">
            <a:spAutoFit/>
          </a:bodyPr>
          <a:lstStyle/>
          <a:p>
            <a:pPr algn="l"/>
            <a:r>
              <a:rPr lang="en-US" sz="3600" b="1" dirty="0">
                <a:solidFill>
                  <a:srgbClr val="0077CC">
                    <a:alphaMod val="15000"/>
                  </a:srgbClr>
                </a:solidFill>
                <a:latin typeface="Arial"/>
                <a:ea typeface="Arial"/>
                <a:cs typeface="Arial"/>
              </a:rPr>
              <a:t>02</a:t>
            </a:r>
          </a:p>
        </p:txBody>
      </p:sp>
      <p:sp>
        <p:nvSpPr>
          <p:cNvPr id="16" name="TextBox 16"/>
          <p:cNvSpPr txBox="1"/>
          <p:nvPr/>
        </p:nvSpPr>
        <p:spPr>
          <a:xfrm>
            <a:off x="3581400" y="2505075"/>
            <a:ext cx="878205" cy="304800"/>
          </a:xfrm>
          <a:prstGeom prst="rect">
            <a:avLst/>
          </a:prstGeom>
          <a:noFill/>
          <a:ln>
            <a:noFill/>
          </a:ln>
        </p:spPr>
        <p:txBody>
          <a:bodyPr wrap="none" lIns="0" tIns="0" rIns="0" bIns="0" anchor="t" anchorCtr="0">
            <a:spAutoFit/>
          </a:bodyPr>
          <a:lstStyle/>
          <a:p>
            <a:pPr algn="l"/>
            <a:r>
              <a:rPr lang="zh-CN" sz="1500" b="1" dirty="0">
                <a:solidFill>
                  <a:srgbClr val="0077CC"/>
                </a:solidFill>
                <a:latin typeface="Arial"/>
                <a:ea typeface="SimHei"/>
                <a:cs typeface="Arial"/>
              </a:rPr>
              <a:t>总体方案</a:t>
            </a:r>
          </a:p>
        </p:txBody>
      </p:sp>
      <p:sp>
        <p:nvSpPr>
          <p:cNvPr id="17" name="Line 17"/>
          <p:cNvSpPr/>
          <p:nvPr/>
        </p:nvSpPr>
        <p:spPr>
          <a:xfrm>
            <a:off x="3600450" y="2800350"/>
            <a:ext cx="2133600" cy="9525"/>
          </a:xfrm>
          <a:custGeom>
            <a:avLst/>
            <a:gdLst/>
            <a:ahLst/>
            <a:cxnLst/>
            <a:rect l="l" t="t" r="r" b="b"/>
            <a:pathLst>
              <a:path w="2133600" h="9525">
                <a:moveTo>
                  <a:pt x="0" y="0"/>
                </a:moveTo>
                <a:lnTo>
                  <a:pt x="2133600" y="0"/>
                </a:lnTo>
              </a:path>
            </a:pathLst>
          </a:custGeom>
          <a:noFill/>
          <a:ln w="14288">
            <a:solidFill>
              <a:srgbClr val="0077CC"/>
            </a:solidFill>
          </a:ln>
        </p:spPr>
      </p:sp>
      <p:sp>
        <p:nvSpPr>
          <p:cNvPr id="18" name="TextBox 18"/>
          <p:cNvSpPr txBox="1"/>
          <p:nvPr/>
        </p:nvSpPr>
        <p:spPr>
          <a:xfrm>
            <a:off x="3587115" y="2953702"/>
            <a:ext cx="1206818" cy="1203960"/>
          </a:xfrm>
          <a:prstGeom prst="rect">
            <a:avLst/>
          </a:prstGeom>
          <a:noFill/>
          <a:ln>
            <a:noFill/>
          </a:ln>
        </p:spPr>
        <p:txBody>
          <a:bodyPr wrap="square" lIns="0" tIns="0" rIns="0" bIns="0" anchor="t" anchorCtr="0"/>
          <a:lstStyle/>
          <a:p>
            <a:pPr algn="l">
              <a:lnSpc>
                <a:spcPts val="1950"/>
              </a:lnSpc>
            </a:pPr>
            <a:r>
              <a:rPr lang="zh-CN" sz="1050" dirty="0">
                <a:solidFill>
                  <a:srgbClr val="4A5568"/>
                </a:solidFill>
                <a:latin typeface="Arial"/>
                <a:ea typeface="Microsoft YaHei"/>
                <a:cs typeface="Arial"/>
              </a:rPr>
              <a:t>· 四项建设原则</a:t>
            </a:r>
            <a:r>
              <a:rPr lang="zh-CN" sz="1050" dirty="0">
                <a:solidFill>
                  <a:srgbClr val="4A5568"/>
                </a:solidFill>
                <a:latin typeface="Arial"/>
                <a:ea typeface="Microsoft YaHei"/>
                <a:cs typeface="Arial"/>
              </a:rPr>
              <a:t>· 三阶段建设目标</a:t>
            </a:r>
            <a:r>
              <a:rPr lang="zh-CN" sz="1050" dirty="0">
                <a:solidFill>
                  <a:srgbClr val="4A5568"/>
                </a:solidFill>
                <a:latin typeface="Arial"/>
                <a:ea typeface="Microsoft YaHei"/>
                <a:cs typeface="Arial"/>
              </a:rPr>
              <a:t>· 五类数据资源体系</a:t>
            </a:r>
            <a:r>
              <a:rPr lang="zh-CN" sz="1050" dirty="0">
                <a:solidFill>
                  <a:srgbClr val="4A5568"/>
                </a:solidFill>
                <a:latin typeface="Arial"/>
                <a:ea typeface="Microsoft YaHei"/>
                <a:cs typeface="Arial"/>
              </a:rPr>
              <a:t>· 数据基础设施协同</a:t>
            </a:r>
            <a:r>
              <a:rPr lang="zh-CN" sz="1050" dirty="0">
                <a:solidFill>
                  <a:srgbClr val="4A5568"/>
                </a:solidFill>
                <a:latin typeface="Arial"/>
                <a:ea typeface="Microsoft YaHei"/>
                <a:cs typeface="Arial"/>
              </a:rPr>
              <a:t>· 首批落地场景</a:t>
            </a:r>
          </a:p>
        </p:txBody>
      </p:sp>
      <p:sp>
        <p:nvSpPr>
          <p:cNvPr id="19" name="TextBox 19"/>
          <p:cNvSpPr txBox="1"/>
          <p:nvPr/>
        </p:nvSpPr>
        <p:spPr>
          <a:xfrm>
            <a:off x="5295338" y="5596890"/>
            <a:ext cx="461572" cy="365760"/>
          </a:xfrm>
          <a:prstGeom prst="rect">
            <a:avLst/>
          </a:prstGeom>
          <a:noFill/>
          <a:ln>
            <a:noFill/>
          </a:ln>
        </p:spPr>
        <p:txBody>
          <a:bodyPr wrap="none" lIns="0" tIns="0" rIns="0" bIns="0" anchor="t" anchorCtr="0">
            <a:spAutoFit/>
          </a:bodyPr>
          <a:lstStyle/>
          <a:p>
            <a:pPr algn="r"/>
            <a:r>
              <a:rPr lang="en-US" sz="1800" b="1" dirty="0">
                <a:solidFill>
                  <a:srgbClr val="0077CC">
                    <a:alphaMod val="25000"/>
                  </a:srgbClr>
                </a:solidFill>
                <a:latin typeface="Arial"/>
                <a:ea typeface="Arial"/>
                <a:cs typeface="Arial"/>
              </a:rPr>
              <a:t>P06</a:t>
            </a:r>
          </a:p>
        </p:txBody>
      </p:sp>
      <p:sp>
        <p:nvSpPr>
          <p:cNvPr id="20" name="Rectangle 20"/>
          <p:cNvSpPr/>
          <p:nvPr/>
        </p:nvSpPr>
        <p:spPr>
          <a:xfrm>
            <a:off x="6153150" y="1762125"/>
            <a:ext cx="2571750" cy="4191000"/>
          </a:xfrm>
          <a:prstGeom prst="roundRect">
            <a:avLst>
              <a:gd name="adj" fmla="val 741"/>
            </a:avLst>
          </a:prstGeom>
          <a:solidFill>
            <a:srgbClr val="F0F4F8"/>
          </a:solidFill>
          <a:ln>
            <a:noFill/>
          </a:ln>
        </p:spPr>
      </p:sp>
      <p:sp>
        <p:nvSpPr>
          <p:cNvPr id="21" name="Rectangle 21"/>
          <p:cNvSpPr/>
          <p:nvPr/>
        </p:nvSpPr>
        <p:spPr>
          <a:xfrm>
            <a:off x="6153150" y="1762125"/>
            <a:ext cx="47625" cy="4191000"/>
          </a:xfrm>
          <a:prstGeom prst="rect">
            <a:avLst/>
          </a:prstGeom>
          <a:solidFill>
            <a:srgbClr val="4A90D9"/>
          </a:solidFill>
          <a:ln>
            <a:noFill/>
          </a:ln>
        </p:spPr>
      </p:sp>
      <p:sp>
        <p:nvSpPr>
          <p:cNvPr id="22" name="TextBox 22"/>
          <p:cNvSpPr txBox="1"/>
          <p:nvPr/>
        </p:nvSpPr>
        <p:spPr>
          <a:xfrm>
            <a:off x="6355080" y="1783080"/>
            <a:ext cx="645909" cy="731520"/>
          </a:xfrm>
          <a:prstGeom prst="rect">
            <a:avLst/>
          </a:prstGeom>
          <a:noFill/>
          <a:ln>
            <a:noFill/>
          </a:ln>
        </p:spPr>
        <p:txBody>
          <a:bodyPr wrap="none" lIns="0" tIns="0" rIns="0" bIns="0" anchor="t" anchorCtr="0">
            <a:spAutoFit/>
          </a:bodyPr>
          <a:lstStyle/>
          <a:p>
            <a:pPr algn="l"/>
            <a:r>
              <a:rPr lang="en-US" sz="3600" b="1" dirty="0">
                <a:solidFill>
                  <a:srgbClr val="4A90D9">
                    <a:alphaMod val="15000"/>
                  </a:srgbClr>
                </a:solidFill>
                <a:latin typeface="Arial"/>
                <a:ea typeface="Arial"/>
                <a:cs typeface="Arial"/>
              </a:rPr>
              <a:t>03</a:t>
            </a:r>
          </a:p>
        </p:txBody>
      </p:sp>
      <p:sp>
        <p:nvSpPr>
          <p:cNvPr id="23" name="TextBox 23"/>
          <p:cNvSpPr txBox="1"/>
          <p:nvPr/>
        </p:nvSpPr>
        <p:spPr>
          <a:xfrm>
            <a:off x="6381750" y="2505075"/>
            <a:ext cx="1508284" cy="304800"/>
          </a:xfrm>
          <a:prstGeom prst="rect">
            <a:avLst/>
          </a:prstGeom>
          <a:noFill/>
          <a:ln>
            <a:noFill/>
          </a:ln>
        </p:spPr>
        <p:txBody>
          <a:bodyPr wrap="none" lIns="0" tIns="0" rIns="0" bIns="0" anchor="t" anchorCtr="0">
            <a:spAutoFit/>
          </a:bodyPr>
          <a:lstStyle/>
          <a:p>
            <a:pPr algn="l"/>
            <a:r>
              <a:rPr lang="zh-CN" sz="1500" b="1" dirty="0">
                <a:solidFill>
                  <a:srgbClr val="4A90D9"/>
                </a:solidFill>
                <a:latin typeface="Arial"/>
                <a:ea typeface="SimHei"/>
                <a:cs typeface="Arial"/>
              </a:rPr>
              <a:t>技术与业务实现</a:t>
            </a:r>
          </a:p>
        </p:txBody>
      </p:sp>
      <p:sp>
        <p:nvSpPr>
          <p:cNvPr id="24" name="Line 24"/>
          <p:cNvSpPr/>
          <p:nvPr/>
        </p:nvSpPr>
        <p:spPr>
          <a:xfrm>
            <a:off x="6400800" y="2800350"/>
            <a:ext cx="2133600" cy="9525"/>
          </a:xfrm>
          <a:custGeom>
            <a:avLst/>
            <a:gdLst/>
            <a:ahLst/>
            <a:cxnLst/>
            <a:rect l="l" t="t" r="r" b="b"/>
            <a:pathLst>
              <a:path w="2133600" h="9525">
                <a:moveTo>
                  <a:pt x="0" y="0"/>
                </a:moveTo>
                <a:lnTo>
                  <a:pt x="2133600" y="0"/>
                </a:lnTo>
              </a:path>
            </a:pathLst>
          </a:custGeom>
          <a:noFill/>
          <a:ln w="14288">
            <a:solidFill>
              <a:srgbClr val="4A90D9"/>
            </a:solidFill>
          </a:ln>
        </p:spPr>
      </p:sp>
      <p:sp>
        <p:nvSpPr>
          <p:cNvPr id="25" name="TextBox 25"/>
          <p:cNvSpPr txBox="1"/>
          <p:nvPr/>
        </p:nvSpPr>
        <p:spPr>
          <a:xfrm>
            <a:off x="6387465" y="2953702"/>
            <a:ext cx="1073468" cy="1203960"/>
          </a:xfrm>
          <a:prstGeom prst="rect">
            <a:avLst/>
          </a:prstGeom>
          <a:noFill/>
          <a:ln>
            <a:noFill/>
          </a:ln>
        </p:spPr>
        <p:txBody>
          <a:bodyPr wrap="square" lIns="0" tIns="0" rIns="0" bIns="0" anchor="t" anchorCtr="0"/>
          <a:lstStyle/>
          <a:p>
            <a:pPr algn="l">
              <a:lnSpc>
                <a:spcPts val="1950"/>
              </a:lnSpc>
            </a:pPr>
            <a:r>
              <a:rPr lang="zh-CN" sz="1050" dirty="0">
                <a:solidFill>
                  <a:srgbClr val="4A5568"/>
                </a:solidFill>
                <a:latin typeface="Arial"/>
                <a:ea typeface="Microsoft YaHei"/>
                <a:cs typeface="Arial"/>
              </a:rPr>
              <a:t>· 八环节业务流程</a:t>
            </a:r>
            <a:r>
              <a:rPr lang="zh-CN" sz="1050" dirty="0">
                <a:solidFill>
                  <a:srgbClr val="4A5568"/>
                </a:solidFill>
                <a:latin typeface="Arial"/>
                <a:ea typeface="Microsoft YaHei"/>
                <a:cs typeface="Arial"/>
              </a:rPr>
              <a:t>· 六大功能模块</a:t>
            </a:r>
            <a:r>
              <a:rPr lang="zh-CN" sz="1050" dirty="0">
                <a:solidFill>
                  <a:srgbClr val="4A5568"/>
                </a:solidFill>
                <a:latin typeface="Arial"/>
                <a:ea typeface="Microsoft YaHei"/>
                <a:cs typeface="Arial"/>
              </a:rPr>
              <a:t>· 五层技术架构</a:t>
            </a:r>
            <a:r>
              <a:rPr lang="zh-CN" sz="1050" dirty="0">
                <a:solidFill>
                  <a:srgbClr val="4A5568"/>
                </a:solidFill>
                <a:latin typeface="Arial"/>
                <a:ea typeface="Microsoft YaHei"/>
                <a:cs typeface="Arial"/>
              </a:rPr>
              <a:t>· 数据字段设计</a:t>
            </a:r>
            <a:r>
              <a:rPr lang="zh-CN" sz="1050" dirty="0">
                <a:solidFill>
                  <a:srgbClr val="4A5568"/>
                </a:solidFill>
                <a:latin typeface="Arial"/>
                <a:ea typeface="Microsoft YaHei"/>
                <a:cs typeface="Arial"/>
              </a:rPr>
              <a:t>· 数据质量治理</a:t>
            </a:r>
          </a:p>
        </p:txBody>
      </p:sp>
      <p:sp>
        <p:nvSpPr>
          <p:cNvPr id="26" name="TextBox 26"/>
          <p:cNvSpPr txBox="1"/>
          <p:nvPr/>
        </p:nvSpPr>
        <p:spPr>
          <a:xfrm>
            <a:off x="8095688" y="5596890"/>
            <a:ext cx="461572" cy="365760"/>
          </a:xfrm>
          <a:prstGeom prst="rect">
            <a:avLst/>
          </a:prstGeom>
          <a:noFill/>
          <a:ln>
            <a:noFill/>
          </a:ln>
        </p:spPr>
        <p:txBody>
          <a:bodyPr wrap="none" lIns="0" tIns="0" rIns="0" bIns="0" anchor="t" anchorCtr="0">
            <a:spAutoFit/>
          </a:bodyPr>
          <a:lstStyle/>
          <a:p>
            <a:pPr algn="r"/>
            <a:r>
              <a:rPr lang="en-US" sz="1800" b="1" dirty="0">
                <a:solidFill>
                  <a:srgbClr val="4A90D9">
                    <a:alphaMod val="25000"/>
                  </a:srgbClr>
                </a:solidFill>
                <a:latin typeface="Arial"/>
                <a:ea typeface="Arial"/>
                <a:cs typeface="Arial"/>
              </a:rPr>
              <a:t>P11</a:t>
            </a:r>
          </a:p>
        </p:txBody>
      </p:sp>
      <p:sp>
        <p:nvSpPr>
          <p:cNvPr id="27" name="Rectangle 27"/>
          <p:cNvSpPr/>
          <p:nvPr/>
        </p:nvSpPr>
        <p:spPr>
          <a:xfrm>
            <a:off x="8953500" y="1762125"/>
            <a:ext cx="2686050" cy="4191000"/>
          </a:xfrm>
          <a:prstGeom prst="roundRect">
            <a:avLst>
              <a:gd name="adj" fmla="val 709"/>
            </a:avLst>
          </a:prstGeom>
          <a:solidFill>
            <a:srgbClr val="F0F4F8"/>
          </a:solidFill>
          <a:ln>
            <a:noFill/>
          </a:ln>
        </p:spPr>
      </p:sp>
      <p:sp>
        <p:nvSpPr>
          <p:cNvPr id="28" name="Rectangle 28"/>
          <p:cNvSpPr/>
          <p:nvPr/>
        </p:nvSpPr>
        <p:spPr>
          <a:xfrm>
            <a:off x="8953500" y="1762125"/>
            <a:ext cx="47625" cy="4191000"/>
          </a:xfrm>
          <a:prstGeom prst="rect">
            <a:avLst/>
          </a:prstGeom>
          <a:solidFill>
            <a:srgbClr val="1A1A2E"/>
          </a:solidFill>
          <a:ln>
            <a:noFill/>
          </a:ln>
        </p:spPr>
      </p:sp>
      <p:sp>
        <p:nvSpPr>
          <p:cNvPr id="29" name="TextBox 29"/>
          <p:cNvSpPr txBox="1"/>
          <p:nvPr/>
        </p:nvSpPr>
        <p:spPr>
          <a:xfrm>
            <a:off x="9155430" y="1783080"/>
            <a:ext cx="645909" cy="731520"/>
          </a:xfrm>
          <a:prstGeom prst="rect">
            <a:avLst/>
          </a:prstGeom>
          <a:noFill/>
          <a:ln>
            <a:noFill/>
          </a:ln>
        </p:spPr>
        <p:txBody>
          <a:bodyPr wrap="none" lIns="0" tIns="0" rIns="0" bIns="0" anchor="t" anchorCtr="0">
            <a:spAutoFit/>
          </a:bodyPr>
          <a:lstStyle/>
          <a:p>
            <a:pPr algn="l"/>
            <a:r>
              <a:rPr lang="en-US" sz="3600" b="1" dirty="0">
                <a:solidFill>
                  <a:srgbClr val="1A1A2E">
                    <a:alphaMod val="12000"/>
                  </a:srgbClr>
                </a:solidFill>
                <a:latin typeface="Arial"/>
                <a:ea typeface="Arial"/>
                <a:cs typeface="Arial"/>
              </a:rPr>
              <a:t>04</a:t>
            </a:r>
          </a:p>
        </p:txBody>
      </p:sp>
      <p:sp>
        <p:nvSpPr>
          <p:cNvPr id="30" name="TextBox 30"/>
          <p:cNvSpPr txBox="1"/>
          <p:nvPr/>
        </p:nvSpPr>
        <p:spPr>
          <a:xfrm>
            <a:off x="9182100" y="2505075"/>
            <a:ext cx="1088231"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SimHei"/>
                <a:cs typeface="Arial"/>
              </a:rPr>
              <a:t>实施与运营</a:t>
            </a:r>
          </a:p>
        </p:txBody>
      </p:sp>
      <p:sp>
        <p:nvSpPr>
          <p:cNvPr id="31" name="Line 31"/>
          <p:cNvSpPr/>
          <p:nvPr/>
        </p:nvSpPr>
        <p:spPr>
          <a:xfrm>
            <a:off x="9201150" y="2800350"/>
            <a:ext cx="2324100" cy="9525"/>
          </a:xfrm>
          <a:custGeom>
            <a:avLst/>
            <a:gdLst/>
            <a:ahLst/>
            <a:cxnLst/>
            <a:rect l="l" t="t" r="r" b="b"/>
            <a:pathLst>
              <a:path w="2324100" h="9525">
                <a:moveTo>
                  <a:pt x="0" y="0"/>
                </a:moveTo>
                <a:lnTo>
                  <a:pt x="2324100" y="0"/>
                </a:lnTo>
              </a:path>
            </a:pathLst>
          </a:custGeom>
          <a:noFill/>
          <a:ln w="14288">
            <a:solidFill>
              <a:srgbClr val="1A1A2E"/>
            </a:solidFill>
          </a:ln>
        </p:spPr>
      </p:sp>
      <p:sp>
        <p:nvSpPr>
          <p:cNvPr id="32" name="TextBox 32"/>
          <p:cNvSpPr txBox="1"/>
          <p:nvPr/>
        </p:nvSpPr>
        <p:spPr>
          <a:xfrm>
            <a:off x="9187815" y="2953702"/>
            <a:ext cx="953453" cy="1203960"/>
          </a:xfrm>
          <a:prstGeom prst="rect">
            <a:avLst/>
          </a:prstGeom>
          <a:noFill/>
          <a:ln>
            <a:noFill/>
          </a:ln>
        </p:spPr>
        <p:txBody>
          <a:bodyPr wrap="square" lIns="0" tIns="0" rIns="0" bIns="0" anchor="t" anchorCtr="0"/>
          <a:lstStyle/>
          <a:p>
            <a:pPr algn="l">
              <a:lnSpc>
                <a:spcPts val="1950"/>
              </a:lnSpc>
            </a:pPr>
            <a:r>
              <a:rPr lang="zh-CN" sz="1050" dirty="0">
                <a:solidFill>
                  <a:srgbClr val="4A5568"/>
                </a:solidFill>
                <a:latin typeface="Arial"/>
                <a:ea typeface="Microsoft YaHei"/>
                <a:cs typeface="Arial"/>
              </a:rPr>
              <a:t>· 90天实施计划</a:t>
            </a:r>
            <a:r>
              <a:rPr lang="zh-CN" sz="1050" dirty="0">
                <a:solidFill>
                  <a:srgbClr val="4A5568"/>
                </a:solidFill>
                <a:latin typeface="Arial"/>
                <a:ea typeface="Microsoft YaHei"/>
                <a:cs typeface="Arial"/>
              </a:rPr>
              <a:t>· 七类主体协同</a:t>
            </a:r>
            <a:r>
              <a:rPr lang="zh-CN" sz="1050" dirty="0">
                <a:solidFill>
                  <a:srgbClr val="4A5568"/>
                </a:solidFill>
                <a:latin typeface="Arial"/>
                <a:ea typeface="Microsoft YaHei"/>
                <a:cs typeface="Arial"/>
              </a:rPr>
              <a:t>· 验收指标</a:t>
            </a:r>
            <a:r>
              <a:rPr lang="zh-CN" sz="1050" dirty="0">
                <a:solidFill>
                  <a:srgbClr val="4A5568"/>
                </a:solidFill>
                <a:latin typeface="Arial"/>
                <a:ea typeface="Microsoft YaHei"/>
                <a:cs typeface="Arial"/>
              </a:rPr>
              <a:t>· 运营模式</a:t>
            </a:r>
            <a:r>
              <a:rPr lang="zh-CN" sz="1050" dirty="0">
                <a:solidFill>
                  <a:srgbClr val="4A5568"/>
                </a:solidFill>
                <a:latin typeface="Arial"/>
                <a:ea typeface="Microsoft YaHei"/>
                <a:cs typeface="Arial"/>
              </a:rPr>
              <a:t>· 风险控制</a:t>
            </a:r>
          </a:p>
        </p:txBody>
      </p:sp>
      <p:sp>
        <p:nvSpPr>
          <p:cNvPr id="33" name="TextBox 33"/>
          <p:cNvSpPr txBox="1"/>
          <p:nvPr/>
        </p:nvSpPr>
        <p:spPr>
          <a:xfrm>
            <a:off x="11134163" y="5596890"/>
            <a:ext cx="461572" cy="365760"/>
          </a:xfrm>
          <a:prstGeom prst="rect">
            <a:avLst/>
          </a:prstGeom>
          <a:noFill/>
          <a:ln>
            <a:noFill/>
          </a:ln>
        </p:spPr>
        <p:txBody>
          <a:bodyPr wrap="none" lIns="0" tIns="0" rIns="0" bIns="0" anchor="t" anchorCtr="0">
            <a:spAutoFit/>
          </a:bodyPr>
          <a:lstStyle/>
          <a:p>
            <a:pPr algn="r"/>
            <a:r>
              <a:rPr lang="en-US" sz="1800" b="1" dirty="0">
                <a:solidFill>
                  <a:srgbClr val="1A1A2E">
                    <a:alphaMod val="20000"/>
                  </a:srgbClr>
                </a:solidFill>
                <a:latin typeface="Arial"/>
                <a:ea typeface="Arial"/>
                <a:cs typeface="Arial"/>
              </a:rPr>
              <a:t>P16</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第一章 · 建设背景与依据</a:t>
            </a:r>
          </a:p>
        </p:txBody>
      </p:sp>
      <p:sp>
        <p:nvSpPr>
          <p:cNvPr id="4" name="TextBox 4"/>
          <p:cNvSpPr txBox="1"/>
          <p:nvPr/>
        </p:nvSpPr>
        <p:spPr>
          <a:xfrm>
            <a:off x="525780" y="1183005"/>
            <a:ext cx="5640038"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建设背景：外委人员安全核验面临三重挑战</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714500"/>
            <a:ext cx="3429000" cy="4572000"/>
          </a:xfrm>
          <a:prstGeom prst="roundRect">
            <a:avLst>
              <a:gd name="adj" fmla="val 833"/>
            </a:avLst>
          </a:prstGeom>
          <a:solidFill>
            <a:srgbClr val="F0F4F8"/>
          </a:solidFill>
          <a:ln>
            <a:noFill/>
          </a:ln>
        </p:spPr>
      </p:sp>
      <p:sp>
        <p:nvSpPr>
          <p:cNvPr id="7" name="TextBox 7"/>
          <p:cNvSpPr txBox="1"/>
          <p:nvPr/>
        </p:nvSpPr>
        <p:spPr>
          <a:xfrm>
            <a:off x="727710" y="1832610"/>
            <a:ext cx="753561" cy="853440"/>
          </a:xfrm>
          <a:prstGeom prst="rect">
            <a:avLst/>
          </a:prstGeom>
          <a:noFill/>
          <a:ln>
            <a:noFill/>
          </a:ln>
        </p:spPr>
        <p:txBody>
          <a:bodyPr wrap="none" lIns="0" tIns="0" rIns="0" bIns="0" anchor="t" anchorCtr="0">
            <a:spAutoFit/>
          </a:bodyPr>
          <a:lstStyle/>
          <a:p>
            <a:pPr algn="l"/>
            <a:r>
              <a:rPr lang="en-US" sz="4200" b="1" dirty="0">
                <a:solidFill>
                  <a:srgbClr val="003A70">
                    <a:alphaMod val="12000"/>
                  </a:srgbClr>
                </a:solidFill>
                <a:latin typeface="Arial"/>
                <a:ea typeface="Arial"/>
                <a:cs typeface="Arial"/>
              </a:rPr>
              <a:t>01</a:t>
            </a:r>
          </a:p>
        </p:txBody>
      </p:sp>
      <p:grpSp>
        <p:nvGrpSpPr>
          <p:cNvPr id="12" name="Group 12"/>
          <p:cNvGrpSpPr/>
          <p:nvPr/>
        </p:nvGrpSpPr>
        <p:grpSpPr>
          <a:xfrm>
            <a:off x="781050" y="1676400"/>
            <a:ext cx="304800" cy="266700"/>
            <a:chOff x="781050" y="1676400"/>
            <a:chExt cx="304800" cy="266700"/>
          </a:xfrm>
        </p:grpSpPr>
        <p:sp>
          <p:nvSpPr>
            <p:cNvPr id="8" name="Freeform 8"/>
            <p:cNvSpPr/>
            <p:nvPr/>
          </p:nvSpPr>
          <p:spPr>
            <a:xfrm>
              <a:off x="838200" y="1676400"/>
              <a:ext cx="95250" cy="95250"/>
            </a:xfrm>
            <a:custGeom>
              <a:avLst/>
              <a:gdLst/>
              <a:ahLst/>
              <a:cxnLst/>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a:srgbClr val="003A70"/>
            </a:solidFill>
            <a:ln>
              <a:noFill/>
            </a:ln>
          </p:spPr>
        </p:sp>
        <p:sp>
          <p:nvSpPr>
            <p:cNvPr id="9" name="Freeform 9"/>
            <p:cNvSpPr/>
            <p:nvPr/>
          </p:nvSpPr>
          <p:spPr>
            <a:xfrm>
              <a:off x="781050" y="1809750"/>
              <a:ext cx="152400" cy="133350"/>
            </a:xfrm>
            <a:custGeom>
              <a:avLst/>
              <a:gdLst/>
              <a:ahLst/>
              <a:cxnLst/>
              <a:rect l="l" t="t" r="r" b="b"/>
              <a:pathLst>
                <a:path w="152400" h="133350">
                  <a:moveTo>
                    <a:pt x="57150" y="0"/>
                  </a:moveTo>
                  <a:cubicBezTo>
                    <a:pt x="25587" y="0"/>
                    <a:pt x="0" y="25587"/>
                    <a:pt x="0" y="57150"/>
                  </a:cubicBezTo>
                  <a:lnTo>
                    <a:pt x="0" y="133350"/>
                  </a:lnTo>
                  <a:lnTo>
                    <a:pt x="152400" y="133350"/>
                  </a:lnTo>
                  <a:lnTo>
                    <a:pt x="152400" y="0"/>
                  </a:lnTo>
                  <a:lnTo>
                    <a:pt x="57150" y="0"/>
                  </a:lnTo>
                  <a:close/>
                </a:path>
              </a:pathLst>
            </a:custGeom>
            <a:solidFill>
              <a:srgbClr val="003A70"/>
            </a:solidFill>
            <a:ln>
              <a:noFill/>
            </a:ln>
          </p:spPr>
        </p:sp>
        <p:sp>
          <p:nvSpPr>
            <p:cNvPr id="10" name="Freeform 10"/>
            <p:cNvSpPr/>
            <p:nvPr/>
          </p:nvSpPr>
          <p:spPr>
            <a:xfrm>
              <a:off x="971550" y="1809750"/>
              <a:ext cx="114300" cy="133350"/>
            </a:xfrm>
            <a:custGeom>
              <a:avLst/>
              <a:gdLst/>
              <a:ahLst/>
              <a:cxnLst/>
              <a:rect l="l" t="t" r="r" b="b"/>
              <a:pathLst>
                <a:path w="114300" h="133350">
                  <a:moveTo>
                    <a:pt x="57150" y="0"/>
                  </a:moveTo>
                  <a:lnTo>
                    <a:pt x="0" y="0"/>
                  </a:lnTo>
                  <a:lnTo>
                    <a:pt x="0" y="133350"/>
                  </a:lnTo>
                  <a:lnTo>
                    <a:pt x="114300" y="133350"/>
                  </a:lnTo>
                  <a:lnTo>
                    <a:pt x="114300" y="57150"/>
                  </a:lnTo>
                  <a:cubicBezTo>
                    <a:pt x="114300" y="25587"/>
                    <a:pt x="88714" y="0"/>
                    <a:pt x="57150" y="0"/>
                  </a:cubicBezTo>
                  <a:close/>
                </a:path>
              </a:pathLst>
            </a:custGeom>
            <a:solidFill>
              <a:srgbClr val="003A70"/>
            </a:solidFill>
            <a:ln>
              <a:noFill/>
            </a:ln>
          </p:spPr>
        </p:sp>
        <p:sp>
          <p:nvSpPr>
            <p:cNvPr id="11" name="Freeform 11"/>
            <p:cNvSpPr/>
            <p:nvPr/>
          </p:nvSpPr>
          <p:spPr>
            <a:xfrm>
              <a:off x="971550" y="1695450"/>
              <a:ext cx="76200" cy="76200"/>
            </a:xfrm>
            <a:custGeom>
              <a:avLst/>
              <a:gdLst/>
              <a:ahLst/>
              <a:cxnLst/>
              <a:rect l="l" t="t" r="r" b="b"/>
              <a:pathLst>
                <a:path w="76200" h="76200">
                  <a:moveTo>
                    <a:pt x="38100" y="76200"/>
                  </a:moveTo>
                  <a:cubicBezTo>
                    <a:pt x="59143" y="76200"/>
                    <a:pt x="76200" y="59142"/>
                    <a:pt x="76200" y="38100"/>
                  </a:cubicBezTo>
                  <a:cubicBezTo>
                    <a:pt x="76200" y="17058"/>
                    <a:pt x="59143" y="0"/>
                    <a:pt x="38100" y="0"/>
                  </a:cubicBezTo>
                  <a:cubicBezTo>
                    <a:pt x="17057" y="0"/>
                    <a:pt x="0" y="17058"/>
                    <a:pt x="0" y="38100"/>
                  </a:cubicBezTo>
                  <a:cubicBezTo>
                    <a:pt x="0" y="59142"/>
                    <a:pt x="17057" y="76200"/>
                    <a:pt x="38100" y="76200"/>
                  </a:cubicBezTo>
                  <a:close/>
                </a:path>
              </a:pathLst>
            </a:custGeom>
            <a:solidFill>
              <a:srgbClr val="003A70"/>
            </a:solidFill>
            <a:ln>
              <a:noFill/>
            </a:ln>
          </p:spPr>
        </p:sp>
      </p:grpSp>
      <p:sp>
        <p:nvSpPr>
          <p:cNvPr id="13" name="TextBox 13"/>
          <p:cNvSpPr txBox="1"/>
          <p:nvPr/>
        </p:nvSpPr>
        <p:spPr>
          <a:xfrm>
            <a:off x="762000" y="2409825"/>
            <a:ext cx="1508284" cy="304800"/>
          </a:xfrm>
          <a:prstGeom prst="rect">
            <a:avLst/>
          </a:prstGeom>
          <a:noFill/>
          <a:ln>
            <a:noFill/>
          </a:ln>
        </p:spPr>
        <p:txBody>
          <a:bodyPr wrap="none" lIns="0" tIns="0" rIns="0" bIns="0" anchor="t" anchorCtr="0">
            <a:spAutoFit/>
          </a:bodyPr>
          <a:lstStyle/>
          <a:p>
            <a:pPr algn="l"/>
            <a:r>
              <a:rPr lang="zh-CN" sz="1500" b="1" dirty="0">
                <a:solidFill>
                  <a:srgbClr val="003A70"/>
                </a:solidFill>
                <a:latin typeface="Arial"/>
                <a:ea typeface="SimHei"/>
                <a:cs typeface="Arial"/>
              </a:rPr>
              <a:t>作业场景分散化</a:t>
            </a:r>
          </a:p>
        </p:txBody>
      </p:sp>
      <p:sp>
        <p:nvSpPr>
          <p:cNvPr id="14" name="Line 14"/>
          <p:cNvSpPr/>
          <p:nvPr/>
        </p:nvSpPr>
        <p:spPr>
          <a:xfrm>
            <a:off x="781050" y="2705100"/>
            <a:ext cx="3009900" cy="9525"/>
          </a:xfrm>
          <a:custGeom>
            <a:avLst/>
            <a:gdLst/>
            <a:ahLst/>
            <a:cxnLst/>
            <a:rect l="l" t="t" r="r" b="b"/>
            <a:pathLst>
              <a:path w="3009900" h="9525">
                <a:moveTo>
                  <a:pt x="0" y="0"/>
                </a:moveTo>
                <a:lnTo>
                  <a:pt x="3009900" y="0"/>
                </a:lnTo>
              </a:path>
            </a:pathLst>
          </a:custGeom>
          <a:noFill/>
          <a:ln w="19050">
            <a:solidFill>
              <a:srgbClr val="0077CC"/>
            </a:solidFill>
          </a:ln>
        </p:spPr>
      </p:sp>
      <p:sp>
        <p:nvSpPr>
          <p:cNvPr id="15" name="TextBox 15"/>
          <p:cNvSpPr txBox="1"/>
          <p:nvPr/>
        </p:nvSpPr>
        <p:spPr>
          <a:xfrm>
            <a:off x="765810" y="2842260"/>
            <a:ext cx="2164080" cy="7391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新能源、储能、检修技改等场景</a:t>
            </a:r>
            <a:r>
              <a:rPr lang="zh-CN" sz="1200" dirty="0">
                <a:solidFill>
                  <a:srgbClr val="1A1A2E"/>
                </a:solidFill>
                <a:latin typeface="Arial"/>
                <a:ea typeface="Microsoft YaHei"/>
                <a:cs typeface="Arial"/>
              </a:rPr>
              <a:t>外委人员流动频繁，</a:t>
            </a:r>
            <a:r>
              <a:rPr lang="zh-CN" sz="1200" dirty="0">
                <a:solidFill>
                  <a:srgbClr val="1A1A2E"/>
                </a:solidFill>
                <a:latin typeface="Arial"/>
                <a:ea typeface="Microsoft YaHei"/>
                <a:cs typeface="Arial"/>
              </a:rPr>
              <a:t>跨省区跨企业现象普遍。</a:t>
            </a:r>
          </a:p>
        </p:txBody>
      </p:sp>
      <p:sp>
        <p:nvSpPr>
          <p:cNvPr id="16" name="TextBox 16"/>
          <p:cNvSpPr txBox="1"/>
          <p:nvPr/>
        </p:nvSpPr>
        <p:spPr>
          <a:xfrm>
            <a:off x="766762" y="3993356"/>
            <a:ext cx="1600200" cy="1371600"/>
          </a:xfrm>
          <a:prstGeom prst="rect">
            <a:avLst/>
          </a:prstGeom>
          <a:noFill/>
          <a:ln>
            <a:noFill/>
          </a:ln>
        </p:spPr>
        <p:txBody>
          <a:bodyPr wrap="square" lIns="0" tIns="0" rIns="0" bIns="0" anchor="t" anchorCtr="0"/>
          <a:lstStyle/>
          <a:p>
            <a:pPr algn="l">
              <a:lnSpc>
                <a:spcPts val="1800"/>
              </a:lnSpc>
            </a:pPr>
            <a:r>
              <a:rPr lang="zh-CN" sz="1125" dirty="0">
                <a:solidFill>
                  <a:srgbClr val="4A5568"/>
                </a:solidFill>
                <a:latin typeface="Arial"/>
                <a:ea typeface="Microsoft YaHei"/>
                <a:cs typeface="Arial"/>
              </a:rPr>
              <a:t>· 单次核验耗时长，</a:t>
            </a:r>
            <a:r>
              <a:rPr lang="zh-CN" sz="1125" dirty="0">
                <a:solidFill>
                  <a:srgbClr val="4A5568"/>
                </a:solidFill>
                <a:latin typeface="Arial"/>
                <a:ea typeface="Microsoft YaHei"/>
                <a:cs typeface="Arial"/>
              </a:rPr>
              <a:t>重复采集成本高</a:t>
            </a:r>
            <a:r>
              <a:rPr lang="zh-CN" sz="1125" dirty="0">
                <a:solidFill>
                  <a:srgbClr val="4A5568"/>
                </a:solidFill>
                <a:latin typeface="Arial"/>
                <a:ea typeface="Microsoft YaHei"/>
                <a:cs typeface="Arial"/>
              </a:rPr>
              <a:t>· 现场核验手段落后，</a:t>
            </a:r>
            <a:r>
              <a:rPr lang="zh-CN" sz="1125" dirty="0">
                <a:solidFill>
                  <a:srgbClr val="4A5568"/>
                </a:solidFill>
                <a:latin typeface="Arial"/>
                <a:ea typeface="Microsoft YaHei"/>
                <a:cs typeface="Arial"/>
              </a:rPr>
              <a:t>效率与准确性双低</a:t>
            </a:r>
            <a:r>
              <a:rPr lang="zh-CN" sz="1125" dirty="0">
                <a:solidFill>
                  <a:srgbClr val="4A5568"/>
                </a:solidFill>
                <a:latin typeface="Arial"/>
                <a:ea typeface="Microsoft YaHei"/>
                <a:cs typeface="Arial"/>
              </a:rPr>
              <a:t>· 2026年跨省通办政策</a:t>
            </a:r>
            <a:r>
              <a:rPr lang="zh-CN" sz="1125" dirty="0">
                <a:solidFill>
                  <a:srgbClr val="4A5568"/>
                </a:solidFill>
                <a:latin typeface="Arial"/>
                <a:ea typeface="Microsoft YaHei"/>
                <a:cs typeface="Arial"/>
              </a:rPr>
              <a:t>对快速核验提出刚性要求</a:t>
            </a:r>
          </a:p>
        </p:txBody>
      </p:sp>
      <p:sp>
        <p:nvSpPr>
          <p:cNvPr id="17" name="Rectangle 17"/>
          <p:cNvSpPr/>
          <p:nvPr/>
        </p:nvSpPr>
        <p:spPr>
          <a:xfrm>
            <a:off x="4381500" y="1714500"/>
            <a:ext cx="3429000" cy="4572000"/>
          </a:xfrm>
          <a:prstGeom prst="roundRect">
            <a:avLst>
              <a:gd name="adj" fmla="val 833"/>
            </a:avLst>
          </a:prstGeom>
          <a:solidFill>
            <a:srgbClr val="F0F4F8"/>
          </a:solidFill>
          <a:ln>
            <a:noFill/>
          </a:ln>
        </p:spPr>
      </p:sp>
      <p:sp>
        <p:nvSpPr>
          <p:cNvPr id="18" name="TextBox 18"/>
          <p:cNvSpPr txBox="1"/>
          <p:nvPr/>
        </p:nvSpPr>
        <p:spPr>
          <a:xfrm>
            <a:off x="4556760" y="1832610"/>
            <a:ext cx="753561" cy="853440"/>
          </a:xfrm>
          <a:prstGeom prst="rect">
            <a:avLst/>
          </a:prstGeom>
          <a:noFill/>
          <a:ln>
            <a:noFill/>
          </a:ln>
        </p:spPr>
        <p:txBody>
          <a:bodyPr wrap="none" lIns="0" tIns="0" rIns="0" bIns="0" anchor="t" anchorCtr="0">
            <a:spAutoFit/>
          </a:bodyPr>
          <a:lstStyle/>
          <a:p>
            <a:pPr algn="l"/>
            <a:r>
              <a:rPr lang="en-US" sz="4200" b="1" dirty="0">
                <a:solidFill>
                  <a:srgbClr val="003A70">
                    <a:alphaMod val="12000"/>
                  </a:srgbClr>
                </a:solidFill>
                <a:latin typeface="Arial"/>
                <a:ea typeface="Arial"/>
                <a:cs typeface="Arial"/>
              </a:rPr>
              <a:t>02</a:t>
            </a:r>
          </a:p>
        </p:txBody>
      </p:sp>
      <p:sp>
        <p:nvSpPr>
          <p:cNvPr id="19" name="Freeform 19"/>
          <p:cNvSpPr/>
          <p:nvPr/>
        </p:nvSpPr>
        <p:spPr>
          <a:xfrm>
            <a:off x="4629150" y="1657350"/>
            <a:ext cx="266700" cy="304800"/>
          </a:xfrm>
          <a:custGeom>
            <a:avLst/>
            <a:gdLst/>
            <a:ahLst/>
            <a:cxnLst/>
            <a:rect l="l" t="t" r="r" b="b"/>
            <a:pathLst>
              <a:path w="266700" h="304800">
                <a:moveTo>
                  <a:pt x="63819" y="255135"/>
                </a:moveTo>
                <a:lnTo>
                  <a:pt x="133350" y="304800"/>
                </a:lnTo>
                <a:lnTo>
                  <a:pt x="202881" y="255135"/>
                </a:lnTo>
                <a:cubicBezTo>
                  <a:pt x="242931" y="226527"/>
                  <a:pt x="266700" y="180340"/>
                  <a:pt x="266700" y="131122"/>
                </a:cubicBezTo>
                <a:lnTo>
                  <a:pt x="266700" y="57150"/>
                </a:lnTo>
                <a:lnTo>
                  <a:pt x="133350" y="0"/>
                </a:lnTo>
                <a:lnTo>
                  <a:pt x="0" y="57150"/>
                </a:lnTo>
                <a:lnTo>
                  <a:pt x="0" y="131122"/>
                </a:lnTo>
                <a:cubicBezTo>
                  <a:pt x="0" y="180340"/>
                  <a:pt x="23769" y="226527"/>
                  <a:pt x="63819" y="255135"/>
                </a:cubicBezTo>
                <a:close/>
              </a:path>
            </a:pathLst>
          </a:custGeom>
          <a:solidFill>
            <a:srgbClr val="003A70"/>
          </a:solidFill>
          <a:ln>
            <a:noFill/>
          </a:ln>
        </p:spPr>
      </p:sp>
      <p:sp>
        <p:nvSpPr>
          <p:cNvPr id="20" name="TextBox 20"/>
          <p:cNvSpPr txBox="1"/>
          <p:nvPr/>
        </p:nvSpPr>
        <p:spPr>
          <a:xfrm>
            <a:off x="4591050" y="2409825"/>
            <a:ext cx="1508284" cy="304800"/>
          </a:xfrm>
          <a:prstGeom prst="rect">
            <a:avLst/>
          </a:prstGeom>
          <a:noFill/>
          <a:ln>
            <a:noFill/>
          </a:ln>
        </p:spPr>
        <p:txBody>
          <a:bodyPr wrap="none" lIns="0" tIns="0" rIns="0" bIns="0" anchor="t" anchorCtr="0">
            <a:spAutoFit/>
          </a:bodyPr>
          <a:lstStyle/>
          <a:p>
            <a:pPr algn="l"/>
            <a:r>
              <a:rPr lang="zh-CN" sz="1500" b="1" dirty="0">
                <a:solidFill>
                  <a:srgbClr val="003A70"/>
                </a:solidFill>
                <a:latin typeface="Arial"/>
                <a:ea typeface="SimHei"/>
                <a:cs typeface="Arial"/>
              </a:rPr>
              <a:t>标准口径碎片化</a:t>
            </a:r>
          </a:p>
        </p:txBody>
      </p:sp>
      <p:sp>
        <p:nvSpPr>
          <p:cNvPr id="21" name="Line 21"/>
          <p:cNvSpPr/>
          <p:nvPr/>
        </p:nvSpPr>
        <p:spPr>
          <a:xfrm>
            <a:off x="4610100" y="2705100"/>
            <a:ext cx="3009900" cy="9525"/>
          </a:xfrm>
          <a:custGeom>
            <a:avLst/>
            <a:gdLst/>
            <a:ahLst/>
            <a:cxnLst/>
            <a:rect l="l" t="t" r="r" b="b"/>
            <a:pathLst>
              <a:path w="3009900" h="9525">
                <a:moveTo>
                  <a:pt x="0" y="0"/>
                </a:moveTo>
                <a:lnTo>
                  <a:pt x="3009900" y="0"/>
                </a:lnTo>
              </a:path>
            </a:pathLst>
          </a:custGeom>
          <a:noFill/>
          <a:ln w="19050">
            <a:solidFill>
              <a:srgbClr val="0077CC"/>
            </a:solidFill>
          </a:ln>
        </p:spPr>
      </p:sp>
      <p:sp>
        <p:nvSpPr>
          <p:cNvPr id="22" name="TextBox 22"/>
          <p:cNvSpPr txBox="1"/>
          <p:nvPr/>
        </p:nvSpPr>
        <p:spPr>
          <a:xfrm>
            <a:off x="4594860" y="2842260"/>
            <a:ext cx="1859280" cy="7391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跨企业、跨区域、跨承包商</a:t>
            </a:r>
            <a:r>
              <a:rPr lang="zh-CN" sz="1200" dirty="0">
                <a:solidFill>
                  <a:srgbClr val="1A1A2E"/>
                </a:solidFill>
                <a:latin typeface="Arial"/>
                <a:ea typeface="Microsoft YaHei"/>
                <a:cs typeface="Arial"/>
              </a:rPr>
              <a:t>安全培训标准不统一，</a:t>
            </a:r>
            <a:r>
              <a:rPr lang="zh-CN" sz="1200" dirty="0">
                <a:solidFill>
                  <a:srgbClr val="1A1A2E"/>
                </a:solidFill>
                <a:latin typeface="Arial"/>
                <a:ea typeface="Microsoft YaHei"/>
                <a:cs typeface="Arial"/>
              </a:rPr>
              <a:t>重复采集普遍存在。</a:t>
            </a:r>
          </a:p>
        </p:txBody>
      </p:sp>
      <p:sp>
        <p:nvSpPr>
          <p:cNvPr id="23" name="TextBox 23"/>
          <p:cNvSpPr txBox="1"/>
          <p:nvPr/>
        </p:nvSpPr>
        <p:spPr>
          <a:xfrm>
            <a:off x="4595812" y="3993356"/>
            <a:ext cx="1721644" cy="1371600"/>
          </a:xfrm>
          <a:prstGeom prst="rect">
            <a:avLst/>
          </a:prstGeom>
          <a:noFill/>
          <a:ln>
            <a:noFill/>
          </a:ln>
        </p:spPr>
        <p:txBody>
          <a:bodyPr wrap="square" lIns="0" tIns="0" rIns="0" bIns="0" anchor="t" anchorCtr="0"/>
          <a:lstStyle/>
          <a:p>
            <a:pPr algn="l">
              <a:lnSpc>
                <a:spcPts val="1800"/>
              </a:lnSpc>
            </a:pPr>
            <a:r>
              <a:rPr lang="zh-CN" sz="1125" dirty="0">
                <a:solidFill>
                  <a:srgbClr val="4A5568"/>
                </a:solidFill>
                <a:latin typeface="Arial"/>
                <a:ea typeface="Microsoft YaHei"/>
                <a:cs typeface="Arial"/>
              </a:rPr>
              <a:t>· 各企业安规版本各异，</a:t>
            </a:r>
            <a:r>
              <a:rPr lang="zh-CN" sz="1125" dirty="0">
                <a:solidFill>
                  <a:srgbClr val="4A5568"/>
                </a:solidFill>
                <a:latin typeface="Arial"/>
                <a:ea typeface="Microsoft YaHei"/>
                <a:cs typeface="Arial"/>
              </a:rPr>
              <a:t>岗位标准无法互认</a:t>
            </a:r>
            <a:r>
              <a:rPr lang="zh-CN" sz="1125" dirty="0">
                <a:solidFill>
                  <a:srgbClr val="4A5568"/>
                </a:solidFill>
                <a:latin typeface="Arial"/>
                <a:ea typeface="Microsoft YaHei"/>
                <a:cs typeface="Arial"/>
              </a:rPr>
              <a:t>· 培训记录封存于各企业，</a:t>
            </a:r>
            <a:r>
              <a:rPr lang="zh-CN" sz="1125" dirty="0">
                <a:solidFill>
                  <a:srgbClr val="4A5568"/>
                </a:solidFill>
                <a:latin typeface="Arial"/>
                <a:ea typeface="Microsoft YaHei"/>
                <a:cs typeface="Arial"/>
              </a:rPr>
              <a:t>外部无法查验</a:t>
            </a:r>
            <a:r>
              <a:rPr lang="zh-CN" sz="1125" dirty="0">
                <a:solidFill>
                  <a:srgbClr val="4A5568"/>
                </a:solidFill>
                <a:latin typeface="Arial"/>
                <a:ea typeface="Microsoft YaHei"/>
                <a:cs typeface="Arial"/>
              </a:rPr>
              <a:t>· 证照核验渠道单一，</a:t>
            </a:r>
            <a:r>
              <a:rPr lang="zh-CN" sz="1125" dirty="0">
                <a:solidFill>
                  <a:srgbClr val="4A5568"/>
                </a:solidFill>
                <a:latin typeface="Arial"/>
                <a:ea typeface="Microsoft YaHei"/>
                <a:cs typeface="Arial"/>
              </a:rPr>
              <a:t>综合能力难以评估</a:t>
            </a:r>
          </a:p>
        </p:txBody>
      </p:sp>
      <p:sp>
        <p:nvSpPr>
          <p:cNvPr id="24" name="Rectangle 24"/>
          <p:cNvSpPr/>
          <p:nvPr/>
        </p:nvSpPr>
        <p:spPr>
          <a:xfrm>
            <a:off x="8210550" y="1714500"/>
            <a:ext cx="3429000" cy="4572000"/>
          </a:xfrm>
          <a:prstGeom prst="roundRect">
            <a:avLst>
              <a:gd name="adj" fmla="val 833"/>
            </a:avLst>
          </a:prstGeom>
          <a:solidFill>
            <a:srgbClr val="F0F4F8"/>
          </a:solidFill>
          <a:ln>
            <a:noFill/>
          </a:ln>
        </p:spPr>
      </p:sp>
      <p:sp>
        <p:nvSpPr>
          <p:cNvPr id="25" name="TextBox 25"/>
          <p:cNvSpPr txBox="1"/>
          <p:nvPr/>
        </p:nvSpPr>
        <p:spPr>
          <a:xfrm>
            <a:off x="8385810" y="1832610"/>
            <a:ext cx="753561" cy="853440"/>
          </a:xfrm>
          <a:prstGeom prst="rect">
            <a:avLst/>
          </a:prstGeom>
          <a:noFill/>
          <a:ln>
            <a:noFill/>
          </a:ln>
        </p:spPr>
        <p:txBody>
          <a:bodyPr wrap="none" lIns="0" tIns="0" rIns="0" bIns="0" anchor="t" anchorCtr="0">
            <a:spAutoFit/>
          </a:bodyPr>
          <a:lstStyle/>
          <a:p>
            <a:pPr algn="l"/>
            <a:r>
              <a:rPr lang="en-US" sz="4200" b="1" dirty="0">
                <a:solidFill>
                  <a:srgbClr val="003A70">
                    <a:alphaMod val="12000"/>
                  </a:srgbClr>
                </a:solidFill>
                <a:latin typeface="Arial"/>
                <a:ea typeface="Arial"/>
                <a:cs typeface="Arial"/>
              </a:rPr>
              <a:t>03</a:t>
            </a:r>
          </a:p>
        </p:txBody>
      </p:sp>
      <p:sp>
        <p:nvSpPr>
          <p:cNvPr id="26" name="Freeform 26"/>
          <p:cNvSpPr/>
          <p:nvPr/>
        </p:nvSpPr>
        <p:spPr>
          <a:xfrm>
            <a:off x="8439150" y="1657350"/>
            <a:ext cx="266700" cy="304800"/>
          </a:xfrm>
          <a:custGeom>
            <a:avLst/>
            <a:gdLst/>
            <a:ahLst/>
            <a:cxnLst/>
            <a:rect l="l" t="t" r="r" b="b"/>
            <a:pathLst>
              <a:path w="266700" h="304800">
                <a:moveTo>
                  <a:pt x="209550" y="114300"/>
                </a:moveTo>
                <a:cubicBezTo>
                  <a:pt x="241114" y="114300"/>
                  <a:pt x="266700" y="88713"/>
                  <a:pt x="266700" y="57150"/>
                </a:cubicBezTo>
                <a:cubicBezTo>
                  <a:pt x="266700" y="25587"/>
                  <a:pt x="241114" y="0"/>
                  <a:pt x="209550" y="0"/>
                </a:cubicBezTo>
                <a:cubicBezTo>
                  <a:pt x="177987" y="0"/>
                  <a:pt x="152400" y="25587"/>
                  <a:pt x="152400" y="57150"/>
                </a:cubicBezTo>
                <a:cubicBezTo>
                  <a:pt x="152400" y="61412"/>
                  <a:pt x="152867" y="65564"/>
                  <a:pt x="153751" y="69560"/>
                </a:cubicBezTo>
                <a:lnTo>
                  <a:pt x="92747" y="107687"/>
                </a:lnTo>
                <a:cubicBezTo>
                  <a:pt x="82982" y="99903"/>
                  <a:pt x="70609" y="95250"/>
                  <a:pt x="57150" y="95250"/>
                </a:cubicBezTo>
                <a:cubicBezTo>
                  <a:pt x="25587" y="95250"/>
                  <a:pt x="0" y="120837"/>
                  <a:pt x="0" y="152400"/>
                </a:cubicBezTo>
                <a:cubicBezTo>
                  <a:pt x="0" y="183963"/>
                  <a:pt x="25587" y="209550"/>
                  <a:pt x="57150" y="209550"/>
                </a:cubicBezTo>
                <a:cubicBezTo>
                  <a:pt x="70609" y="209550"/>
                  <a:pt x="82982" y="204898"/>
                  <a:pt x="92747" y="197112"/>
                </a:cubicBezTo>
                <a:lnTo>
                  <a:pt x="153751" y="235241"/>
                </a:lnTo>
                <a:cubicBezTo>
                  <a:pt x="152867" y="239236"/>
                  <a:pt x="152400" y="243389"/>
                  <a:pt x="152400" y="247650"/>
                </a:cubicBezTo>
                <a:cubicBezTo>
                  <a:pt x="152400" y="279214"/>
                  <a:pt x="177987" y="304800"/>
                  <a:pt x="209550" y="304800"/>
                </a:cubicBezTo>
                <a:cubicBezTo>
                  <a:pt x="241114" y="304800"/>
                  <a:pt x="266700" y="279214"/>
                  <a:pt x="266700" y="247650"/>
                </a:cubicBezTo>
                <a:cubicBezTo>
                  <a:pt x="266700" y="216086"/>
                  <a:pt x="241114" y="190500"/>
                  <a:pt x="209550" y="190500"/>
                </a:cubicBezTo>
                <a:cubicBezTo>
                  <a:pt x="196091" y="190500"/>
                  <a:pt x="183718" y="195152"/>
                  <a:pt x="173953" y="202938"/>
                </a:cubicBezTo>
                <a:lnTo>
                  <a:pt x="112949" y="164810"/>
                </a:lnTo>
                <a:cubicBezTo>
                  <a:pt x="113833" y="160814"/>
                  <a:pt x="114300" y="156662"/>
                  <a:pt x="114300" y="152400"/>
                </a:cubicBezTo>
                <a:cubicBezTo>
                  <a:pt x="114300" y="148138"/>
                  <a:pt x="113833" y="143986"/>
                  <a:pt x="112949" y="139990"/>
                </a:cubicBezTo>
                <a:lnTo>
                  <a:pt x="173953" y="101863"/>
                </a:lnTo>
                <a:cubicBezTo>
                  <a:pt x="183718" y="109647"/>
                  <a:pt x="196091" y="114300"/>
                  <a:pt x="209550" y="114300"/>
                </a:cubicBezTo>
                <a:close/>
              </a:path>
            </a:pathLst>
          </a:custGeom>
          <a:solidFill>
            <a:srgbClr val="003A70"/>
          </a:solidFill>
          <a:ln>
            <a:noFill/>
          </a:ln>
        </p:spPr>
      </p:sp>
      <p:sp>
        <p:nvSpPr>
          <p:cNvPr id="27" name="TextBox 27"/>
          <p:cNvSpPr txBox="1"/>
          <p:nvPr/>
        </p:nvSpPr>
        <p:spPr>
          <a:xfrm>
            <a:off x="8420100" y="2409825"/>
            <a:ext cx="1508284" cy="304800"/>
          </a:xfrm>
          <a:prstGeom prst="rect">
            <a:avLst/>
          </a:prstGeom>
          <a:noFill/>
          <a:ln>
            <a:noFill/>
          </a:ln>
        </p:spPr>
        <p:txBody>
          <a:bodyPr wrap="none" lIns="0" tIns="0" rIns="0" bIns="0" anchor="t" anchorCtr="0">
            <a:spAutoFit/>
          </a:bodyPr>
          <a:lstStyle/>
          <a:p>
            <a:pPr algn="l"/>
            <a:r>
              <a:rPr lang="zh-CN" sz="1500" b="1" dirty="0">
                <a:solidFill>
                  <a:srgbClr val="003A70"/>
                </a:solidFill>
                <a:latin typeface="Arial"/>
                <a:ea typeface="SimHei"/>
                <a:cs typeface="Arial"/>
              </a:rPr>
              <a:t>跨主体复用缺失</a:t>
            </a:r>
          </a:p>
        </p:txBody>
      </p:sp>
      <p:sp>
        <p:nvSpPr>
          <p:cNvPr id="28" name="Line 28"/>
          <p:cNvSpPr/>
          <p:nvPr/>
        </p:nvSpPr>
        <p:spPr>
          <a:xfrm>
            <a:off x="8439150" y="2705100"/>
            <a:ext cx="3009900" cy="9525"/>
          </a:xfrm>
          <a:custGeom>
            <a:avLst/>
            <a:gdLst/>
            <a:ahLst/>
            <a:cxnLst/>
            <a:rect l="l" t="t" r="r" b="b"/>
            <a:pathLst>
              <a:path w="3009900" h="9525">
                <a:moveTo>
                  <a:pt x="0" y="0"/>
                </a:moveTo>
                <a:lnTo>
                  <a:pt x="3009900" y="0"/>
                </a:lnTo>
              </a:path>
            </a:pathLst>
          </a:custGeom>
          <a:noFill/>
          <a:ln w="19050">
            <a:solidFill>
              <a:srgbClr val="0077CC"/>
            </a:solidFill>
          </a:ln>
        </p:spPr>
      </p:sp>
      <p:sp>
        <p:nvSpPr>
          <p:cNvPr id="29" name="TextBox 29"/>
          <p:cNvSpPr txBox="1"/>
          <p:nvPr/>
        </p:nvSpPr>
        <p:spPr>
          <a:xfrm>
            <a:off x="8423910" y="2842260"/>
            <a:ext cx="1402080" cy="7391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企业内部系统封闭，</a:t>
            </a:r>
            <a:r>
              <a:rPr lang="zh-CN" sz="1200" dirty="0">
                <a:solidFill>
                  <a:srgbClr val="1A1A2E"/>
                </a:solidFill>
                <a:latin typeface="Arial"/>
                <a:ea typeface="Microsoft YaHei"/>
                <a:cs typeface="Arial"/>
              </a:rPr>
              <a:t>无行业级授权核验</a:t>
            </a:r>
            <a:r>
              <a:rPr lang="zh-CN" sz="1200" dirty="0">
                <a:solidFill>
                  <a:srgbClr val="1A1A2E"/>
                </a:solidFill>
                <a:latin typeface="Arial"/>
                <a:ea typeface="Microsoft YaHei"/>
                <a:cs typeface="Arial"/>
              </a:rPr>
              <a:t>与结果共享机制。</a:t>
            </a:r>
          </a:p>
        </p:txBody>
      </p:sp>
      <p:sp>
        <p:nvSpPr>
          <p:cNvPr id="30" name="TextBox 30"/>
          <p:cNvSpPr txBox="1"/>
          <p:nvPr/>
        </p:nvSpPr>
        <p:spPr>
          <a:xfrm>
            <a:off x="8424862" y="3993356"/>
            <a:ext cx="1314450" cy="1371600"/>
          </a:xfrm>
          <a:prstGeom prst="rect">
            <a:avLst/>
          </a:prstGeom>
          <a:noFill/>
          <a:ln>
            <a:noFill/>
          </a:ln>
        </p:spPr>
        <p:txBody>
          <a:bodyPr wrap="square" lIns="0" tIns="0" rIns="0" bIns="0" anchor="t" anchorCtr="0"/>
          <a:lstStyle/>
          <a:p>
            <a:pPr algn="l">
              <a:lnSpc>
                <a:spcPts val="1800"/>
              </a:lnSpc>
            </a:pPr>
            <a:r>
              <a:rPr lang="zh-CN" sz="1125" dirty="0">
                <a:solidFill>
                  <a:srgbClr val="4A5568"/>
                </a:solidFill>
                <a:latin typeface="Arial"/>
                <a:ea typeface="Microsoft YaHei"/>
                <a:cs typeface="Arial"/>
              </a:rPr>
              <a:t>· 同一人员换项目需</a:t>
            </a:r>
            <a:r>
              <a:rPr lang="zh-CN" sz="1125" dirty="0">
                <a:solidFill>
                  <a:srgbClr val="4A5568"/>
                </a:solidFill>
                <a:latin typeface="Arial"/>
                <a:ea typeface="Microsoft YaHei"/>
                <a:cs typeface="Arial"/>
              </a:rPr>
              <a:t>全流程重新认证</a:t>
            </a:r>
            <a:r>
              <a:rPr lang="zh-CN" sz="1125" dirty="0">
                <a:solidFill>
                  <a:srgbClr val="4A5568"/>
                </a:solidFill>
                <a:latin typeface="Arial"/>
                <a:ea typeface="Microsoft YaHei"/>
                <a:cs typeface="Arial"/>
              </a:rPr>
              <a:t>· 承包商能力无行业</a:t>
            </a:r>
            <a:r>
              <a:rPr lang="zh-CN" sz="1125" dirty="0">
                <a:solidFill>
                  <a:srgbClr val="4A5568"/>
                </a:solidFill>
                <a:latin typeface="Arial"/>
                <a:ea typeface="Microsoft YaHei"/>
                <a:cs typeface="Arial"/>
              </a:rPr>
              <a:t>认可的档案沉淀</a:t>
            </a:r>
            <a:r>
              <a:rPr lang="zh-CN" sz="1125" dirty="0">
                <a:solidFill>
                  <a:srgbClr val="4A5568"/>
                </a:solidFill>
                <a:latin typeface="Arial"/>
                <a:ea typeface="Microsoft YaHei"/>
                <a:cs typeface="Arial"/>
              </a:rPr>
              <a:t>· 现有产品均服务</a:t>
            </a:r>
            <a:r>
              <a:rPr lang="zh-CN" sz="1125" dirty="0">
                <a:solidFill>
                  <a:srgbClr val="4A5568"/>
                </a:solidFill>
                <a:latin typeface="Arial"/>
                <a:ea typeface="Microsoft YaHei"/>
                <a:cs typeface="Arial"/>
              </a:rPr>
              <a:t>单一主体，不可跨用</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第一章 · 建设背景与依据</a:t>
            </a:r>
          </a:p>
        </p:txBody>
      </p:sp>
      <p:sp>
        <p:nvSpPr>
          <p:cNvPr id="4" name="TextBox 4"/>
          <p:cNvSpPr txBox="1"/>
          <p:nvPr/>
        </p:nvSpPr>
        <p:spPr>
          <a:xfrm>
            <a:off x="525780" y="1183005"/>
            <a:ext cx="7889419"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建设依据：安全生产·数据基础·个人保护·企业管理四维支撑</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38300"/>
            <a:ext cx="11087100" cy="342900"/>
          </a:xfrm>
          <a:prstGeom prst="rect">
            <a:avLst/>
          </a:prstGeom>
          <a:solidFill>
            <a:srgbClr val="003A70"/>
          </a:solidFill>
          <a:ln>
            <a:noFill/>
          </a:ln>
        </p:spPr>
      </p:sp>
      <p:sp>
        <p:nvSpPr>
          <p:cNvPr id="7" name="TextBox 7"/>
          <p:cNvSpPr txBox="1"/>
          <p:nvPr/>
        </p:nvSpPr>
        <p:spPr>
          <a:xfrm>
            <a:off x="939165" y="1744028"/>
            <a:ext cx="61474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SimHei"/>
                <a:cs typeface="Arial"/>
              </a:rPr>
              <a:t>依据类别</a:t>
            </a:r>
          </a:p>
        </p:txBody>
      </p:sp>
      <p:sp>
        <p:nvSpPr>
          <p:cNvPr id="8" name="TextBox 8"/>
          <p:cNvSpPr txBox="1"/>
          <p:nvPr/>
        </p:nvSpPr>
        <p:spPr>
          <a:xfrm>
            <a:off x="3129915" y="1744028"/>
            <a:ext cx="107785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SimHei"/>
                <a:cs typeface="Arial"/>
              </a:rPr>
              <a:t>核心文件 / 政策</a:t>
            </a:r>
          </a:p>
        </p:txBody>
      </p:sp>
      <p:sp>
        <p:nvSpPr>
          <p:cNvPr id="9" name="TextBox 9"/>
          <p:cNvSpPr txBox="1"/>
          <p:nvPr/>
        </p:nvSpPr>
        <p:spPr>
          <a:xfrm>
            <a:off x="6368415" y="1744028"/>
            <a:ext cx="614744"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SimHei"/>
                <a:cs typeface="Arial"/>
              </a:rPr>
              <a:t>主要要求</a:t>
            </a:r>
          </a:p>
        </p:txBody>
      </p:sp>
      <p:sp>
        <p:nvSpPr>
          <p:cNvPr id="10" name="TextBox 10"/>
          <p:cNvSpPr txBox="1"/>
          <p:nvPr/>
        </p:nvSpPr>
        <p:spPr>
          <a:xfrm>
            <a:off x="9416415" y="1744028"/>
            <a:ext cx="1055799"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SimHei"/>
                <a:cs typeface="Arial"/>
              </a:rPr>
              <a:t>本场景落实方向</a:t>
            </a:r>
          </a:p>
        </p:txBody>
      </p:sp>
      <p:sp>
        <p:nvSpPr>
          <p:cNvPr id="11" name="Line 11"/>
          <p:cNvSpPr/>
          <p:nvPr/>
        </p:nvSpPr>
        <p:spPr>
          <a:xfrm>
            <a:off x="2667000" y="1638300"/>
            <a:ext cx="9525" cy="4838700"/>
          </a:xfrm>
          <a:custGeom>
            <a:avLst/>
            <a:gdLst/>
            <a:ahLst/>
            <a:cxnLst/>
            <a:rect l="l" t="t" r="r" b="b"/>
            <a:pathLst>
              <a:path w="9525" h="4838700">
                <a:moveTo>
                  <a:pt x="0" y="0"/>
                </a:moveTo>
                <a:lnTo>
                  <a:pt x="0" y="4838700"/>
                </a:lnTo>
              </a:path>
            </a:pathLst>
          </a:custGeom>
          <a:noFill/>
          <a:ln w="9525">
            <a:solidFill>
              <a:srgbClr val="FFFFFF">
                <a:alpha val="30000"/>
              </a:srgbClr>
            </a:solidFill>
          </a:ln>
        </p:spPr>
      </p:sp>
      <p:sp>
        <p:nvSpPr>
          <p:cNvPr id="12" name="Line 12"/>
          <p:cNvSpPr/>
          <p:nvPr/>
        </p:nvSpPr>
        <p:spPr>
          <a:xfrm>
            <a:off x="6096000" y="1638300"/>
            <a:ext cx="9525" cy="4838700"/>
          </a:xfrm>
          <a:custGeom>
            <a:avLst/>
            <a:gdLst/>
            <a:ahLst/>
            <a:cxnLst/>
            <a:rect l="l" t="t" r="r" b="b"/>
            <a:pathLst>
              <a:path w="9525" h="4838700">
                <a:moveTo>
                  <a:pt x="0" y="0"/>
                </a:moveTo>
                <a:lnTo>
                  <a:pt x="0" y="4838700"/>
                </a:lnTo>
              </a:path>
            </a:pathLst>
          </a:custGeom>
          <a:noFill/>
          <a:ln w="9525">
            <a:solidFill>
              <a:srgbClr val="FFFFFF">
                <a:alpha val="30000"/>
              </a:srgbClr>
            </a:solidFill>
          </a:ln>
        </p:spPr>
      </p:sp>
      <p:sp>
        <p:nvSpPr>
          <p:cNvPr id="13" name="Line 13"/>
          <p:cNvSpPr/>
          <p:nvPr/>
        </p:nvSpPr>
        <p:spPr>
          <a:xfrm>
            <a:off x="9144000" y="1638300"/>
            <a:ext cx="9525" cy="4838700"/>
          </a:xfrm>
          <a:custGeom>
            <a:avLst/>
            <a:gdLst/>
            <a:ahLst/>
            <a:cxnLst/>
            <a:rect l="l" t="t" r="r" b="b"/>
            <a:pathLst>
              <a:path w="9525" h="4838700">
                <a:moveTo>
                  <a:pt x="0" y="0"/>
                </a:moveTo>
                <a:lnTo>
                  <a:pt x="0" y="4838700"/>
                </a:lnTo>
              </a:path>
            </a:pathLst>
          </a:custGeom>
          <a:noFill/>
          <a:ln w="9525">
            <a:solidFill>
              <a:srgbClr val="FFFFFF">
                <a:alpha val="30000"/>
              </a:srgbClr>
            </a:solidFill>
          </a:ln>
        </p:spPr>
      </p:sp>
      <p:sp>
        <p:nvSpPr>
          <p:cNvPr id="14" name="Rectangle 14"/>
          <p:cNvSpPr/>
          <p:nvPr/>
        </p:nvSpPr>
        <p:spPr>
          <a:xfrm>
            <a:off x="552450" y="1981200"/>
            <a:ext cx="11087100" cy="1066800"/>
          </a:xfrm>
          <a:prstGeom prst="rect">
            <a:avLst/>
          </a:prstGeom>
          <a:solidFill>
            <a:srgbClr val="F0F4F8"/>
          </a:solidFill>
          <a:ln>
            <a:noFill/>
          </a:ln>
        </p:spPr>
      </p:sp>
      <p:sp>
        <p:nvSpPr>
          <p:cNvPr id="15" name="Rectangle 15"/>
          <p:cNvSpPr/>
          <p:nvPr/>
        </p:nvSpPr>
        <p:spPr>
          <a:xfrm>
            <a:off x="552450" y="1981200"/>
            <a:ext cx="47625" cy="1066800"/>
          </a:xfrm>
          <a:prstGeom prst="rect">
            <a:avLst/>
          </a:prstGeom>
          <a:solidFill>
            <a:srgbClr val="C53030"/>
          </a:solidFill>
          <a:ln>
            <a:noFill/>
          </a:ln>
        </p:spPr>
      </p:sp>
      <p:sp>
        <p:nvSpPr>
          <p:cNvPr id="16" name="TextBox 16"/>
          <p:cNvSpPr txBox="1"/>
          <p:nvPr/>
        </p:nvSpPr>
        <p:spPr>
          <a:xfrm>
            <a:off x="699135" y="2080260"/>
            <a:ext cx="702564" cy="243840"/>
          </a:xfrm>
          <a:prstGeom prst="rect">
            <a:avLst/>
          </a:prstGeom>
          <a:noFill/>
          <a:ln>
            <a:noFill/>
          </a:ln>
        </p:spPr>
        <p:txBody>
          <a:bodyPr wrap="none" lIns="0" tIns="0" rIns="0" bIns="0" anchor="t" anchorCtr="0">
            <a:spAutoFit/>
          </a:bodyPr>
          <a:lstStyle/>
          <a:p>
            <a:pPr algn="l"/>
            <a:r>
              <a:rPr lang="zh-CN" sz="1200" b="1" dirty="0">
                <a:solidFill>
                  <a:srgbClr val="C53030"/>
                </a:solidFill>
                <a:latin typeface="Arial"/>
                <a:ea typeface="SimHei"/>
                <a:cs typeface="Arial"/>
              </a:rPr>
              <a:t>安全生产</a:t>
            </a:r>
          </a:p>
        </p:txBody>
      </p:sp>
      <p:sp>
        <p:nvSpPr>
          <p:cNvPr id="17" name="TextBox 17"/>
          <p:cNvSpPr txBox="1"/>
          <p:nvPr/>
        </p:nvSpPr>
        <p:spPr>
          <a:xfrm>
            <a:off x="699135" y="2289810"/>
            <a:ext cx="366522" cy="243840"/>
          </a:xfrm>
          <a:prstGeom prst="rect">
            <a:avLst/>
          </a:prstGeom>
          <a:noFill/>
          <a:ln>
            <a:noFill/>
          </a:ln>
        </p:spPr>
        <p:txBody>
          <a:bodyPr wrap="none" lIns="0" tIns="0" rIns="0" bIns="0" anchor="t" anchorCtr="0">
            <a:spAutoFit/>
          </a:bodyPr>
          <a:lstStyle/>
          <a:p>
            <a:pPr algn="l"/>
            <a:r>
              <a:rPr lang="zh-CN" sz="1200" b="1" dirty="0">
                <a:solidFill>
                  <a:srgbClr val="C53030"/>
                </a:solidFill>
                <a:latin typeface="Arial"/>
                <a:ea typeface="SimHei"/>
                <a:cs typeface="Arial"/>
              </a:rPr>
              <a:t>要求</a:t>
            </a:r>
          </a:p>
        </p:txBody>
      </p:sp>
      <p:sp>
        <p:nvSpPr>
          <p:cNvPr id="18" name="Freeform 18"/>
          <p:cNvSpPr/>
          <p:nvPr/>
        </p:nvSpPr>
        <p:spPr>
          <a:xfrm>
            <a:off x="726281" y="2552700"/>
            <a:ext cx="166688" cy="190500"/>
          </a:xfrm>
          <a:custGeom>
            <a:avLst/>
            <a:gdLst/>
            <a:ahLst/>
            <a:cxnLst/>
            <a:rect l="l" t="t" r="r" b="b"/>
            <a:pathLst>
              <a:path w="166688" h="190500">
                <a:moveTo>
                  <a:pt x="39887" y="159459"/>
                </a:moveTo>
                <a:lnTo>
                  <a:pt x="83344" y="190500"/>
                </a:lnTo>
                <a:lnTo>
                  <a:pt x="126800" y="159459"/>
                </a:lnTo>
                <a:cubicBezTo>
                  <a:pt x="151832" y="141580"/>
                  <a:pt x="166688" y="112713"/>
                  <a:pt x="166688" y="81951"/>
                </a:cubicBezTo>
                <a:lnTo>
                  <a:pt x="166688" y="35719"/>
                </a:lnTo>
                <a:lnTo>
                  <a:pt x="83344" y="0"/>
                </a:lnTo>
                <a:lnTo>
                  <a:pt x="0" y="35719"/>
                </a:lnTo>
                <a:lnTo>
                  <a:pt x="0" y="81951"/>
                </a:lnTo>
                <a:cubicBezTo>
                  <a:pt x="0" y="112713"/>
                  <a:pt x="14856" y="141580"/>
                  <a:pt x="39887" y="159459"/>
                </a:cubicBezTo>
                <a:close/>
              </a:path>
            </a:pathLst>
          </a:custGeom>
          <a:solidFill>
            <a:srgbClr val="C53030"/>
          </a:solidFill>
          <a:ln>
            <a:noFill/>
          </a:ln>
        </p:spPr>
      </p:sp>
      <p:sp>
        <p:nvSpPr>
          <p:cNvPr id="19" name="TextBox 19"/>
          <p:cNvSpPr txBox="1"/>
          <p:nvPr/>
        </p:nvSpPr>
        <p:spPr>
          <a:xfrm>
            <a:off x="2805112" y="2126456"/>
            <a:ext cx="1500188"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应急管理部令第19号</a:t>
            </a:r>
            <a:r>
              <a:rPr lang="zh-CN" sz="1125" dirty="0">
                <a:solidFill>
                  <a:srgbClr val="1A1A2E"/>
                </a:solidFill>
                <a:latin typeface="Arial"/>
                <a:ea typeface="Microsoft YaHei"/>
                <a:cs typeface="Arial"/>
              </a:rPr>
              <a:t>（2026年6月1日施行）</a:t>
            </a:r>
          </a:p>
        </p:txBody>
      </p:sp>
      <p:sp>
        <p:nvSpPr>
          <p:cNvPr id="20" name="TextBox 20"/>
          <p:cNvSpPr txBox="1"/>
          <p:nvPr/>
        </p:nvSpPr>
        <p:spPr>
          <a:xfrm>
            <a:off x="2807018" y="2656999"/>
            <a:ext cx="655344"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 跨省通办</a:t>
            </a:r>
          </a:p>
        </p:txBody>
      </p:sp>
      <p:sp>
        <p:nvSpPr>
          <p:cNvPr id="21" name="TextBox 21"/>
          <p:cNvSpPr txBox="1"/>
          <p:nvPr/>
        </p:nvSpPr>
        <p:spPr>
          <a:xfrm>
            <a:off x="6234112" y="2126456"/>
            <a:ext cx="1457325"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外委人员安全培训记录</a:t>
            </a:r>
            <a:r>
              <a:rPr lang="zh-CN" sz="1125" dirty="0">
                <a:solidFill>
                  <a:srgbClr val="1A1A2E"/>
                </a:solidFill>
                <a:latin typeface="Arial"/>
                <a:ea typeface="Microsoft YaHei"/>
                <a:cs typeface="Arial"/>
              </a:rPr>
              <a:t>跨省区认定与移交</a:t>
            </a:r>
          </a:p>
        </p:txBody>
      </p:sp>
      <p:sp>
        <p:nvSpPr>
          <p:cNvPr id="22" name="TextBox 22"/>
          <p:cNvSpPr txBox="1"/>
          <p:nvPr/>
        </p:nvSpPr>
        <p:spPr>
          <a:xfrm>
            <a:off x="9282112" y="2126456"/>
            <a:ext cx="131445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建立行业级核验机制</a:t>
            </a:r>
            <a:r>
              <a:rPr lang="zh-CN" sz="1125" dirty="0">
                <a:solidFill>
                  <a:srgbClr val="1A1A2E"/>
                </a:solidFill>
                <a:latin typeface="Arial"/>
                <a:ea typeface="Microsoft YaHei"/>
                <a:cs typeface="Arial"/>
              </a:rPr>
              <a:t>支撑跨省记录互认</a:t>
            </a:r>
          </a:p>
        </p:txBody>
      </p:sp>
      <p:sp>
        <p:nvSpPr>
          <p:cNvPr id="23" name="Line 23"/>
          <p:cNvSpPr/>
          <p:nvPr/>
        </p:nvSpPr>
        <p:spPr>
          <a:xfrm>
            <a:off x="552450" y="3048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24" name="Rectangle 24"/>
          <p:cNvSpPr/>
          <p:nvPr/>
        </p:nvSpPr>
        <p:spPr>
          <a:xfrm>
            <a:off x="552450" y="3048000"/>
            <a:ext cx="11087100" cy="1066800"/>
          </a:xfrm>
          <a:prstGeom prst="rect">
            <a:avLst/>
          </a:prstGeom>
          <a:solidFill>
            <a:srgbClr val="FFFFFF"/>
          </a:solidFill>
          <a:ln>
            <a:noFill/>
          </a:ln>
        </p:spPr>
      </p:sp>
      <p:sp>
        <p:nvSpPr>
          <p:cNvPr id="25" name="Rectangle 25"/>
          <p:cNvSpPr/>
          <p:nvPr/>
        </p:nvSpPr>
        <p:spPr>
          <a:xfrm>
            <a:off x="552450" y="3048000"/>
            <a:ext cx="47625" cy="1066800"/>
          </a:xfrm>
          <a:prstGeom prst="rect">
            <a:avLst/>
          </a:prstGeom>
          <a:solidFill>
            <a:srgbClr val="003A70"/>
          </a:solidFill>
          <a:ln>
            <a:noFill/>
          </a:ln>
        </p:spPr>
      </p:sp>
      <p:sp>
        <p:nvSpPr>
          <p:cNvPr id="26" name="TextBox 26"/>
          <p:cNvSpPr txBox="1"/>
          <p:nvPr/>
        </p:nvSpPr>
        <p:spPr>
          <a:xfrm>
            <a:off x="699135" y="3147060"/>
            <a:ext cx="702564" cy="243840"/>
          </a:xfrm>
          <a:prstGeom prst="rect">
            <a:avLst/>
          </a:prstGeom>
          <a:noFill/>
          <a:ln>
            <a:noFill/>
          </a:ln>
        </p:spPr>
        <p:txBody>
          <a:bodyPr wrap="none" lIns="0" tIns="0" rIns="0" bIns="0" anchor="t" anchorCtr="0">
            <a:spAutoFit/>
          </a:bodyPr>
          <a:lstStyle/>
          <a:p>
            <a:pPr algn="l"/>
            <a:r>
              <a:rPr lang="zh-CN" sz="1200" b="1" dirty="0">
                <a:solidFill>
                  <a:srgbClr val="003A70"/>
                </a:solidFill>
                <a:latin typeface="Arial"/>
                <a:ea typeface="SimHei"/>
                <a:cs typeface="Arial"/>
              </a:rPr>
              <a:t>数据基础</a:t>
            </a:r>
          </a:p>
        </p:txBody>
      </p:sp>
      <p:sp>
        <p:nvSpPr>
          <p:cNvPr id="27" name="TextBox 27"/>
          <p:cNvSpPr txBox="1"/>
          <p:nvPr/>
        </p:nvSpPr>
        <p:spPr>
          <a:xfrm>
            <a:off x="699135" y="3356610"/>
            <a:ext cx="702564" cy="243840"/>
          </a:xfrm>
          <a:prstGeom prst="rect">
            <a:avLst/>
          </a:prstGeom>
          <a:noFill/>
          <a:ln>
            <a:noFill/>
          </a:ln>
        </p:spPr>
        <p:txBody>
          <a:bodyPr wrap="none" lIns="0" tIns="0" rIns="0" bIns="0" anchor="t" anchorCtr="0">
            <a:spAutoFit/>
          </a:bodyPr>
          <a:lstStyle/>
          <a:p>
            <a:pPr algn="l"/>
            <a:r>
              <a:rPr lang="zh-CN" sz="1200" b="1" dirty="0">
                <a:solidFill>
                  <a:srgbClr val="003A70"/>
                </a:solidFill>
                <a:latin typeface="Arial"/>
                <a:ea typeface="SimHei"/>
                <a:cs typeface="Arial"/>
              </a:rPr>
              <a:t>设施要求</a:t>
            </a:r>
          </a:p>
        </p:txBody>
      </p:sp>
      <p:sp>
        <p:nvSpPr>
          <p:cNvPr id="28" name="Freeform 28"/>
          <p:cNvSpPr/>
          <p:nvPr/>
        </p:nvSpPr>
        <p:spPr>
          <a:xfrm>
            <a:off x="714375" y="3600450"/>
            <a:ext cx="166688" cy="190500"/>
          </a:xfrm>
          <a:custGeom>
            <a:avLst/>
            <a:gdLst/>
            <a:ahLst/>
            <a:cxnLst/>
            <a:rect l="l" t="t" r="r" b="b"/>
            <a:pathLst>
              <a:path w="166688" h="190500">
                <a:moveTo>
                  <a:pt x="130969" y="71438"/>
                </a:moveTo>
                <a:cubicBezTo>
                  <a:pt x="150696" y="71438"/>
                  <a:pt x="166688" y="55446"/>
                  <a:pt x="166688" y="35719"/>
                </a:cubicBezTo>
                <a:cubicBezTo>
                  <a:pt x="166688" y="15992"/>
                  <a:pt x="150696" y="0"/>
                  <a:pt x="130969" y="0"/>
                </a:cubicBezTo>
                <a:cubicBezTo>
                  <a:pt x="111242" y="0"/>
                  <a:pt x="95250" y="15992"/>
                  <a:pt x="95250" y="35719"/>
                </a:cubicBezTo>
                <a:cubicBezTo>
                  <a:pt x="95250" y="38382"/>
                  <a:pt x="95542" y="40978"/>
                  <a:pt x="96094" y="43475"/>
                </a:cubicBezTo>
                <a:lnTo>
                  <a:pt x="57967" y="67304"/>
                </a:lnTo>
                <a:cubicBezTo>
                  <a:pt x="51864" y="62439"/>
                  <a:pt x="44131" y="59531"/>
                  <a:pt x="35719" y="59531"/>
                </a:cubicBezTo>
                <a:cubicBezTo>
                  <a:pt x="15992" y="59531"/>
                  <a:pt x="0" y="75523"/>
                  <a:pt x="0" y="95250"/>
                </a:cubicBezTo>
                <a:cubicBezTo>
                  <a:pt x="0" y="114977"/>
                  <a:pt x="15992" y="130969"/>
                  <a:pt x="35719" y="130969"/>
                </a:cubicBezTo>
                <a:cubicBezTo>
                  <a:pt x="44131" y="130969"/>
                  <a:pt x="51864" y="128061"/>
                  <a:pt x="57967" y="123195"/>
                </a:cubicBezTo>
                <a:lnTo>
                  <a:pt x="96094" y="147026"/>
                </a:lnTo>
                <a:cubicBezTo>
                  <a:pt x="95542" y="149522"/>
                  <a:pt x="95250" y="152118"/>
                  <a:pt x="95250" y="154781"/>
                </a:cubicBezTo>
                <a:cubicBezTo>
                  <a:pt x="95250" y="174509"/>
                  <a:pt x="111242" y="190500"/>
                  <a:pt x="130969" y="190500"/>
                </a:cubicBezTo>
                <a:cubicBezTo>
                  <a:pt x="150696" y="190500"/>
                  <a:pt x="166688" y="174509"/>
                  <a:pt x="166688" y="154781"/>
                </a:cubicBezTo>
                <a:cubicBezTo>
                  <a:pt x="166688" y="135054"/>
                  <a:pt x="150696" y="119062"/>
                  <a:pt x="130969" y="119062"/>
                </a:cubicBezTo>
                <a:cubicBezTo>
                  <a:pt x="122557" y="119062"/>
                  <a:pt x="114824" y="121970"/>
                  <a:pt x="108721" y="126836"/>
                </a:cubicBezTo>
                <a:lnTo>
                  <a:pt x="70593" y="103006"/>
                </a:lnTo>
                <a:cubicBezTo>
                  <a:pt x="71146" y="100509"/>
                  <a:pt x="71438" y="97914"/>
                  <a:pt x="71438" y="95250"/>
                </a:cubicBezTo>
                <a:cubicBezTo>
                  <a:pt x="71438" y="92586"/>
                  <a:pt x="71146" y="89991"/>
                  <a:pt x="70593" y="87494"/>
                </a:cubicBezTo>
                <a:lnTo>
                  <a:pt x="108721" y="63664"/>
                </a:lnTo>
                <a:cubicBezTo>
                  <a:pt x="114824" y="68530"/>
                  <a:pt x="122557" y="71438"/>
                  <a:pt x="130969" y="71438"/>
                </a:cubicBezTo>
                <a:close/>
              </a:path>
            </a:pathLst>
          </a:custGeom>
          <a:solidFill>
            <a:srgbClr val="003A70"/>
          </a:solidFill>
          <a:ln>
            <a:noFill/>
          </a:ln>
        </p:spPr>
      </p:sp>
      <p:sp>
        <p:nvSpPr>
          <p:cNvPr id="29" name="TextBox 29"/>
          <p:cNvSpPr txBox="1"/>
          <p:nvPr/>
        </p:nvSpPr>
        <p:spPr>
          <a:xfrm>
            <a:off x="2805112" y="3193256"/>
            <a:ext cx="1743075" cy="64770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国家数据基础设施建设指引</a:t>
            </a:r>
            <a:r>
              <a:rPr lang="zh-CN" sz="1125" dirty="0">
                <a:solidFill>
                  <a:srgbClr val="1A1A2E"/>
                </a:solidFill>
                <a:latin typeface="Arial"/>
                <a:ea typeface="Microsoft YaHei"/>
                <a:cs typeface="Arial"/>
              </a:rPr>
              <a:t>电力领域先行先试任务书</a:t>
            </a:r>
            <a:r>
              <a:rPr lang="zh-CN" sz="1125" dirty="0">
                <a:solidFill>
                  <a:srgbClr val="1A1A2E"/>
                </a:solidFill>
                <a:latin typeface="Arial"/>
                <a:ea typeface="Microsoft YaHei"/>
                <a:cs typeface="Arial"/>
              </a:rPr>
              <a:t>（2025年10月）</a:t>
            </a:r>
          </a:p>
        </p:txBody>
      </p:sp>
      <p:sp>
        <p:nvSpPr>
          <p:cNvPr id="30" name="TextBox 30"/>
          <p:cNvSpPr txBox="1"/>
          <p:nvPr/>
        </p:nvSpPr>
        <p:spPr>
          <a:xfrm>
            <a:off x="6234112" y="3193256"/>
            <a:ext cx="160020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以安全生产为切入点推进</a:t>
            </a:r>
            <a:r>
              <a:rPr lang="zh-CN" sz="1125" dirty="0">
                <a:solidFill>
                  <a:srgbClr val="1A1A2E"/>
                </a:solidFill>
                <a:latin typeface="Arial"/>
                <a:ea typeface="Microsoft YaHei"/>
                <a:cs typeface="Arial"/>
              </a:rPr>
              <a:t>电力数据基础设施</a:t>
            </a:r>
          </a:p>
        </p:txBody>
      </p:sp>
      <p:sp>
        <p:nvSpPr>
          <p:cNvPr id="31" name="TextBox 31"/>
          <p:cNvSpPr txBox="1"/>
          <p:nvPr/>
        </p:nvSpPr>
        <p:spPr>
          <a:xfrm>
            <a:off x="9282112" y="3193256"/>
            <a:ext cx="131445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本场景作为先行先试</a:t>
            </a:r>
            <a:r>
              <a:rPr lang="zh-CN" sz="1125" dirty="0">
                <a:solidFill>
                  <a:srgbClr val="1A1A2E"/>
                </a:solidFill>
                <a:latin typeface="Arial"/>
                <a:ea typeface="Microsoft YaHei"/>
                <a:cs typeface="Arial"/>
              </a:rPr>
              <a:t>安全方向具体落地</a:t>
            </a:r>
          </a:p>
        </p:txBody>
      </p:sp>
      <p:sp>
        <p:nvSpPr>
          <p:cNvPr id="32" name="Line 32"/>
          <p:cNvSpPr/>
          <p:nvPr/>
        </p:nvSpPr>
        <p:spPr>
          <a:xfrm>
            <a:off x="552450" y="41148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33" name="Rectangle 33"/>
          <p:cNvSpPr/>
          <p:nvPr/>
        </p:nvSpPr>
        <p:spPr>
          <a:xfrm>
            <a:off x="552450" y="4114800"/>
            <a:ext cx="11087100" cy="1066800"/>
          </a:xfrm>
          <a:prstGeom prst="rect">
            <a:avLst/>
          </a:prstGeom>
          <a:solidFill>
            <a:srgbClr val="F0F4F8"/>
          </a:solidFill>
          <a:ln>
            <a:noFill/>
          </a:ln>
        </p:spPr>
      </p:sp>
      <p:sp>
        <p:nvSpPr>
          <p:cNvPr id="34" name="Rectangle 34"/>
          <p:cNvSpPr/>
          <p:nvPr/>
        </p:nvSpPr>
        <p:spPr>
          <a:xfrm>
            <a:off x="552450" y="4114800"/>
            <a:ext cx="47625" cy="1066800"/>
          </a:xfrm>
          <a:prstGeom prst="rect">
            <a:avLst/>
          </a:prstGeom>
          <a:solidFill>
            <a:srgbClr val="4A90D9"/>
          </a:solidFill>
          <a:ln>
            <a:noFill/>
          </a:ln>
        </p:spPr>
      </p:sp>
      <p:sp>
        <p:nvSpPr>
          <p:cNvPr id="35" name="TextBox 35"/>
          <p:cNvSpPr txBox="1"/>
          <p:nvPr/>
        </p:nvSpPr>
        <p:spPr>
          <a:xfrm>
            <a:off x="699135" y="4213860"/>
            <a:ext cx="702564" cy="243840"/>
          </a:xfrm>
          <a:prstGeom prst="rect">
            <a:avLst/>
          </a:prstGeom>
          <a:noFill/>
          <a:ln>
            <a:noFill/>
          </a:ln>
        </p:spPr>
        <p:txBody>
          <a:bodyPr wrap="none" lIns="0" tIns="0" rIns="0" bIns="0" anchor="t" anchorCtr="0">
            <a:spAutoFit/>
          </a:bodyPr>
          <a:lstStyle/>
          <a:p>
            <a:pPr algn="l"/>
            <a:r>
              <a:rPr lang="zh-CN" sz="1200" b="1" dirty="0">
                <a:solidFill>
                  <a:srgbClr val="4A90D9"/>
                </a:solidFill>
                <a:latin typeface="Arial"/>
                <a:ea typeface="SimHei"/>
                <a:cs typeface="Arial"/>
              </a:rPr>
              <a:t>个人信息</a:t>
            </a:r>
          </a:p>
        </p:txBody>
      </p:sp>
      <p:sp>
        <p:nvSpPr>
          <p:cNvPr id="36" name="TextBox 36"/>
          <p:cNvSpPr txBox="1"/>
          <p:nvPr/>
        </p:nvSpPr>
        <p:spPr>
          <a:xfrm>
            <a:off x="699135" y="4423410"/>
            <a:ext cx="702564" cy="243840"/>
          </a:xfrm>
          <a:prstGeom prst="rect">
            <a:avLst/>
          </a:prstGeom>
          <a:noFill/>
          <a:ln>
            <a:noFill/>
          </a:ln>
        </p:spPr>
        <p:txBody>
          <a:bodyPr wrap="none" lIns="0" tIns="0" rIns="0" bIns="0" anchor="t" anchorCtr="0">
            <a:spAutoFit/>
          </a:bodyPr>
          <a:lstStyle/>
          <a:p>
            <a:pPr algn="l"/>
            <a:r>
              <a:rPr lang="zh-CN" sz="1200" b="1" dirty="0">
                <a:solidFill>
                  <a:srgbClr val="4A90D9"/>
                </a:solidFill>
                <a:latin typeface="Arial"/>
                <a:ea typeface="SimHei"/>
                <a:cs typeface="Arial"/>
              </a:rPr>
              <a:t>保护要求</a:t>
            </a:r>
          </a:p>
        </p:txBody>
      </p:sp>
      <p:sp>
        <p:nvSpPr>
          <p:cNvPr id="37" name="Freeform 37"/>
          <p:cNvSpPr/>
          <p:nvPr/>
        </p:nvSpPr>
        <p:spPr>
          <a:xfrm>
            <a:off x="738188" y="4667250"/>
            <a:ext cx="142875" cy="190500"/>
          </a:xfrm>
          <a:custGeom>
            <a:avLst/>
            <a:gdLst/>
            <a:ahLst/>
            <a:cxnLst/>
            <a:rect l="l" t="t" r="r" b="b"/>
            <a:pathLst>
              <a:path w="142875" h="190500">
                <a:moveTo>
                  <a:pt x="23812" y="71438"/>
                </a:moveTo>
                <a:lnTo>
                  <a:pt x="23812" y="47625"/>
                </a:lnTo>
                <a:cubicBezTo>
                  <a:pt x="23812" y="21322"/>
                  <a:pt x="45135" y="0"/>
                  <a:pt x="71438" y="0"/>
                </a:cubicBezTo>
                <a:cubicBezTo>
                  <a:pt x="97740" y="0"/>
                  <a:pt x="119062" y="21322"/>
                  <a:pt x="119062" y="47625"/>
                </a:cubicBezTo>
                <a:lnTo>
                  <a:pt x="119062" y="71438"/>
                </a:lnTo>
                <a:lnTo>
                  <a:pt x="142875" y="71438"/>
                </a:lnTo>
                <a:lnTo>
                  <a:pt x="142875" y="190500"/>
                </a:lnTo>
                <a:lnTo>
                  <a:pt x="0" y="190500"/>
                </a:lnTo>
                <a:lnTo>
                  <a:pt x="0" y="71438"/>
                </a:lnTo>
                <a:lnTo>
                  <a:pt x="23812" y="71438"/>
                </a:lnTo>
                <a:close/>
                <a:moveTo>
                  <a:pt x="47625" y="47625"/>
                </a:moveTo>
                <a:cubicBezTo>
                  <a:pt x="47625" y="34474"/>
                  <a:pt x="58286" y="23812"/>
                  <a:pt x="71438" y="23812"/>
                </a:cubicBezTo>
                <a:cubicBezTo>
                  <a:pt x="84589" y="23812"/>
                  <a:pt x="95250" y="34474"/>
                  <a:pt x="95250" y="47625"/>
                </a:cubicBezTo>
                <a:lnTo>
                  <a:pt x="95250" y="71438"/>
                </a:lnTo>
                <a:lnTo>
                  <a:pt x="47625" y="71438"/>
                </a:lnTo>
                <a:lnTo>
                  <a:pt x="47625" y="47625"/>
                </a:lnTo>
                <a:close/>
                <a:moveTo>
                  <a:pt x="59531" y="154781"/>
                </a:moveTo>
                <a:lnTo>
                  <a:pt x="59531" y="107156"/>
                </a:lnTo>
                <a:lnTo>
                  <a:pt x="83344" y="107156"/>
                </a:lnTo>
                <a:lnTo>
                  <a:pt x="83344" y="154781"/>
                </a:lnTo>
                <a:lnTo>
                  <a:pt x="59531" y="154781"/>
                </a:lnTo>
                <a:close/>
              </a:path>
            </a:pathLst>
          </a:custGeom>
          <a:solidFill>
            <a:srgbClr val="4A90D9"/>
          </a:solidFill>
          <a:ln>
            <a:noFill/>
          </a:ln>
        </p:spPr>
      </p:sp>
      <p:sp>
        <p:nvSpPr>
          <p:cNvPr id="38" name="TextBox 38"/>
          <p:cNvSpPr txBox="1"/>
          <p:nvPr/>
        </p:nvSpPr>
        <p:spPr>
          <a:xfrm>
            <a:off x="2805112" y="4260056"/>
            <a:ext cx="102870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个人信息保护法</a:t>
            </a:r>
            <a:r>
              <a:rPr lang="zh-CN" sz="1125" dirty="0">
                <a:solidFill>
                  <a:srgbClr val="1A1A2E"/>
                </a:solidFill>
                <a:latin typeface="Arial"/>
                <a:ea typeface="Microsoft YaHei"/>
                <a:cs typeface="Arial"/>
              </a:rPr>
              <a:t>数据安全法</a:t>
            </a:r>
          </a:p>
        </p:txBody>
      </p:sp>
      <p:sp>
        <p:nvSpPr>
          <p:cNvPr id="39" name="TextBox 39"/>
          <p:cNvSpPr txBox="1"/>
          <p:nvPr/>
        </p:nvSpPr>
        <p:spPr>
          <a:xfrm>
            <a:off x="6234112" y="4260056"/>
            <a:ext cx="1457325"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合法、正当、必要原则</a:t>
            </a:r>
            <a:r>
              <a:rPr lang="zh-CN" sz="1125" dirty="0">
                <a:solidFill>
                  <a:srgbClr val="1A1A2E"/>
                </a:solidFill>
                <a:latin typeface="Arial"/>
                <a:ea typeface="Microsoft YaHei"/>
                <a:cs typeface="Arial"/>
              </a:rPr>
              <a:t>敏感个人信息严格保护</a:t>
            </a:r>
          </a:p>
        </p:txBody>
      </p:sp>
      <p:sp>
        <p:nvSpPr>
          <p:cNvPr id="40" name="TextBox 40"/>
          <p:cNvSpPr txBox="1"/>
          <p:nvPr/>
        </p:nvSpPr>
        <p:spPr>
          <a:xfrm>
            <a:off x="9282112" y="4260056"/>
            <a:ext cx="1171575"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个人授权前置</a:t>
            </a:r>
            <a:r>
              <a:rPr lang="zh-CN" sz="1125" dirty="0">
                <a:solidFill>
                  <a:srgbClr val="1A1A2E"/>
                </a:solidFill>
                <a:latin typeface="Arial"/>
                <a:ea typeface="Microsoft YaHei"/>
                <a:cs typeface="Arial"/>
              </a:rPr>
              <a:t>最小必要字段原则</a:t>
            </a:r>
          </a:p>
        </p:txBody>
      </p:sp>
      <p:sp>
        <p:nvSpPr>
          <p:cNvPr id="41" name="Line 41"/>
          <p:cNvSpPr/>
          <p:nvPr/>
        </p:nvSpPr>
        <p:spPr>
          <a:xfrm>
            <a:off x="552450" y="51816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42" name="Rectangle 42"/>
          <p:cNvSpPr/>
          <p:nvPr/>
        </p:nvSpPr>
        <p:spPr>
          <a:xfrm>
            <a:off x="552450" y="5181600"/>
            <a:ext cx="11087100" cy="1066800"/>
          </a:xfrm>
          <a:prstGeom prst="rect">
            <a:avLst/>
          </a:prstGeom>
          <a:solidFill>
            <a:srgbClr val="FFFFFF"/>
          </a:solidFill>
          <a:ln>
            <a:noFill/>
          </a:ln>
        </p:spPr>
      </p:sp>
      <p:sp>
        <p:nvSpPr>
          <p:cNvPr id="43" name="Rectangle 43"/>
          <p:cNvSpPr/>
          <p:nvPr/>
        </p:nvSpPr>
        <p:spPr>
          <a:xfrm>
            <a:off x="552450" y="5181600"/>
            <a:ext cx="47625" cy="1066800"/>
          </a:xfrm>
          <a:prstGeom prst="rect">
            <a:avLst/>
          </a:prstGeom>
          <a:solidFill>
            <a:srgbClr val="2D7D46"/>
          </a:solidFill>
          <a:ln>
            <a:noFill/>
          </a:ln>
        </p:spPr>
      </p:sp>
      <p:sp>
        <p:nvSpPr>
          <p:cNvPr id="44" name="TextBox 44"/>
          <p:cNvSpPr txBox="1"/>
          <p:nvPr/>
        </p:nvSpPr>
        <p:spPr>
          <a:xfrm>
            <a:off x="699135" y="5280660"/>
            <a:ext cx="702564" cy="243840"/>
          </a:xfrm>
          <a:prstGeom prst="rect">
            <a:avLst/>
          </a:prstGeom>
          <a:noFill/>
          <a:ln>
            <a:noFill/>
          </a:ln>
        </p:spPr>
        <p:txBody>
          <a:bodyPr wrap="none" lIns="0" tIns="0" rIns="0" bIns="0" anchor="t" anchorCtr="0">
            <a:spAutoFit/>
          </a:bodyPr>
          <a:lstStyle/>
          <a:p>
            <a:pPr algn="l"/>
            <a:r>
              <a:rPr lang="zh-CN" sz="1200" b="1" dirty="0">
                <a:solidFill>
                  <a:srgbClr val="2D7D46"/>
                </a:solidFill>
                <a:latin typeface="Arial"/>
                <a:ea typeface="SimHei"/>
                <a:cs typeface="Arial"/>
              </a:rPr>
              <a:t>企业安全</a:t>
            </a:r>
          </a:p>
        </p:txBody>
      </p:sp>
      <p:sp>
        <p:nvSpPr>
          <p:cNvPr id="45" name="TextBox 45"/>
          <p:cNvSpPr txBox="1"/>
          <p:nvPr/>
        </p:nvSpPr>
        <p:spPr>
          <a:xfrm>
            <a:off x="699135" y="5490210"/>
            <a:ext cx="702564" cy="243840"/>
          </a:xfrm>
          <a:prstGeom prst="rect">
            <a:avLst/>
          </a:prstGeom>
          <a:noFill/>
          <a:ln>
            <a:noFill/>
          </a:ln>
        </p:spPr>
        <p:txBody>
          <a:bodyPr wrap="none" lIns="0" tIns="0" rIns="0" bIns="0" anchor="t" anchorCtr="0">
            <a:spAutoFit/>
          </a:bodyPr>
          <a:lstStyle/>
          <a:p>
            <a:pPr algn="l"/>
            <a:r>
              <a:rPr lang="zh-CN" sz="1200" b="1" dirty="0">
                <a:solidFill>
                  <a:srgbClr val="2D7D46"/>
                </a:solidFill>
                <a:latin typeface="Arial"/>
                <a:ea typeface="SimHei"/>
                <a:cs typeface="Arial"/>
              </a:rPr>
              <a:t>管理要求</a:t>
            </a:r>
          </a:p>
        </p:txBody>
      </p:sp>
      <p:sp>
        <p:nvSpPr>
          <p:cNvPr id="46" name="Freeform 46"/>
          <p:cNvSpPr/>
          <p:nvPr/>
        </p:nvSpPr>
        <p:spPr>
          <a:xfrm>
            <a:off x="738188" y="5734050"/>
            <a:ext cx="142875" cy="190500"/>
          </a:xfrm>
          <a:custGeom>
            <a:avLst/>
            <a:gdLst/>
            <a:ahLst/>
            <a:cxnLst/>
            <a:rect l="l" t="t" r="r" b="b"/>
            <a:pathLst>
              <a:path w="142875" h="190500">
                <a:moveTo>
                  <a:pt x="142875" y="0"/>
                </a:moveTo>
                <a:lnTo>
                  <a:pt x="0" y="0"/>
                </a:lnTo>
                <a:lnTo>
                  <a:pt x="0" y="190500"/>
                </a:lnTo>
                <a:lnTo>
                  <a:pt x="47625" y="190500"/>
                </a:lnTo>
                <a:lnTo>
                  <a:pt x="47625" y="142875"/>
                </a:lnTo>
                <a:lnTo>
                  <a:pt x="95250" y="142875"/>
                </a:lnTo>
                <a:lnTo>
                  <a:pt x="95250" y="190500"/>
                </a:lnTo>
                <a:lnTo>
                  <a:pt x="142875" y="190500"/>
                </a:lnTo>
                <a:lnTo>
                  <a:pt x="142875" y="0"/>
                </a:lnTo>
                <a:close/>
                <a:moveTo>
                  <a:pt x="35719" y="35719"/>
                </a:moveTo>
                <a:lnTo>
                  <a:pt x="59531" y="35719"/>
                </a:lnTo>
                <a:lnTo>
                  <a:pt x="59531" y="59531"/>
                </a:lnTo>
                <a:lnTo>
                  <a:pt x="35719" y="59531"/>
                </a:lnTo>
                <a:lnTo>
                  <a:pt x="35719" y="35719"/>
                </a:lnTo>
                <a:close/>
                <a:moveTo>
                  <a:pt x="59531" y="83344"/>
                </a:moveTo>
                <a:lnTo>
                  <a:pt x="35719" y="83344"/>
                </a:lnTo>
                <a:lnTo>
                  <a:pt x="35719" y="107156"/>
                </a:lnTo>
                <a:lnTo>
                  <a:pt x="59531" y="107156"/>
                </a:lnTo>
                <a:lnTo>
                  <a:pt x="59531" y="83344"/>
                </a:lnTo>
                <a:close/>
                <a:moveTo>
                  <a:pt x="83344" y="35719"/>
                </a:moveTo>
                <a:lnTo>
                  <a:pt x="107156" y="35719"/>
                </a:lnTo>
                <a:lnTo>
                  <a:pt x="107156" y="59531"/>
                </a:lnTo>
                <a:lnTo>
                  <a:pt x="83344" y="59531"/>
                </a:lnTo>
                <a:lnTo>
                  <a:pt x="83344" y="35719"/>
                </a:lnTo>
                <a:close/>
                <a:moveTo>
                  <a:pt x="107156" y="83344"/>
                </a:moveTo>
                <a:lnTo>
                  <a:pt x="83344" y="83344"/>
                </a:lnTo>
                <a:lnTo>
                  <a:pt x="83344" y="107156"/>
                </a:lnTo>
                <a:lnTo>
                  <a:pt x="107156" y="107156"/>
                </a:lnTo>
                <a:lnTo>
                  <a:pt x="107156" y="83344"/>
                </a:lnTo>
                <a:close/>
              </a:path>
            </a:pathLst>
          </a:custGeom>
          <a:solidFill>
            <a:srgbClr val="2D7D46"/>
          </a:solidFill>
          <a:ln>
            <a:noFill/>
          </a:ln>
        </p:spPr>
      </p:sp>
      <p:sp>
        <p:nvSpPr>
          <p:cNvPr id="47" name="TextBox 47"/>
          <p:cNvSpPr txBox="1"/>
          <p:nvPr/>
        </p:nvSpPr>
        <p:spPr>
          <a:xfrm>
            <a:off x="2805112" y="5326856"/>
            <a:ext cx="1457325"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电力行业安全生产监管</a:t>
            </a:r>
            <a:r>
              <a:rPr lang="zh-CN" sz="1125" dirty="0">
                <a:solidFill>
                  <a:srgbClr val="1A1A2E"/>
                </a:solidFill>
                <a:latin typeface="Arial"/>
                <a:ea typeface="Microsoft YaHei"/>
                <a:cs typeface="Arial"/>
              </a:rPr>
              <a:t>承包商准入管理要求</a:t>
            </a:r>
          </a:p>
        </p:txBody>
      </p:sp>
      <p:sp>
        <p:nvSpPr>
          <p:cNvPr id="48" name="TextBox 48"/>
          <p:cNvSpPr txBox="1"/>
          <p:nvPr/>
        </p:nvSpPr>
        <p:spPr>
          <a:xfrm>
            <a:off x="6234112" y="5326856"/>
            <a:ext cx="131445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外委准入、复训提醒</a:t>
            </a:r>
            <a:r>
              <a:rPr lang="zh-CN" sz="1125" dirty="0">
                <a:solidFill>
                  <a:srgbClr val="1A1A2E"/>
                </a:solidFill>
                <a:latin typeface="Arial"/>
                <a:ea typeface="Microsoft YaHei"/>
                <a:cs typeface="Arial"/>
              </a:rPr>
              <a:t>承包商安全评价</a:t>
            </a:r>
          </a:p>
        </p:txBody>
      </p:sp>
      <p:sp>
        <p:nvSpPr>
          <p:cNvPr id="49" name="TextBox 49"/>
          <p:cNvSpPr txBox="1"/>
          <p:nvPr/>
        </p:nvSpPr>
        <p:spPr>
          <a:xfrm>
            <a:off x="9282112" y="5326856"/>
            <a:ext cx="1314450" cy="438150"/>
          </a:xfrm>
          <a:prstGeom prst="rect">
            <a:avLst/>
          </a:prstGeom>
          <a:noFill/>
          <a:ln>
            <a:noFill/>
          </a:ln>
        </p:spPr>
        <p:txBody>
          <a:bodyPr wrap="square" lIns="0" tIns="0" rIns="0" bIns="0" anchor="t" anchorCtr="0"/>
          <a:lstStyle/>
          <a:p>
            <a:pPr algn="l">
              <a:lnSpc>
                <a:spcPts val="1650"/>
              </a:lnSpc>
            </a:pPr>
            <a:r>
              <a:rPr lang="zh-CN" sz="1125" dirty="0">
                <a:solidFill>
                  <a:srgbClr val="1A1A2E"/>
                </a:solidFill>
                <a:latin typeface="Arial"/>
                <a:ea typeface="Microsoft YaHei"/>
                <a:cs typeface="Arial"/>
              </a:rPr>
              <a:t>嵌入真实准入审批</a:t>
            </a:r>
            <a:r>
              <a:rPr lang="zh-CN" sz="1125" dirty="0">
                <a:solidFill>
                  <a:srgbClr val="1A1A2E"/>
                </a:solidFill>
                <a:latin typeface="Arial"/>
                <a:ea typeface="Microsoft YaHei"/>
                <a:cs typeface="Arial"/>
              </a:rPr>
              <a:t>形成可量化管理价值</a:t>
            </a:r>
          </a:p>
        </p:txBody>
      </p:sp>
      <p:sp>
        <p:nvSpPr>
          <p:cNvPr id="50" name="Line 50"/>
          <p:cNvSpPr/>
          <p:nvPr/>
        </p:nvSpPr>
        <p:spPr>
          <a:xfrm>
            <a:off x="552450" y="62484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51" name="TextBox 51"/>
          <p:cNvSpPr txBox="1"/>
          <p:nvPr/>
        </p:nvSpPr>
        <p:spPr>
          <a:xfrm>
            <a:off x="541020" y="6341745"/>
            <a:ext cx="5471541"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来源：应急管理部令第19号（2026）· 国家数据基础设施建设指引（2024）· 个人信息保护法（2021）</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第一章 · 建设背景与依据</a:t>
            </a:r>
          </a:p>
        </p:txBody>
      </p:sp>
      <p:sp>
        <p:nvSpPr>
          <p:cNvPr id="4" name="TextBox 4"/>
          <p:cNvSpPr txBox="1"/>
          <p:nvPr/>
        </p:nvSpPr>
        <p:spPr>
          <a:xfrm>
            <a:off x="525780" y="1183005"/>
            <a:ext cx="4463891"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市场供给现状与中电联差异化空间</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00200"/>
            <a:ext cx="11087100" cy="266700"/>
          </a:xfrm>
          <a:prstGeom prst="rect">
            <a:avLst/>
          </a:prstGeom>
          <a:solidFill>
            <a:srgbClr val="003A70">
              <a:alpha val="6000"/>
            </a:srgbClr>
          </a:solidFill>
          <a:ln>
            <a:noFill/>
          </a:ln>
        </p:spPr>
      </p:sp>
      <p:sp>
        <p:nvSpPr>
          <p:cNvPr id="7" name="TextBox 7"/>
          <p:cNvSpPr txBox="1"/>
          <p:nvPr/>
        </p:nvSpPr>
        <p:spPr>
          <a:xfrm>
            <a:off x="710565" y="1667828"/>
            <a:ext cx="6187440" cy="213360"/>
          </a:xfrm>
          <a:prstGeom prst="rect">
            <a:avLst/>
          </a:prstGeom>
          <a:noFill/>
          <a:ln>
            <a:noFill/>
          </a:ln>
        </p:spPr>
        <p:txBody>
          <a:bodyPr wrap="none" lIns="0" tIns="0" rIns="0" bIns="0" anchor="t" anchorCtr="0">
            <a:spAutoFit/>
          </a:bodyPr>
          <a:lstStyle/>
          <a:p>
            <a:pPr algn="l"/>
            <a:r>
              <a:rPr lang="zh-CN" sz="1050" dirty="0">
                <a:solidFill>
                  <a:srgbClr val="003A70"/>
                </a:solidFill>
                <a:latin typeface="Arial"/>
                <a:ea typeface="Microsoft YaHei"/>
                <a:cs typeface="Arial"/>
              </a:rPr>
              <a:t>核心结论：市场通用产品齐全但均服务单一主体，行业级可信核验与跨企业复用是真正的空白地带。</a:t>
            </a:r>
          </a:p>
        </p:txBody>
      </p:sp>
      <p:sp>
        <p:nvSpPr>
          <p:cNvPr id="8" name="Rectangle 8"/>
          <p:cNvSpPr/>
          <p:nvPr/>
        </p:nvSpPr>
        <p:spPr>
          <a:xfrm>
            <a:off x="552450" y="1866900"/>
            <a:ext cx="11087100" cy="323850"/>
          </a:xfrm>
          <a:prstGeom prst="rect">
            <a:avLst/>
          </a:prstGeom>
          <a:solidFill>
            <a:srgbClr val="003A70"/>
          </a:solidFill>
          <a:ln>
            <a:noFill/>
          </a:ln>
        </p:spPr>
      </p:sp>
      <p:sp>
        <p:nvSpPr>
          <p:cNvPr id="9" name="TextBox 9"/>
          <p:cNvSpPr txBox="1"/>
          <p:nvPr/>
        </p:nvSpPr>
        <p:spPr>
          <a:xfrm>
            <a:off x="94011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供给类型</a:t>
            </a:r>
          </a:p>
        </p:txBody>
      </p:sp>
      <p:sp>
        <p:nvSpPr>
          <p:cNvPr id="10" name="TextBox 10"/>
          <p:cNvSpPr txBox="1"/>
          <p:nvPr/>
        </p:nvSpPr>
        <p:spPr>
          <a:xfrm>
            <a:off x="301656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代表能力</a:t>
            </a:r>
          </a:p>
        </p:txBody>
      </p:sp>
      <p:sp>
        <p:nvSpPr>
          <p:cNvPr id="11" name="TextBox 11"/>
          <p:cNvSpPr txBox="1"/>
          <p:nvPr/>
        </p:nvSpPr>
        <p:spPr>
          <a:xfrm>
            <a:off x="558831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主要短板</a:t>
            </a:r>
          </a:p>
        </p:txBody>
      </p:sp>
      <p:sp>
        <p:nvSpPr>
          <p:cNvPr id="12" name="TextBox 12"/>
          <p:cNvSpPr txBox="1"/>
          <p:nvPr/>
        </p:nvSpPr>
        <p:spPr>
          <a:xfrm>
            <a:off x="8160068" y="1971199"/>
            <a:ext cx="11169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中电联差异化空间</a:t>
            </a:r>
          </a:p>
        </p:txBody>
      </p:sp>
      <p:sp>
        <p:nvSpPr>
          <p:cNvPr id="13" name="Line 13"/>
          <p:cNvSpPr/>
          <p:nvPr/>
        </p:nvSpPr>
        <p:spPr>
          <a:xfrm>
            <a:off x="2571750" y="1866900"/>
            <a:ext cx="9525" cy="4610100"/>
          </a:xfrm>
          <a:custGeom>
            <a:avLst/>
            <a:gdLst/>
            <a:ahLst/>
            <a:cxnLst/>
            <a:rect l="l" t="t" r="r" b="b"/>
            <a:pathLst>
              <a:path w="9525" h="4610100">
                <a:moveTo>
                  <a:pt x="0" y="0"/>
                </a:moveTo>
                <a:lnTo>
                  <a:pt x="0" y="4610100"/>
                </a:lnTo>
              </a:path>
            </a:pathLst>
          </a:custGeom>
          <a:noFill/>
          <a:ln w="7620">
            <a:solidFill>
              <a:srgbClr val="FFFFFF">
                <a:alpha val="40000"/>
              </a:srgbClr>
            </a:solidFill>
          </a:ln>
        </p:spPr>
      </p:sp>
      <p:sp>
        <p:nvSpPr>
          <p:cNvPr id="14" name="Line 14"/>
          <p:cNvSpPr/>
          <p:nvPr/>
        </p:nvSpPr>
        <p:spPr>
          <a:xfrm>
            <a:off x="5238750" y="1866900"/>
            <a:ext cx="9525" cy="4610100"/>
          </a:xfrm>
          <a:custGeom>
            <a:avLst/>
            <a:gdLst/>
            <a:ahLst/>
            <a:cxnLst/>
            <a:rect l="l" t="t" r="r" b="b"/>
            <a:pathLst>
              <a:path w="9525" h="4610100">
                <a:moveTo>
                  <a:pt x="0" y="0"/>
                </a:moveTo>
                <a:lnTo>
                  <a:pt x="0" y="4610100"/>
                </a:lnTo>
              </a:path>
            </a:pathLst>
          </a:custGeom>
          <a:noFill/>
          <a:ln w="7620">
            <a:solidFill>
              <a:srgbClr val="FFFFFF">
                <a:alpha val="40000"/>
              </a:srgbClr>
            </a:solidFill>
          </a:ln>
        </p:spPr>
      </p:sp>
      <p:sp>
        <p:nvSpPr>
          <p:cNvPr id="15" name="Line 15"/>
          <p:cNvSpPr/>
          <p:nvPr/>
        </p:nvSpPr>
        <p:spPr>
          <a:xfrm>
            <a:off x="7905750" y="1866900"/>
            <a:ext cx="9525" cy="4610100"/>
          </a:xfrm>
          <a:custGeom>
            <a:avLst/>
            <a:gdLst/>
            <a:ahLst/>
            <a:cxnLst/>
            <a:rect l="l" t="t" r="r" b="b"/>
            <a:pathLst>
              <a:path w="9525" h="4610100">
                <a:moveTo>
                  <a:pt x="0" y="0"/>
                </a:moveTo>
                <a:lnTo>
                  <a:pt x="0" y="4610100"/>
                </a:lnTo>
              </a:path>
            </a:pathLst>
          </a:custGeom>
          <a:noFill/>
          <a:ln w="7620">
            <a:solidFill>
              <a:srgbClr val="FFFFFF">
                <a:alpha val="40000"/>
              </a:srgbClr>
            </a:solidFill>
          </a:ln>
        </p:spPr>
      </p:sp>
      <p:sp>
        <p:nvSpPr>
          <p:cNvPr id="16" name="Rectangle 16"/>
          <p:cNvSpPr/>
          <p:nvPr/>
        </p:nvSpPr>
        <p:spPr>
          <a:xfrm>
            <a:off x="552450" y="2190750"/>
            <a:ext cx="11087100" cy="685800"/>
          </a:xfrm>
          <a:prstGeom prst="rect">
            <a:avLst/>
          </a:prstGeom>
          <a:solidFill>
            <a:srgbClr val="F0F4F8"/>
          </a:solidFill>
          <a:ln>
            <a:noFill/>
          </a:ln>
        </p:spPr>
      </p:sp>
      <p:sp>
        <p:nvSpPr>
          <p:cNvPr id="17" name="TextBox 17"/>
          <p:cNvSpPr txBox="1"/>
          <p:nvPr/>
        </p:nvSpPr>
        <p:spPr>
          <a:xfrm>
            <a:off x="709612" y="2326481"/>
            <a:ext cx="1288732"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通用在线考试平台</a:t>
            </a:r>
          </a:p>
        </p:txBody>
      </p:sp>
      <p:sp>
        <p:nvSpPr>
          <p:cNvPr id="18" name="TextBox 18"/>
          <p:cNvSpPr txBox="1"/>
          <p:nvPr/>
        </p:nvSpPr>
        <p:spPr>
          <a:xfrm>
            <a:off x="711518" y="2552224"/>
            <a:ext cx="136393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问卷星 / 云考 / 学浪等</a:t>
            </a:r>
          </a:p>
        </p:txBody>
      </p:sp>
      <p:sp>
        <p:nvSpPr>
          <p:cNvPr id="19" name="TextBox 19"/>
          <p:cNvSpPr txBox="1"/>
          <p:nvPr/>
        </p:nvSpPr>
        <p:spPr>
          <a:xfrm>
            <a:off x="2710815" y="2334578"/>
            <a:ext cx="1226820"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题库灵活，批量考试</a:t>
            </a:r>
            <a:r>
              <a:rPr lang="zh-CN" sz="1050" dirty="0">
                <a:solidFill>
                  <a:srgbClr val="1A1A2E"/>
                </a:solidFill>
                <a:latin typeface="Arial"/>
                <a:ea typeface="Microsoft YaHei"/>
                <a:cs typeface="Arial"/>
              </a:rPr>
              <a:t>成绩记录</a:t>
            </a:r>
          </a:p>
        </p:txBody>
      </p:sp>
      <p:sp>
        <p:nvSpPr>
          <p:cNvPr id="20" name="TextBox 20"/>
          <p:cNvSpPr txBox="1"/>
          <p:nvPr/>
        </p:nvSpPr>
        <p:spPr>
          <a:xfrm>
            <a:off x="5377815" y="2334578"/>
            <a:ext cx="1093470" cy="422910"/>
          </a:xfrm>
          <a:prstGeom prst="rect">
            <a:avLst/>
          </a:prstGeom>
          <a:noFill/>
          <a:ln>
            <a:noFill/>
          </a:ln>
        </p:spPr>
        <p:txBody>
          <a:bodyPr wrap="square" lIns="0" tIns="0" rIns="0" bIns="0" anchor="t" anchorCtr="0"/>
          <a:lstStyle/>
          <a:p>
            <a:pPr algn="l">
              <a:lnSpc>
                <a:spcPts val="1650"/>
              </a:lnSpc>
            </a:pPr>
            <a:r>
              <a:rPr lang="zh-CN" sz="1050" dirty="0">
                <a:solidFill>
                  <a:srgbClr val="C53030"/>
                </a:solidFill>
                <a:latin typeface="Arial"/>
                <a:ea typeface="Microsoft YaHei"/>
                <a:cs typeface="Arial"/>
              </a:rPr>
              <a:t>行业安规内容弱</a:t>
            </a:r>
            <a:r>
              <a:rPr lang="zh-CN" sz="1050" dirty="0">
                <a:solidFill>
                  <a:srgbClr val="C53030"/>
                </a:solidFill>
                <a:latin typeface="Arial"/>
                <a:ea typeface="Microsoft YaHei"/>
                <a:cs typeface="Arial"/>
              </a:rPr>
              <a:t>无跨企业结果复用</a:t>
            </a:r>
          </a:p>
        </p:txBody>
      </p:sp>
      <p:sp>
        <p:nvSpPr>
          <p:cNvPr id="21" name="TextBox 21"/>
          <p:cNvSpPr txBox="1"/>
          <p:nvPr/>
        </p:nvSpPr>
        <p:spPr>
          <a:xfrm>
            <a:off x="8044815" y="2334578"/>
            <a:ext cx="1073468" cy="422910"/>
          </a:xfrm>
          <a:prstGeom prst="rect">
            <a:avLst/>
          </a:prstGeom>
          <a:noFill/>
          <a:ln>
            <a:noFill/>
          </a:ln>
        </p:spPr>
        <p:txBody>
          <a:bodyPr wrap="square" lIns="0" tIns="0" rIns="0" bIns="0" anchor="t" anchorCtr="0"/>
          <a:lstStyle/>
          <a:p>
            <a:pPr algn="l">
              <a:lnSpc>
                <a:spcPts val="1650"/>
              </a:lnSpc>
            </a:pPr>
            <a:r>
              <a:rPr lang="zh-CN" sz="1050" dirty="0">
                <a:solidFill>
                  <a:srgbClr val="003A70"/>
                </a:solidFill>
                <a:latin typeface="Arial"/>
                <a:ea typeface="Microsoft YaHei"/>
                <a:cs typeface="Arial"/>
              </a:rPr>
              <a:t>权威行业题库</a:t>
            </a:r>
            <a:r>
              <a:rPr lang="zh-CN" sz="1050" dirty="0">
                <a:solidFill>
                  <a:srgbClr val="003A70"/>
                </a:solidFill>
                <a:latin typeface="Arial"/>
                <a:ea typeface="Microsoft YaHei"/>
                <a:cs typeface="Arial"/>
              </a:rPr>
              <a:t>+ 跨企业结果认可</a:t>
            </a:r>
          </a:p>
        </p:txBody>
      </p:sp>
      <p:sp>
        <p:nvSpPr>
          <p:cNvPr id="22" name="Line 22"/>
          <p:cNvSpPr/>
          <p:nvPr/>
        </p:nvSpPr>
        <p:spPr>
          <a:xfrm>
            <a:off x="552450" y="28765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23" name="Rectangle 23"/>
          <p:cNvSpPr/>
          <p:nvPr/>
        </p:nvSpPr>
        <p:spPr>
          <a:xfrm>
            <a:off x="552450" y="2876550"/>
            <a:ext cx="11087100" cy="685800"/>
          </a:xfrm>
          <a:prstGeom prst="rect">
            <a:avLst/>
          </a:prstGeom>
          <a:solidFill>
            <a:srgbClr val="FFFFFF"/>
          </a:solidFill>
          <a:ln>
            <a:noFill/>
          </a:ln>
        </p:spPr>
      </p:sp>
      <p:sp>
        <p:nvSpPr>
          <p:cNvPr id="24" name="TextBox 24"/>
          <p:cNvSpPr txBox="1"/>
          <p:nvPr/>
        </p:nvSpPr>
        <p:spPr>
          <a:xfrm>
            <a:off x="709612" y="3012281"/>
            <a:ext cx="1288732"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安全生产培训平台</a:t>
            </a:r>
          </a:p>
        </p:txBody>
      </p:sp>
      <p:sp>
        <p:nvSpPr>
          <p:cNvPr id="25" name="TextBox 25"/>
          <p:cNvSpPr txBox="1"/>
          <p:nvPr/>
        </p:nvSpPr>
        <p:spPr>
          <a:xfrm>
            <a:off x="711518" y="3238024"/>
            <a:ext cx="1324928"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应急管理部培训机构等</a:t>
            </a:r>
          </a:p>
        </p:txBody>
      </p:sp>
      <p:sp>
        <p:nvSpPr>
          <p:cNvPr id="26" name="TextBox 26"/>
          <p:cNvSpPr txBox="1"/>
          <p:nvPr/>
        </p:nvSpPr>
        <p:spPr>
          <a:xfrm>
            <a:off x="2710815" y="3020378"/>
            <a:ext cx="826770"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合规培训课程</a:t>
            </a:r>
            <a:r>
              <a:rPr lang="zh-CN" sz="1050" dirty="0">
                <a:solidFill>
                  <a:srgbClr val="1A1A2E"/>
                </a:solidFill>
                <a:latin typeface="Arial"/>
                <a:ea typeface="Microsoft YaHei"/>
                <a:cs typeface="Arial"/>
              </a:rPr>
              <a:t>政府备案证照</a:t>
            </a:r>
          </a:p>
        </p:txBody>
      </p:sp>
      <p:sp>
        <p:nvSpPr>
          <p:cNvPr id="27" name="TextBox 27"/>
          <p:cNvSpPr txBox="1"/>
          <p:nvPr/>
        </p:nvSpPr>
        <p:spPr>
          <a:xfrm>
            <a:off x="5377815" y="3020378"/>
            <a:ext cx="1226820" cy="422910"/>
          </a:xfrm>
          <a:prstGeom prst="rect">
            <a:avLst/>
          </a:prstGeom>
          <a:noFill/>
          <a:ln>
            <a:noFill/>
          </a:ln>
        </p:spPr>
        <p:txBody>
          <a:bodyPr wrap="square" lIns="0" tIns="0" rIns="0" bIns="0" anchor="t" anchorCtr="0"/>
          <a:lstStyle/>
          <a:p>
            <a:pPr algn="l">
              <a:lnSpc>
                <a:spcPts val="1650"/>
              </a:lnSpc>
            </a:pPr>
            <a:r>
              <a:rPr lang="zh-CN" sz="1050" dirty="0">
                <a:solidFill>
                  <a:srgbClr val="C53030"/>
                </a:solidFill>
                <a:latin typeface="Arial"/>
                <a:ea typeface="Microsoft YaHei"/>
                <a:cs typeface="Arial"/>
              </a:rPr>
              <a:t>单机构服务</a:t>
            </a:r>
            <a:r>
              <a:rPr lang="zh-CN" sz="1050" dirty="0">
                <a:solidFill>
                  <a:srgbClr val="C53030"/>
                </a:solidFill>
                <a:latin typeface="Arial"/>
                <a:ea typeface="Microsoft YaHei"/>
                <a:cs typeface="Arial"/>
              </a:rPr>
              <a:t>行业级核验能力不足</a:t>
            </a:r>
          </a:p>
        </p:txBody>
      </p:sp>
      <p:sp>
        <p:nvSpPr>
          <p:cNvPr id="28" name="TextBox 28"/>
          <p:cNvSpPr txBox="1"/>
          <p:nvPr/>
        </p:nvSpPr>
        <p:spPr>
          <a:xfrm>
            <a:off x="8044815" y="3020378"/>
            <a:ext cx="1340168" cy="422910"/>
          </a:xfrm>
          <a:prstGeom prst="rect">
            <a:avLst/>
          </a:prstGeom>
          <a:noFill/>
          <a:ln>
            <a:noFill/>
          </a:ln>
        </p:spPr>
        <p:txBody>
          <a:bodyPr wrap="square" lIns="0" tIns="0" rIns="0" bIns="0" anchor="t" anchorCtr="0"/>
          <a:lstStyle/>
          <a:p>
            <a:pPr algn="l">
              <a:lnSpc>
                <a:spcPts val="1650"/>
              </a:lnSpc>
            </a:pPr>
            <a:r>
              <a:rPr lang="zh-CN" sz="1050" dirty="0">
                <a:solidFill>
                  <a:srgbClr val="003A70"/>
                </a:solidFill>
                <a:latin typeface="Arial"/>
                <a:ea typeface="Microsoft YaHei"/>
                <a:cs typeface="Arial"/>
              </a:rPr>
              <a:t>跨机构培训记录聚合</a:t>
            </a:r>
            <a:r>
              <a:rPr lang="zh-CN" sz="1050" dirty="0">
                <a:solidFill>
                  <a:srgbClr val="003A70"/>
                </a:solidFill>
                <a:latin typeface="Arial"/>
                <a:ea typeface="Microsoft YaHei"/>
                <a:cs typeface="Arial"/>
              </a:rPr>
              <a:t>+ 行业认可的核验结论</a:t>
            </a:r>
          </a:p>
        </p:txBody>
      </p:sp>
      <p:sp>
        <p:nvSpPr>
          <p:cNvPr id="29" name="Line 29"/>
          <p:cNvSpPr/>
          <p:nvPr/>
        </p:nvSpPr>
        <p:spPr>
          <a:xfrm>
            <a:off x="552450" y="35623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30" name="Rectangle 30"/>
          <p:cNvSpPr/>
          <p:nvPr/>
        </p:nvSpPr>
        <p:spPr>
          <a:xfrm>
            <a:off x="552450" y="3562350"/>
            <a:ext cx="11087100" cy="685800"/>
          </a:xfrm>
          <a:prstGeom prst="rect">
            <a:avLst/>
          </a:prstGeom>
          <a:solidFill>
            <a:srgbClr val="F0F4F8"/>
          </a:solidFill>
          <a:ln>
            <a:noFill/>
          </a:ln>
        </p:spPr>
      </p:sp>
      <p:sp>
        <p:nvSpPr>
          <p:cNvPr id="31" name="TextBox 31"/>
          <p:cNvSpPr txBox="1"/>
          <p:nvPr/>
        </p:nvSpPr>
        <p:spPr>
          <a:xfrm>
            <a:off x="709612" y="3698081"/>
            <a:ext cx="1446252"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承包商安全管理系统</a:t>
            </a:r>
          </a:p>
        </p:txBody>
      </p:sp>
      <p:sp>
        <p:nvSpPr>
          <p:cNvPr id="32" name="TextBox 32"/>
          <p:cNvSpPr txBox="1"/>
          <p:nvPr/>
        </p:nvSpPr>
        <p:spPr>
          <a:xfrm>
            <a:off x="711518" y="3923824"/>
            <a:ext cx="1064895"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海格、斑马快跑等</a:t>
            </a:r>
          </a:p>
        </p:txBody>
      </p:sp>
      <p:sp>
        <p:nvSpPr>
          <p:cNvPr id="33" name="TextBox 33"/>
          <p:cNvSpPr txBox="1"/>
          <p:nvPr/>
        </p:nvSpPr>
        <p:spPr>
          <a:xfrm>
            <a:off x="2710815" y="3706178"/>
            <a:ext cx="1226820"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单企业外委人员管理</a:t>
            </a:r>
            <a:r>
              <a:rPr lang="zh-CN" sz="1050" dirty="0">
                <a:solidFill>
                  <a:srgbClr val="1A1A2E"/>
                </a:solidFill>
                <a:latin typeface="Arial"/>
                <a:ea typeface="Microsoft YaHei"/>
                <a:cs typeface="Arial"/>
              </a:rPr>
              <a:t>作业票、施工包</a:t>
            </a:r>
          </a:p>
        </p:txBody>
      </p:sp>
      <p:sp>
        <p:nvSpPr>
          <p:cNvPr id="34" name="TextBox 34"/>
          <p:cNvSpPr txBox="1"/>
          <p:nvPr/>
        </p:nvSpPr>
        <p:spPr>
          <a:xfrm>
            <a:off x="5377815" y="3706178"/>
            <a:ext cx="960120" cy="422910"/>
          </a:xfrm>
          <a:prstGeom prst="rect">
            <a:avLst/>
          </a:prstGeom>
          <a:noFill/>
          <a:ln>
            <a:noFill/>
          </a:ln>
        </p:spPr>
        <p:txBody>
          <a:bodyPr wrap="square" lIns="0" tIns="0" rIns="0" bIns="0" anchor="t" anchorCtr="0"/>
          <a:lstStyle/>
          <a:p>
            <a:pPr algn="l">
              <a:lnSpc>
                <a:spcPts val="1650"/>
              </a:lnSpc>
            </a:pPr>
            <a:r>
              <a:rPr lang="zh-CN" sz="1050" dirty="0">
                <a:solidFill>
                  <a:srgbClr val="C53030"/>
                </a:solidFill>
                <a:latin typeface="Arial"/>
                <a:ea typeface="Microsoft YaHei"/>
                <a:cs typeface="Arial"/>
              </a:rPr>
              <a:t>封闭于单一企业</a:t>
            </a:r>
            <a:r>
              <a:rPr lang="zh-CN" sz="1050" dirty="0">
                <a:solidFill>
                  <a:srgbClr val="C53030"/>
                </a:solidFill>
                <a:latin typeface="Arial"/>
                <a:ea typeface="Microsoft YaHei"/>
                <a:cs typeface="Arial"/>
              </a:rPr>
              <a:t>跨主体流通缺失</a:t>
            </a:r>
          </a:p>
        </p:txBody>
      </p:sp>
      <p:sp>
        <p:nvSpPr>
          <p:cNvPr id="35" name="TextBox 35"/>
          <p:cNvSpPr txBox="1"/>
          <p:nvPr/>
        </p:nvSpPr>
        <p:spPr>
          <a:xfrm>
            <a:off x="8044815" y="3706178"/>
            <a:ext cx="1226820" cy="422910"/>
          </a:xfrm>
          <a:prstGeom prst="rect">
            <a:avLst/>
          </a:prstGeom>
          <a:noFill/>
          <a:ln>
            <a:noFill/>
          </a:ln>
        </p:spPr>
        <p:txBody>
          <a:bodyPr wrap="square" lIns="0" tIns="0" rIns="0" bIns="0" anchor="t" anchorCtr="0"/>
          <a:lstStyle/>
          <a:p>
            <a:pPr algn="l">
              <a:lnSpc>
                <a:spcPts val="1650"/>
              </a:lnSpc>
            </a:pPr>
            <a:r>
              <a:rPr lang="zh-CN" sz="1050" dirty="0">
                <a:solidFill>
                  <a:srgbClr val="003A70"/>
                </a:solidFill>
                <a:latin typeface="Arial"/>
                <a:ea typeface="Microsoft YaHei"/>
                <a:cs typeface="Arial"/>
              </a:rPr>
              <a:t>中立行业平台</a:t>
            </a:r>
            <a:r>
              <a:rPr lang="zh-CN" sz="1050" dirty="0">
                <a:solidFill>
                  <a:srgbClr val="003A70"/>
                </a:solidFill>
                <a:latin typeface="Arial"/>
                <a:ea typeface="Microsoft YaHei"/>
                <a:cs typeface="Arial"/>
              </a:rPr>
              <a:t>多企业共享核验结果</a:t>
            </a:r>
          </a:p>
        </p:txBody>
      </p:sp>
      <p:sp>
        <p:nvSpPr>
          <p:cNvPr id="36" name="Line 36"/>
          <p:cNvSpPr/>
          <p:nvPr/>
        </p:nvSpPr>
        <p:spPr>
          <a:xfrm>
            <a:off x="552450" y="42481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37" name="Rectangle 37"/>
          <p:cNvSpPr/>
          <p:nvPr/>
        </p:nvSpPr>
        <p:spPr>
          <a:xfrm>
            <a:off x="552450" y="4248150"/>
            <a:ext cx="11087100" cy="685800"/>
          </a:xfrm>
          <a:prstGeom prst="rect">
            <a:avLst/>
          </a:prstGeom>
          <a:solidFill>
            <a:srgbClr val="FFFFFF"/>
          </a:solidFill>
          <a:ln>
            <a:noFill/>
          </a:ln>
        </p:spPr>
      </p:sp>
      <p:sp>
        <p:nvSpPr>
          <p:cNvPr id="38" name="TextBox 38"/>
          <p:cNvSpPr txBox="1"/>
          <p:nvPr/>
        </p:nvSpPr>
        <p:spPr>
          <a:xfrm>
            <a:off x="709612" y="4383881"/>
            <a:ext cx="1288732"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电力安规刷题产品</a:t>
            </a:r>
          </a:p>
        </p:txBody>
      </p:sp>
      <p:sp>
        <p:nvSpPr>
          <p:cNvPr id="39" name="TextBox 39"/>
          <p:cNvSpPr txBox="1"/>
          <p:nvPr/>
        </p:nvSpPr>
        <p:spPr>
          <a:xfrm>
            <a:off x="711518" y="4609624"/>
            <a:ext cx="1084397"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安规通 / 学安规等</a:t>
            </a:r>
          </a:p>
        </p:txBody>
      </p:sp>
      <p:sp>
        <p:nvSpPr>
          <p:cNvPr id="40" name="TextBox 40"/>
          <p:cNvSpPr txBox="1"/>
          <p:nvPr/>
        </p:nvSpPr>
        <p:spPr>
          <a:xfrm>
            <a:off x="2710815" y="4391978"/>
            <a:ext cx="1093470"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个人备考与练习</a:t>
            </a:r>
            <a:r>
              <a:rPr lang="zh-CN" sz="1050" dirty="0">
                <a:solidFill>
                  <a:srgbClr val="1A1A2E"/>
                </a:solidFill>
                <a:latin typeface="Arial"/>
                <a:ea typeface="Microsoft YaHei"/>
                <a:cs typeface="Arial"/>
              </a:rPr>
              <a:t>安规知识内容丰富</a:t>
            </a:r>
          </a:p>
        </p:txBody>
      </p:sp>
      <p:sp>
        <p:nvSpPr>
          <p:cNvPr id="41" name="TextBox 41"/>
          <p:cNvSpPr txBox="1"/>
          <p:nvPr/>
        </p:nvSpPr>
        <p:spPr>
          <a:xfrm>
            <a:off x="5377815" y="4391978"/>
            <a:ext cx="1360170" cy="422910"/>
          </a:xfrm>
          <a:prstGeom prst="rect">
            <a:avLst/>
          </a:prstGeom>
          <a:noFill/>
          <a:ln>
            <a:noFill/>
          </a:ln>
        </p:spPr>
        <p:txBody>
          <a:bodyPr wrap="square" lIns="0" tIns="0" rIns="0" bIns="0" anchor="t" anchorCtr="0"/>
          <a:lstStyle/>
          <a:p>
            <a:pPr algn="l">
              <a:lnSpc>
                <a:spcPts val="1650"/>
              </a:lnSpc>
            </a:pPr>
            <a:r>
              <a:rPr lang="zh-CN" sz="1050" dirty="0">
                <a:solidFill>
                  <a:srgbClr val="C53030"/>
                </a:solidFill>
                <a:latin typeface="Arial"/>
                <a:ea typeface="Microsoft YaHei"/>
                <a:cs typeface="Arial"/>
              </a:rPr>
              <a:t>个人工具，无企业</a:t>
            </a:r>
            <a:r>
              <a:rPr lang="zh-CN" sz="1050" dirty="0">
                <a:solidFill>
                  <a:srgbClr val="C53030"/>
                </a:solidFill>
                <a:latin typeface="Arial"/>
                <a:ea typeface="Microsoft YaHei"/>
                <a:cs typeface="Arial"/>
              </a:rPr>
              <a:t>准入闭环，无核验能力</a:t>
            </a:r>
          </a:p>
        </p:txBody>
      </p:sp>
      <p:sp>
        <p:nvSpPr>
          <p:cNvPr id="42" name="TextBox 42"/>
          <p:cNvSpPr txBox="1"/>
          <p:nvPr/>
        </p:nvSpPr>
        <p:spPr>
          <a:xfrm>
            <a:off x="8044815" y="4391978"/>
            <a:ext cx="1360170" cy="422910"/>
          </a:xfrm>
          <a:prstGeom prst="rect">
            <a:avLst/>
          </a:prstGeom>
          <a:noFill/>
          <a:ln>
            <a:noFill/>
          </a:ln>
        </p:spPr>
        <p:txBody>
          <a:bodyPr wrap="square" lIns="0" tIns="0" rIns="0" bIns="0" anchor="t" anchorCtr="0"/>
          <a:lstStyle/>
          <a:p>
            <a:pPr algn="l">
              <a:lnSpc>
                <a:spcPts val="1650"/>
              </a:lnSpc>
            </a:pPr>
            <a:r>
              <a:rPr lang="zh-CN" sz="1050" dirty="0">
                <a:solidFill>
                  <a:srgbClr val="003A70"/>
                </a:solidFill>
                <a:latin typeface="Arial"/>
                <a:ea typeface="Microsoft YaHei"/>
                <a:cs typeface="Arial"/>
              </a:rPr>
              <a:t>与企业准入直接对接</a:t>
            </a:r>
            <a:r>
              <a:rPr lang="zh-CN" sz="1050" dirty="0">
                <a:solidFill>
                  <a:srgbClr val="003A70"/>
                </a:solidFill>
                <a:latin typeface="Arial"/>
                <a:ea typeface="Microsoft YaHei"/>
                <a:cs typeface="Arial"/>
              </a:rPr>
              <a:t>能力结果可被企业调取</a:t>
            </a:r>
          </a:p>
        </p:txBody>
      </p:sp>
      <p:sp>
        <p:nvSpPr>
          <p:cNvPr id="43" name="Line 43"/>
          <p:cNvSpPr/>
          <p:nvPr/>
        </p:nvSpPr>
        <p:spPr>
          <a:xfrm>
            <a:off x="552450" y="49339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44" name="Rectangle 44"/>
          <p:cNvSpPr/>
          <p:nvPr/>
        </p:nvSpPr>
        <p:spPr>
          <a:xfrm>
            <a:off x="552450" y="4933950"/>
            <a:ext cx="11087100" cy="685800"/>
          </a:xfrm>
          <a:prstGeom prst="rect">
            <a:avLst/>
          </a:prstGeom>
          <a:solidFill>
            <a:srgbClr val="F0F4F8"/>
          </a:solidFill>
          <a:ln>
            <a:noFill/>
          </a:ln>
        </p:spPr>
      </p:sp>
      <p:sp>
        <p:nvSpPr>
          <p:cNvPr id="45" name="TextBox 45"/>
          <p:cNvSpPr txBox="1"/>
          <p:nvPr/>
        </p:nvSpPr>
        <p:spPr>
          <a:xfrm>
            <a:off x="709612" y="5069681"/>
            <a:ext cx="973693"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企业自建系统</a:t>
            </a:r>
          </a:p>
        </p:txBody>
      </p:sp>
      <p:sp>
        <p:nvSpPr>
          <p:cNvPr id="46" name="TextBox 46"/>
          <p:cNvSpPr txBox="1"/>
          <p:nvPr/>
        </p:nvSpPr>
        <p:spPr>
          <a:xfrm>
            <a:off x="711518" y="5295424"/>
            <a:ext cx="160446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各电网 / 发电集团内部系统</a:t>
            </a:r>
          </a:p>
        </p:txBody>
      </p:sp>
      <p:sp>
        <p:nvSpPr>
          <p:cNvPr id="47" name="TextBox 47"/>
          <p:cNvSpPr txBox="1"/>
          <p:nvPr/>
        </p:nvSpPr>
        <p:spPr>
          <a:xfrm>
            <a:off x="2710815" y="5077778"/>
            <a:ext cx="1093470"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深度贴合企业流程</a:t>
            </a:r>
            <a:r>
              <a:rPr lang="zh-CN" sz="1050" dirty="0">
                <a:solidFill>
                  <a:srgbClr val="1A1A2E"/>
                </a:solidFill>
                <a:latin typeface="Arial"/>
                <a:ea typeface="Microsoft YaHei"/>
                <a:cs typeface="Arial"/>
              </a:rPr>
              <a:t>内部数据整合好</a:t>
            </a:r>
          </a:p>
        </p:txBody>
      </p:sp>
      <p:sp>
        <p:nvSpPr>
          <p:cNvPr id="48" name="TextBox 48"/>
          <p:cNvSpPr txBox="1"/>
          <p:nvPr/>
        </p:nvSpPr>
        <p:spPr>
          <a:xfrm>
            <a:off x="5377815" y="5077778"/>
            <a:ext cx="1226820" cy="422910"/>
          </a:xfrm>
          <a:prstGeom prst="rect">
            <a:avLst/>
          </a:prstGeom>
          <a:noFill/>
          <a:ln>
            <a:noFill/>
          </a:ln>
        </p:spPr>
        <p:txBody>
          <a:bodyPr wrap="square" lIns="0" tIns="0" rIns="0" bIns="0" anchor="t" anchorCtr="0"/>
          <a:lstStyle/>
          <a:p>
            <a:pPr algn="l">
              <a:lnSpc>
                <a:spcPts val="1650"/>
              </a:lnSpc>
            </a:pPr>
            <a:r>
              <a:rPr lang="zh-CN" sz="1050" dirty="0">
                <a:solidFill>
                  <a:srgbClr val="C53030"/>
                </a:solidFill>
                <a:latin typeface="Arial"/>
                <a:ea typeface="Microsoft YaHei"/>
                <a:cs typeface="Arial"/>
              </a:rPr>
              <a:t>数据孤岛</a:t>
            </a:r>
            <a:r>
              <a:rPr lang="zh-CN" sz="1050" dirty="0">
                <a:solidFill>
                  <a:srgbClr val="C53030"/>
                </a:solidFill>
                <a:latin typeface="Arial"/>
                <a:ea typeface="Microsoft YaHei"/>
                <a:cs typeface="Arial"/>
              </a:rPr>
              <a:t>跨企业复用成本极高</a:t>
            </a:r>
          </a:p>
        </p:txBody>
      </p:sp>
      <p:sp>
        <p:nvSpPr>
          <p:cNvPr id="49" name="TextBox 49"/>
          <p:cNvSpPr txBox="1"/>
          <p:nvPr/>
        </p:nvSpPr>
        <p:spPr>
          <a:xfrm>
            <a:off x="8044815" y="5077778"/>
            <a:ext cx="1493520" cy="422910"/>
          </a:xfrm>
          <a:prstGeom prst="rect">
            <a:avLst/>
          </a:prstGeom>
          <a:noFill/>
          <a:ln>
            <a:noFill/>
          </a:ln>
        </p:spPr>
        <p:txBody>
          <a:bodyPr wrap="square" lIns="0" tIns="0" rIns="0" bIns="0" anchor="t" anchorCtr="0"/>
          <a:lstStyle/>
          <a:p>
            <a:pPr algn="l">
              <a:lnSpc>
                <a:spcPts val="1650"/>
              </a:lnSpc>
            </a:pPr>
            <a:r>
              <a:rPr lang="zh-CN" sz="1050" dirty="0">
                <a:solidFill>
                  <a:srgbClr val="003A70"/>
                </a:solidFill>
                <a:latin typeface="Arial"/>
                <a:ea typeface="Microsoft YaHei"/>
                <a:cs typeface="Arial"/>
              </a:rPr>
              <a:t>打通企业孤岛</a:t>
            </a:r>
            <a:r>
              <a:rPr lang="zh-CN" sz="1050" dirty="0">
                <a:solidFill>
                  <a:srgbClr val="003A70"/>
                </a:solidFill>
                <a:latin typeface="Arial"/>
                <a:ea typeface="Microsoft YaHei"/>
                <a:cs typeface="Arial"/>
              </a:rPr>
              <a:t>输出跨企业通用核验接口</a:t>
            </a:r>
          </a:p>
        </p:txBody>
      </p:sp>
      <p:sp>
        <p:nvSpPr>
          <p:cNvPr id="50" name="Line 50"/>
          <p:cNvSpPr/>
          <p:nvPr/>
        </p:nvSpPr>
        <p:spPr>
          <a:xfrm>
            <a:off x="552450" y="56197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51" name="Rectangle 51"/>
          <p:cNvSpPr/>
          <p:nvPr/>
        </p:nvSpPr>
        <p:spPr>
          <a:xfrm>
            <a:off x="552450" y="5619750"/>
            <a:ext cx="11087100" cy="685800"/>
          </a:xfrm>
          <a:prstGeom prst="rect">
            <a:avLst/>
          </a:prstGeom>
          <a:solidFill>
            <a:srgbClr val="003A70"/>
          </a:solidFill>
          <a:ln>
            <a:noFill/>
          </a:ln>
        </p:spPr>
      </p:sp>
      <p:sp>
        <p:nvSpPr>
          <p:cNvPr id="52" name="Rectangle 52"/>
          <p:cNvSpPr/>
          <p:nvPr/>
        </p:nvSpPr>
        <p:spPr>
          <a:xfrm>
            <a:off x="552450" y="5619750"/>
            <a:ext cx="47625" cy="685800"/>
          </a:xfrm>
          <a:prstGeom prst="rect">
            <a:avLst/>
          </a:prstGeom>
          <a:solidFill>
            <a:srgbClr val="0077CC"/>
          </a:solidFill>
          <a:ln>
            <a:noFill/>
          </a:ln>
        </p:spPr>
      </p:sp>
      <p:sp>
        <p:nvSpPr>
          <p:cNvPr id="53" name="TextBox 53"/>
          <p:cNvSpPr txBox="1"/>
          <p:nvPr/>
        </p:nvSpPr>
        <p:spPr>
          <a:xfrm>
            <a:off x="709612" y="5755481"/>
            <a:ext cx="1131213"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SimHei"/>
                <a:cs typeface="Arial"/>
              </a:rPr>
              <a:t>中电联数智科技</a:t>
            </a:r>
          </a:p>
        </p:txBody>
      </p:sp>
      <p:sp>
        <p:nvSpPr>
          <p:cNvPr id="54" name="TextBox 54"/>
          <p:cNvSpPr txBox="1"/>
          <p:nvPr/>
        </p:nvSpPr>
        <p:spPr>
          <a:xfrm>
            <a:off x="711518" y="5981224"/>
            <a:ext cx="544830" cy="198120"/>
          </a:xfrm>
          <a:prstGeom prst="rect">
            <a:avLst/>
          </a:prstGeom>
          <a:noFill/>
          <a:ln>
            <a:noFill/>
          </a:ln>
        </p:spPr>
        <p:txBody>
          <a:bodyPr wrap="none" lIns="0" tIns="0" rIns="0" bIns="0" anchor="t" anchorCtr="0">
            <a:spAutoFit/>
          </a:bodyPr>
          <a:lstStyle/>
          <a:p>
            <a:pPr algn="l"/>
            <a:r>
              <a:rPr lang="zh-CN" sz="975" dirty="0">
                <a:solidFill>
                  <a:srgbClr val="EAF3FF"/>
                </a:solidFill>
                <a:latin typeface="Arial"/>
                <a:ea typeface="Microsoft YaHei"/>
                <a:cs typeface="Arial"/>
              </a:rPr>
              <a:t>目标定位</a:t>
            </a:r>
          </a:p>
        </p:txBody>
      </p:sp>
      <p:sp>
        <p:nvSpPr>
          <p:cNvPr id="55" name="TextBox 55"/>
          <p:cNvSpPr txBox="1"/>
          <p:nvPr/>
        </p:nvSpPr>
        <p:spPr>
          <a:xfrm>
            <a:off x="2710815" y="5763578"/>
            <a:ext cx="960120" cy="422910"/>
          </a:xfrm>
          <a:prstGeom prst="rect">
            <a:avLst/>
          </a:prstGeom>
          <a:noFill/>
          <a:ln>
            <a:noFill/>
          </a:ln>
        </p:spPr>
        <p:txBody>
          <a:bodyPr wrap="square" lIns="0" tIns="0" rIns="0" bIns="0" anchor="t" anchorCtr="0"/>
          <a:lstStyle/>
          <a:p>
            <a:pPr algn="l">
              <a:lnSpc>
                <a:spcPts val="1650"/>
              </a:lnSpc>
            </a:pPr>
            <a:r>
              <a:rPr lang="zh-CN" sz="1050" dirty="0">
                <a:solidFill>
                  <a:srgbClr val="FFFFFF"/>
                </a:solidFill>
                <a:latin typeface="Arial"/>
                <a:ea typeface="Microsoft YaHei"/>
                <a:cs typeface="Arial"/>
              </a:rPr>
              <a:t>行业题库权威性</a:t>
            </a:r>
            <a:r>
              <a:rPr lang="zh-CN" sz="1050" dirty="0">
                <a:solidFill>
                  <a:srgbClr val="FFFFFF"/>
                </a:solidFill>
                <a:latin typeface="Arial"/>
                <a:ea typeface="Microsoft YaHei"/>
                <a:cs typeface="Arial"/>
              </a:rPr>
              <a:t>+ 会员服务网络</a:t>
            </a:r>
          </a:p>
        </p:txBody>
      </p:sp>
      <p:sp>
        <p:nvSpPr>
          <p:cNvPr id="56" name="TextBox 56"/>
          <p:cNvSpPr txBox="1"/>
          <p:nvPr/>
        </p:nvSpPr>
        <p:spPr>
          <a:xfrm>
            <a:off x="5377815" y="5763578"/>
            <a:ext cx="1093470" cy="422910"/>
          </a:xfrm>
          <a:prstGeom prst="rect">
            <a:avLst/>
          </a:prstGeom>
          <a:noFill/>
          <a:ln>
            <a:noFill/>
          </a:ln>
        </p:spPr>
        <p:txBody>
          <a:bodyPr wrap="square" lIns="0" tIns="0" rIns="0" bIns="0" anchor="t" anchorCtr="0"/>
          <a:lstStyle/>
          <a:p>
            <a:pPr algn="l">
              <a:lnSpc>
                <a:spcPts val="1650"/>
              </a:lnSpc>
            </a:pPr>
            <a:r>
              <a:rPr lang="zh-CN" sz="1050" dirty="0">
                <a:solidFill>
                  <a:srgbClr val="4A90D9"/>
                </a:solidFill>
                <a:latin typeface="Arial"/>
                <a:ea typeface="Microsoft YaHei"/>
                <a:cs typeface="Arial"/>
              </a:rPr>
              <a:t>行业号召力强</a:t>
            </a:r>
            <a:r>
              <a:rPr lang="zh-CN" sz="1050" dirty="0">
                <a:solidFill>
                  <a:srgbClr val="4A90D9"/>
                </a:solidFill>
                <a:latin typeface="Arial"/>
                <a:ea typeface="Microsoft YaHei"/>
                <a:cs typeface="Arial"/>
              </a:rPr>
              <a:t>通用训考能力待补</a:t>
            </a:r>
          </a:p>
        </p:txBody>
      </p:sp>
      <p:sp>
        <p:nvSpPr>
          <p:cNvPr id="57" name="Rectangle 57"/>
          <p:cNvSpPr/>
          <p:nvPr/>
        </p:nvSpPr>
        <p:spPr>
          <a:xfrm>
            <a:off x="7905750" y="5667375"/>
            <a:ext cx="3657600" cy="590550"/>
          </a:xfrm>
          <a:prstGeom prst="roundRect">
            <a:avLst>
              <a:gd name="adj" fmla="val 3226"/>
            </a:avLst>
          </a:prstGeom>
          <a:solidFill>
            <a:srgbClr val="0077CC">
              <a:alpha val="20000"/>
            </a:srgbClr>
          </a:solidFill>
          <a:ln>
            <a:noFill/>
          </a:ln>
        </p:spPr>
      </p:sp>
      <p:sp>
        <p:nvSpPr>
          <p:cNvPr id="58" name="TextBox 58"/>
          <p:cNvSpPr txBox="1"/>
          <p:nvPr/>
        </p:nvSpPr>
        <p:spPr>
          <a:xfrm>
            <a:off x="8043862" y="5755481"/>
            <a:ext cx="1206222" cy="438150"/>
          </a:xfrm>
          <a:prstGeom prst="rect">
            <a:avLst/>
          </a:prstGeom>
          <a:noFill/>
          <a:ln>
            <a:noFill/>
          </a:ln>
        </p:spPr>
        <p:txBody>
          <a:bodyPr wrap="square" lIns="0" tIns="0" rIns="0" bIns="0" anchor="t" anchorCtr="0"/>
          <a:lstStyle/>
          <a:p>
            <a:pPr algn="l">
              <a:lnSpc>
                <a:spcPts val="1650"/>
              </a:lnSpc>
            </a:pPr>
            <a:r>
              <a:rPr lang="zh-CN" sz="1125" b="1" dirty="0">
                <a:solidFill>
                  <a:srgbClr val="FFFFFF"/>
                </a:solidFill>
                <a:latin typeface="Arial"/>
                <a:ea typeface="SimHei"/>
                <a:cs typeface="Arial"/>
              </a:rPr>
              <a:t>行业级可信核验</a:t>
            </a:r>
            <a:r>
              <a:rPr lang="zh-CN" sz="1125" b="1" dirty="0">
                <a:solidFill>
                  <a:srgbClr val="FFFFFF"/>
                </a:solidFill>
                <a:latin typeface="Arial"/>
                <a:ea typeface="SimHei"/>
                <a:cs typeface="Arial"/>
              </a:rPr>
              <a:t>+ 跨企业授权复用</a:t>
            </a:r>
          </a:p>
        </p:txBody>
      </p:sp>
      <p:sp>
        <p:nvSpPr>
          <p:cNvPr id="59" name="TextBox 59"/>
          <p:cNvSpPr txBox="1"/>
          <p:nvPr/>
        </p:nvSpPr>
        <p:spPr>
          <a:xfrm>
            <a:off x="541020" y="6427470"/>
            <a:ext cx="4223385"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注：各类型代表产品为市场现状举例，非完整列表。数据来源：公开市场调研。</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962398"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第二章 · 总体方案</a:t>
            </a:r>
          </a:p>
        </p:txBody>
      </p:sp>
      <p:sp>
        <p:nvSpPr>
          <p:cNvPr id="4" name="TextBox 4"/>
          <p:cNvSpPr txBox="1"/>
          <p:nvPr/>
        </p:nvSpPr>
        <p:spPr>
          <a:xfrm>
            <a:off x="525780" y="1183005"/>
            <a:ext cx="7242539"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总体思路：业务牵引 · 最小闭环 · 合规前置 · 数据沉淀</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4048958" y="1688306"/>
            <a:ext cx="4094083"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四项原则共同保障场景建设"跑得通、合规、有价值、可持续"</a:t>
            </a:r>
          </a:p>
        </p:txBody>
      </p:sp>
      <p:sp>
        <p:nvSpPr>
          <p:cNvPr id="7" name="Rectangle 7"/>
          <p:cNvSpPr/>
          <p:nvPr/>
        </p:nvSpPr>
        <p:spPr>
          <a:xfrm>
            <a:off x="552450" y="2000250"/>
            <a:ext cx="5286375" cy="2047875"/>
          </a:xfrm>
          <a:prstGeom prst="roundRect">
            <a:avLst>
              <a:gd name="adj" fmla="val 1860"/>
            </a:avLst>
          </a:prstGeom>
          <a:solidFill>
            <a:srgbClr val="F0F4F8"/>
          </a:solidFill>
          <a:ln>
            <a:noFill/>
          </a:ln>
        </p:spPr>
      </p:sp>
      <p:sp>
        <p:nvSpPr>
          <p:cNvPr id="8" name="Rectangle 8"/>
          <p:cNvSpPr/>
          <p:nvPr/>
        </p:nvSpPr>
        <p:spPr>
          <a:xfrm>
            <a:off x="552450" y="2000250"/>
            <a:ext cx="5286375" cy="47625"/>
          </a:xfrm>
          <a:prstGeom prst="roundRect">
            <a:avLst>
              <a:gd name="adj" fmla="val 40000"/>
            </a:avLst>
          </a:prstGeom>
          <a:solidFill>
            <a:srgbClr val="003A70"/>
          </a:solidFill>
          <a:ln>
            <a:noFill/>
          </a:ln>
        </p:spPr>
      </p:sp>
      <p:sp>
        <p:nvSpPr>
          <p:cNvPr id="9" name="Freeform 9"/>
          <p:cNvSpPr/>
          <p:nvPr/>
        </p:nvSpPr>
        <p:spPr>
          <a:xfrm>
            <a:off x="828675" y="2228850"/>
            <a:ext cx="285750" cy="381000"/>
          </a:xfrm>
          <a:custGeom>
            <a:avLst/>
            <a:gdLst/>
            <a:ahLst/>
            <a:cxnLst/>
            <a:rect l="l" t="t" r="r" b="b"/>
            <a:pathLst>
              <a:path w="285750" h="381000">
                <a:moveTo>
                  <a:pt x="285750" y="0"/>
                </a:moveTo>
                <a:lnTo>
                  <a:pt x="0" y="0"/>
                </a:lnTo>
                <a:lnTo>
                  <a:pt x="0" y="381000"/>
                </a:lnTo>
                <a:lnTo>
                  <a:pt x="95250" y="381000"/>
                </a:lnTo>
                <a:lnTo>
                  <a:pt x="95250" y="285750"/>
                </a:lnTo>
                <a:lnTo>
                  <a:pt x="190500" y="285750"/>
                </a:lnTo>
                <a:lnTo>
                  <a:pt x="190500" y="381000"/>
                </a:lnTo>
                <a:lnTo>
                  <a:pt x="285750" y="381000"/>
                </a:lnTo>
                <a:lnTo>
                  <a:pt x="285750" y="0"/>
                </a:lnTo>
                <a:close/>
                <a:moveTo>
                  <a:pt x="71438" y="71438"/>
                </a:moveTo>
                <a:lnTo>
                  <a:pt x="119062" y="71438"/>
                </a:lnTo>
                <a:lnTo>
                  <a:pt x="119062" y="119062"/>
                </a:lnTo>
                <a:lnTo>
                  <a:pt x="71438" y="119062"/>
                </a:lnTo>
                <a:lnTo>
                  <a:pt x="71438" y="71438"/>
                </a:lnTo>
                <a:close/>
                <a:moveTo>
                  <a:pt x="119062" y="166688"/>
                </a:moveTo>
                <a:lnTo>
                  <a:pt x="71438" y="166688"/>
                </a:lnTo>
                <a:lnTo>
                  <a:pt x="71438" y="214312"/>
                </a:lnTo>
                <a:lnTo>
                  <a:pt x="119062" y="214312"/>
                </a:lnTo>
                <a:lnTo>
                  <a:pt x="119062" y="166688"/>
                </a:lnTo>
                <a:close/>
                <a:moveTo>
                  <a:pt x="166688" y="71438"/>
                </a:moveTo>
                <a:lnTo>
                  <a:pt x="214312" y="71438"/>
                </a:lnTo>
                <a:lnTo>
                  <a:pt x="214312" y="119062"/>
                </a:lnTo>
                <a:lnTo>
                  <a:pt x="166688" y="119062"/>
                </a:lnTo>
                <a:lnTo>
                  <a:pt x="166688" y="71438"/>
                </a:lnTo>
                <a:close/>
                <a:moveTo>
                  <a:pt x="214312" y="166688"/>
                </a:moveTo>
                <a:lnTo>
                  <a:pt x="166688" y="166688"/>
                </a:lnTo>
                <a:lnTo>
                  <a:pt x="166688" y="214312"/>
                </a:lnTo>
                <a:lnTo>
                  <a:pt x="214312" y="214312"/>
                </a:lnTo>
                <a:lnTo>
                  <a:pt x="214312" y="166688"/>
                </a:lnTo>
                <a:close/>
              </a:path>
            </a:pathLst>
          </a:custGeom>
          <a:solidFill>
            <a:srgbClr val="003A70"/>
          </a:solidFill>
          <a:ln>
            <a:noFill/>
          </a:ln>
        </p:spPr>
      </p:sp>
      <p:sp>
        <p:nvSpPr>
          <p:cNvPr id="10" name="TextBox 10"/>
          <p:cNvSpPr txBox="1"/>
          <p:nvPr/>
        </p:nvSpPr>
        <p:spPr>
          <a:xfrm>
            <a:off x="1293495" y="2279332"/>
            <a:ext cx="966026" cy="335280"/>
          </a:xfrm>
          <a:prstGeom prst="rect">
            <a:avLst/>
          </a:prstGeom>
          <a:noFill/>
          <a:ln>
            <a:noFill/>
          </a:ln>
        </p:spPr>
        <p:txBody>
          <a:bodyPr wrap="none" lIns="0" tIns="0" rIns="0" bIns="0" anchor="t" anchorCtr="0">
            <a:spAutoFit/>
          </a:bodyPr>
          <a:lstStyle/>
          <a:p>
            <a:pPr algn="l"/>
            <a:r>
              <a:rPr lang="zh-CN" sz="1650" b="1" dirty="0">
                <a:solidFill>
                  <a:srgbClr val="003A70"/>
                </a:solidFill>
                <a:latin typeface="Arial"/>
                <a:ea typeface="SimHei"/>
                <a:cs typeface="Arial"/>
              </a:rPr>
              <a:t>业务牵引</a:t>
            </a:r>
          </a:p>
        </p:txBody>
      </p:sp>
      <p:sp>
        <p:nvSpPr>
          <p:cNvPr id="11" name="TextBox 11"/>
          <p:cNvSpPr txBox="1"/>
          <p:nvPr/>
        </p:nvSpPr>
        <p:spPr>
          <a:xfrm>
            <a:off x="1301115" y="2572702"/>
            <a:ext cx="1846898" cy="213360"/>
          </a:xfrm>
          <a:prstGeom prst="rect">
            <a:avLst/>
          </a:prstGeom>
          <a:noFill/>
          <a:ln>
            <a:noFill/>
          </a:ln>
        </p:spPr>
        <p:txBody>
          <a:bodyPr wrap="none" lIns="0" tIns="0" rIns="0" bIns="0" anchor="t" anchorCtr="0">
            <a:spAutoFit/>
          </a:bodyPr>
          <a:lstStyle/>
          <a:p>
            <a:pPr algn="l"/>
            <a:r>
              <a:rPr lang="zh-CN" sz="1050" dirty="0">
                <a:solidFill>
                  <a:srgbClr val="0077CC"/>
                </a:solidFill>
                <a:latin typeface="Arial"/>
                <a:ea typeface="Microsoft YaHei"/>
                <a:cs typeface="Arial"/>
              </a:rPr>
              <a:t>真实场景嵌入，避免工具孤岛</a:t>
            </a:r>
          </a:p>
        </p:txBody>
      </p:sp>
      <p:sp>
        <p:nvSpPr>
          <p:cNvPr id="12" name="Line 12"/>
          <p:cNvSpPr/>
          <p:nvPr/>
        </p:nvSpPr>
        <p:spPr>
          <a:xfrm>
            <a:off x="781050" y="2781300"/>
            <a:ext cx="4867275" cy="9525"/>
          </a:xfrm>
          <a:custGeom>
            <a:avLst/>
            <a:gdLst/>
            <a:ahLst/>
            <a:cxnLst/>
            <a:rect l="l" t="t" r="r" b="b"/>
            <a:pathLst>
              <a:path w="4867275" h="9525">
                <a:moveTo>
                  <a:pt x="0" y="0"/>
                </a:moveTo>
                <a:lnTo>
                  <a:pt x="4867275" y="0"/>
                </a:lnTo>
              </a:path>
            </a:pathLst>
          </a:custGeom>
          <a:noFill/>
          <a:ln w="9525">
            <a:solidFill>
              <a:srgbClr val="CBD5E0"/>
            </a:solidFill>
          </a:ln>
        </p:spPr>
      </p:sp>
      <p:sp>
        <p:nvSpPr>
          <p:cNvPr id="13" name="TextBox 13"/>
          <p:cNvSpPr txBox="1"/>
          <p:nvPr/>
        </p:nvSpPr>
        <p:spPr>
          <a:xfrm>
            <a:off x="765810" y="2918460"/>
            <a:ext cx="2331720" cy="98679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优先嵌入企业安全管理和入场审批</a:t>
            </a:r>
            <a:r>
              <a:rPr lang="zh-CN" sz="1200" dirty="0">
                <a:solidFill>
                  <a:srgbClr val="1A1A2E"/>
                </a:solidFill>
                <a:latin typeface="Arial"/>
                <a:ea typeface="Microsoft YaHei"/>
                <a:cs typeface="Arial"/>
              </a:rPr>
              <a:t>真实业务流程，避免"刷完即弃"。</a:t>
            </a:r>
            <a:r>
              <a:rPr lang="zh-CN" sz="1200" dirty="0">
                <a:solidFill>
                  <a:srgbClr val="1A1A2E"/>
                </a:solidFill>
                <a:latin typeface="Arial"/>
                <a:ea typeface="Microsoft YaHei"/>
                <a:cs typeface="Arial"/>
              </a:rPr>
              <a:t>核验结果要能直接用于审批决策，</a:t>
            </a:r>
            <a:r>
              <a:rPr lang="zh-CN" sz="1200" dirty="0">
                <a:solidFill>
                  <a:srgbClr val="1A1A2E"/>
                </a:solidFill>
                <a:latin typeface="Arial"/>
                <a:ea typeface="Microsoft YaHei"/>
                <a:cs typeface="Arial"/>
              </a:rPr>
              <a:t>才能实现业务价值闭环。</a:t>
            </a:r>
          </a:p>
        </p:txBody>
      </p:sp>
      <p:sp>
        <p:nvSpPr>
          <p:cNvPr id="14" name="Rectangle 14"/>
          <p:cNvSpPr/>
          <p:nvPr/>
        </p:nvSpPr>
        <p:spPr>
          <a:xfrm>
            <a:off x="6353175" y="2000250"/>
            <a:ext cx="5286375" cy="2047875"/>
          </a:xfrm>
          <a:prstGeom prst="roundRect">
            <a:avLst>
              <a:gd name="adj" fmla="val 1860"/>
            </a:avLst>
          </a:prstGeom>
          <a:solidFill>
            <a:srgbClr val="F0F4F8"/>
          </a:solidFill>
          <a:ln>
            <a:noFill/>
          </a:ln>
        </p:spPr>
      </p:sp>
      <p:sp>
        <p:nvSpPr>
          <p:cNvPr id="15" name="Rectangle 15"/>
          <p:cNvSpPr/>
          <p:nvPr/>
        </p:nvSpPr>
        <p:spPr>
          <a:xfrm>
            <a:off x="6353175" y="2000250"/>
            <a:ext cx="5286375" cy="47625"/>
          </a:xfrm>
          <a:prstGeom prst="roundRect">
            <a:avLst>
              <a:gd name="adj" fmla="val 40000"/>
            </a:avLst>
          </a:prstGeom>
          <a:solidFill>
            <a:srgbClr val="0077CC"/>
          </a:solidFill>
          <a:ln>
            <a:noFill/>
          </a:ln>
        </p:spPr>
      </p:sp>
      <p:grpSp>
        <p:nvGrpSpPr>
          <p:cNvPr id="18" name="Group 18"/>
          <p:cNvGrpSpPr/>
          <p:nvPr/>
        </p:nvGrpSpPr>
        <p:grpSpPr>
          <a:xfrm>
            <a:off x="6581775" y="2228850"/>
            <a:ext cx="381000" cy="381000"/>
            <a:chOff x="6581775" y="2228850"/>
            <a:chExt cx="381000" cy="381000"/>
          </a:xfrm>
        </p:grpSpPr>
        <p:sp>
          <p:nvSpPr>
            <p:cNvPr id="16" name="Freeform 16"/>
            <p:cNvSpPr/>
            <p:nvPr/>
          </p:nvSpPr>
          <p:spPr>
            <a:xfrm>
              <a:off x="6677025" y="2324100"/>
              <a:ext cx="190500" cy="190500"/>
            </a:xfrm>
            <a:custGeom>
              <a:avLst/>
              <a:gdLst/>
              <a:ahLst/>
              <a:cxnLst/>
              <a:rect l="l" t="t" r="r" b="b"/>
              <a:pathLst>
                <a:path w="190500" h="190500">
                  <a:moveTo>
                    <a:pt x="95250" y="0"/>
                  </a:moveTo>
                  <a:cubicBezTo>
                    <a:pt x="42645" y="0"/>
                    <a:pt x="0" y="42645"/>
                    <a:pt x="0" y="95250"/>
                  </a:cubicBezTo>
                  <a:cubicBezTo>
                    <a:pt x="0" y="147854"/>
                    <a:pt x="42645" y="190500"/>
                    <a:pt x="95250" y="190500"/>
                  </a:cubicBezTo>
                  <a:cubicBezTo>
                    <a:pt x="147854" y="190500"/>
                    <a:pt x="190500" y="147854"/>
                    <a:pt x="190500" y="95250"/>
                  </a:cubicBezTo>
                  <a:cubicBezTo>
                    <a:pt x="190500" y="42645"/>
                    <a:pt x="147854" y="0"/>
                    <a:pt x="95250" y="0"/>
                  </a:cubicBezTo>
                  <a:close/>
                  <a:moveTo>
                    <a:pt x="47625" y="95250"/>
                  </a:moveTo>
                  <a:cubicBezTo>
                    <a:pt x="47625" y="68947"/>
                    <a:pt x="68947" y="47625"/>
                    <a:pt x="95250" y="47625"/>
                  </a:cubicBezTo>
                  <a:cubicBezTo>
                    <a:pt x="121553" y="47625"/>
                    <a:pt x="142875" y="68947"/>
                    <a:pt x="142875" y="95250"/>
                  </a:cubicBezTo>
                  <a:cubicBezTo>
                    <a:pt x="142875" y="121553"/>
                    <a:pt x="121553" y="142875"/>
                    <a:pt x="95250" y="142875"/>
                  </a:cubicBezTo>
                  <a:cubicBezTo>
                    <a:pt x="68947" y="142875"/>
                    <a:pt x="47625" y="121553"/>
                    <a:pt x="47625" y="95250"/>
                  </a:cubicBezTo>
                  <a:close/>
                </a:path>
              </a:pathLst>
            </a:custGeom>
            <a:solidFill>
              <a:srgbClr val="0077CC"/>
            </a:solidFill>
            <a:ln>
              <a:noFill/>
            </a:ln>
          </p:spPr>
        </p:sp>
        <p:sp>
          <p:nvSpPr>
            <p:cNvPr id="17" name="Freeform 17"/>
            <p:cNvSpPr/>
            <p:nvPr/>
          </p:nvSpPr>
          <p:spPr>
            <a:xfrm>
              <a:off x="6581775" y="2228850"/>
              <a:ext cx="381000" cy="381000"/>
            </a:xfrm>
            <a:custGeom>
              <a:avLst/>
              <a:gdLst/>
              <a:ahLst/>
              <a:cxnLst/>
              <a:rect l="l" t="t" r="r" b="b"/>
              <a:pathLst>
                <a:path w="381000" h="381000">
                  <a:moveTo>
                    <a:pt x="190500" y="0"/>
                  </a:moveTo>
                  <a:cubicBezTo>
                    <a:pt x="85290" y="0"/>
                    <a:pt x="0" y="85290"/>
                    <a:pt x="0" y="190500"/>
                  </a:cubicBezTo>
                  <a:cubicBezTo>
                    <a:pt x="0" y="295711"/>
                    <a:pt x="85290" y="381000"/>
                    <a:pt x="190500" y="381000"/>
                  </a:cubicBezTo>
                  <a:cubicBezTo>
                    <a:pt x="295711" y="381000"/>
                    <a:pt x="381000" y="295711"/>
                    <a:pt x="381000" y="190500"/>
                  </a:cubicBezTo>
                  <a:cubicBezTo>
                    <a:pt x="381000" y="85290"/>
                    <a:pt x="295711" y="0"/>
                    <a:pt x="190500" y="0"/>
                  </a:cubicBezTo>
                  <a:close/>
                  <a:moveTo>
                    <a:pt x="47625" y="190500"/>
                  </a:moveTo>
                  <a:cubicBezTo>
                    <a:pt x="47625" y="111592"/>
                    <a:pt x="111592" y="47625"/>
                    <a:pt x="190500" y="47625"/>
                  </a:cubicBezTo>
                  <a:cubicBezTo>
                    <a:pt x="269407" y="47625"/>
                    <a:pt x="333375" y="111592"/>
                    <a:pt x="333375" y="190500"/>
                  </a:cubicBezTo>
                  <a:cubicBezTo>
                    <a:pt x="333375" y="269407"/>
                    <a:pt x="269407" y="333375"/>
                    <a:pt x="190500" y="333375"/>
                  </a:cubicBezTo>
                  <a:cubicBezTo>
                    <a:pt x="111592" y="333375"/>
                    <a:pt x="47625" y="269407"/>
                    <a:pt x="47625" y="190500"/>
                  </a:cubicBezTo>
                  <a:close/>
                </a:path>
              </a:pathLst>
            </a:custGeom>
            <a:solidFill>
              <a:srgbClr val="0077CC"/>
            </a:solidFill>
            <a:ln>
              <a:noFill/>
            </a:ln>
          </p:spPr>
        </p:sp>
      </p:grpSp>
      <p:sp>
        <p:nvSpPr>
          <p:cNvPr id="19" name="TextBox 19"/>
          <p:cNvSpPr txBox="1"/>
          <p:nvPr/>
        </p:nvSpPr>
        <p:spPr>
          <a:xfrm>
            <a:off x="7094220" y="2279332"/>
            <a:ext cx="966026" cy="335280"/>
          </a:xfrm>
          <a:prstGeom prst="rect">
            <a:avLst/>
          </a:prstGeom>
          <a:noFill/>
          <a:ln>
            <a:noFill/>
          </a:ln>
        </p:spPr>
        <p:txBody>
          <a:bodyPr wrap="none" lIns="0" tIns="0" rIns="0" bIns="0" anchor="t" anchorCtr="0">
            <a:spAutoFit/>
          </a:bodyPr>
          <a:lstStyle/>
          <a:p>
            <a:pPr algn="l"/>
            <a:r>
              <a:rPr lang="zh-CN" sz="1650" b="1" dirty="0">
                <a:solidFill>
                  <a:srgbClr val="0077CC"/>
                </a:solidFill>
                <a:latin typeface="Arial"/>
                <a:ea typeface="SimHei"/>
                <a:cs typeface="Arial"/>
              </a:rPr>
              <a:t>小步快跑</a:t>
            </a:r>
          </a:p>
        </p:txBody>
      </p:sp>
      <p:sp>
        <p:nvSpPr>
          <p:cNvPr id="20" name="TextBox 20"/>
          <p:cNvSpPr txBox="1"/>
          <p:nvPr/>
        </p:nvSpPr>
        <p:spPr>
          <a:xfrm>
            <a:off x="7101840" y="2572702"/>
            <a:ext cx="1706880"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先验证可行性，再扩大规模</a:t>
            </a:r>
          </a:p>
        </p:txBody>
      </p:sp>
      <p:sp>
        <p:nvSpPr>
          <p:cNvPr id="21" name="Line 21"/>
          <p:cNvSpPr/>
          <p:nvPr/>
        </p:nvSpPr>
        <p:spPr>
          <a:xfrm>
            <a:off x="6581775" y="2781300"/>
            <a:ext cx="4867275" cy="9525"/>
          </a:xfrm>
          <a:custGeom>
            <a:avLst/>
            <a:gdLst/>
            <a:ahLst/>
            <a:cxnLst/>
            <a:rect l="l" t="t" r="r" b="b"/>
            <a:pathLst>
              <a:path w="4867275" h="9525">
                <a:moveTo>
                  <a:pt x="0" y="0"/>
                </a:moveTo>
                <a:lnTo>
                  <a:pt x="4867275" y="0"/>
                </a:lnTo>
              </a:path>
            </a:pathLst>
          </a:custGeom>
          <a:noFill/>
          <a:ln w="9525">
            <a:solidFill>
              <a:srgbClr val="CBD5E0"/>
            </a:solidFill>
          </a:ln>
        </p:spPr>
      </p:sp>
      <p:sp>
        <p:nvSpPr>
          <p:cNvPr id="22" name="TextBox 22"/>
          <p:cNvSpPr txBox="1"/>
          <p:nvPr/>
        </p:nvSpPr>
        <p:spPr>
          <a:xfrm>
            <a:off x="6566535" y="2918460"/>
            <a:ext cx="2141220" cy="98679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先形成最小可行产品（MVP），</a:t>
            </a:r>
            <a:r>
              <a:rPr lang="zh-CN" sz="1200" dirty="0">
                <a:solidFill>
                  <a:srgbClr val="1A1A2E"/>
                </a:solidFill>
                <a:latin typeface="Arial"/>
                <a:ea typeface="Microsoft YaHei"/>
                <a:cs typeface="Arial"/>
              </a:rPr>
              <a:t>90天在单企业先行验证闭环。</a:t>
            </a:r>
            <a:r>
              <a:rPr lang="zh-CN" sz="1200" dirty="0">
                <a:solidFill>
                  <a:srgbClr val="1A1A2E"/>
                </a:solidFill>
                <a:latin typeface="Arial"/>
                <a:ea typeface="Microsoft YaHei"/>
                <a:cs typeface="Arial"/>
              </a:rPr>
              <a:t>验证通过后批量复制，</a:t>
            </a:r>
            <a:r>
              <a:rPr lang="zh-CN" sz="1200" dirty="0">
                <a:solidFill>
                  <a:srgbClr val="1A1A2E"/>
                </a:solidFill>
                <a:latin typeface="Arial"/>
                <a:ea typeface="Microsoft YaHei"/>
                <a:cs typeface="Arial"/>
              </a:rPr>
              <a:t>降低规模化失败风险。</a:t>
            </a:r>
          </a:p>
        </p:txBody>
      </p:sp>
      <p:sp>
        <p:nvSpPr>
          <p:cNvPr id="23" name="Rectangle 23"/>
          <p:cNvSpPr/>
          <p:nvPr/>
        </p:nvSpPr>
        <p:spPr>
          <a:xfrm>
            <a:off x="552450" y="4286250"/>
            <a:ext cx="5286375" cy="2047875"/>
          </a:xfrm>
          <a:prstGeom prst="roundRect">
            <a:avLst>
              <a:gd name="adj" fmla="val 1860"/>
            </a:avLst>
          </a:prstGeom>
          <a:solidFill>
            <a:srgbClr val="F0F4F8"/>
          </a:solidFill>
          <a:ln>
            <a:noFill/>
          </a:ln>
        </p:spPr>
      </p:sp>
      <p:sp>
        <p:nvSpPr>
          <p:cNvPr id="24" name="Rectangle 24"/>
          <p:cNvSpPr/>
          <p:nvPr/>
        </p:nvSpPr>
        <p:spPr>
          <a:xfrm>
            <a:off x="552450" y="4286250"/>
            <a:ext cx="5286375" cy="47625"/>
          </a:xfrm>
          <a:prstGeom prst="roundRect">
            <a:avLst>
              <a:gd name="adj" fmla="val 40000"/>
            </a:avLst>
          </a:prstGeom>
          <a:solidFill>
            <a:srgbClr val="4A90D9"/>
          </a:solidFill>
          <a:ln>
            <a:noFill/>
          </a:ln>
        </p:spPr>
      </p:sp>
      <p:sp>
        <p:nvSpPr>
          <p:cNvPr id="25" name="Freeform 25"/>
          <p:cNvSpPr/>
          <p:nvPr/>
        </p:nvSpPr>
        <p:spPr>
          <a:xfrm>
            <a:off x="828675" y="4514850"/>
            <a:ext cx="285750" cy="381000"/>
          </a:xfrm>
          <a:custGeom>
            <a:avLst/>
            <a:gdLst/>
            <a:ahLst/>
            <a:cxnLst/>
            <a:rect l="l" t="t" r="r" b="b"/>
            <a:pathLst>
              <a:path w="285750" h="381000">
                <a:moveTo>
                  <a:pt x="47625" y="142875"/>
                </a:moveTo>
                <a:lnTo>
                  <a:pt x="47625" y="95250"/>
                </a:lnTo>
                <a:cubicBezTo>
                  <a:pt x="47625" y="42645"/>
                  <a:pt x="90270" y="0"/>
                  <a:pt x="142875" y="0"/>
                </a:cubicBezTo>
                <a:cubicBezTo>
                  <a:pt x="195479" y="0"/>
                  <a:pt x="238125" y="42645"/>
                  <a:pt x="238125" y="95250"/>
                </a:cubicBezTo>
                <a:lnTo>
                  <a:pt x="238125" y="142875"/>
                </a:lnTo>
                <a:lnTo>
                  <a:pt x="285750" y="142875"/>
                </a:lnTo>
                <a:lnTo>
                  <a:pt x="285750" y="381000"/>
                </a:lnTo>
                <a:lnTo>
                  <a:pt x="0" y="381000"/>
                </a:lnTo>
                <a:lnTo>
                  <a:pt x="0" y="142875"/>
                </a:lnTo>
                <a:lnTo>
                  <a:pt x="47625" y="142875"/>
                </a:lnTo>
                <a:close/>
                <a:moveTo>
                  <a:pt x="95250" y="95250"/>
                </a:moveTo>
                <a:cubicBezTo>
                  <a:pt x="95250" y="68947"/>
                  <a:pt x="116572" y="47625"/>
                  <a:pt x="142875" y="47625"/>
                </a:cubicBezTo>
                <a:cubicBezTo>
                  <a:pt x="169178" y="47625"/>
                  <a:pt x="190500" y="68947"/>
                  <a:pt x="190500" y="95250"/>
                </a:cubicBezTo>
                <a:lnTo>
                  <a:pt x="190500" y="142875"/>
                </a:lnTo>
                <a:lnTo>
                  <a:pt x="95250" y="142875"/>
                </a:lnTo>
                <a:lnTo>
                  <a:pt x="95250" y="95250"/>
                </a:lnTo>
                <a:close/>
                <a:moveTo>
                  <a:pt x="119062" y="309562"/>
                </a:moveTo>
                <a:lnTo>
                  <a:pt x="119062" y="214312"/>
                </a:lnTo>
                <a:lnTo>
                  <a:pt x="166688" y="214312"/>
                </a:lnTo>
                <a:lnTo>
                  <a:pt x="166688" y="309562"/>
                </a:lnTo>
                <a:lnTo>
                  <a:pt x="119062" y="309562"/>
                </a:lnTo>
                <a:close/>
              </a:path>
            </a:pathLst>
          </a:custGeom>
          <a:solidFill>
            <a:srgbClr val="4A90D9"/>
          </a:solidFill>
          <a:ln>
            <a:noFill/>
          </a:ln>
        </p:spPr>
      </p:sp>
      <p:sp>
        <p:nvSpPr>
          <p:cNvPr id="26" name="TextBox 26"/>
          <p:cNvSpPr txBox="1"/>
          <p:nvPr/>
        </p:nvSpPr>
        <p:spPr>
          <a:xfrm>
            <a:off x="1293495" y="4565332"/>
            <a:ext cx="966026" cy="335280"/>
          </a:xfrm>
          <a:prstGeom prst="rect">
            <a:avLst/>
          </a:prstGeom>
          <a:noFill/>
          <a:ln>
            <a:noFill/>
          </a:ln>
        </p:spPr>
        <p:txBody>
          <a:bodyPr wrap="none" lIns="0" tIns="0" rIns="0" bIns="0" anchor="t" anchorCtr="0">
            <a:spAutoFit/>
          </a:bodyPr>
          <a:lstStyle/>
          <a:p>
            <a:pPr algn="l"/>
            <a:r>
              <a:rPr lang="zh-CN" sz="1650" b="1" dirty="0">
                <a:solidFill>
                  <a:srgbClr val="4A90D9"/>
                </a:solidFill>
                <a:latin typeface="Arial"/>
                <a:ea typeface="SimHei"/>
                <a:cs typeface="Arial"/>
              </a:rPr>
              <a:t>合规前置</a:t>
            </a:r>
          </a:p>
        </p:txBody>
      </p:sp>
      <p:sp>
        <p:nvSpPr>
          <p:cNvPr id="27" name="TextBox 27"/>
          <p:cNvSpPr txBox="1"/>
          <p:nvPr/>
        </p:nvSpPr>
        <p:spPr>
          <a:xfrm>
            <a:off x="1301115" y="4858702"/>
            <a:ext cx="1846898"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个人授权与审计留痕贯穿全程</a:t>
            </a:r>
          </a:p>
        </p:txBody>
      </p:sp>
      <p:sp>
        <p:nvSpPr>
          <p:cNvPr id="28" name="Line 28"/>
          <p:cNvSpPr/>
          <p:nvPr/>
        </p:nvSpPr>
        <p:spPr>
          <a:xfrm>
            <a:off x="781050" y="5067300"/>
            <a:ext cx="4867275" cy="9525"/>
          </a:xfrm>
          <a:custGeom>
            <a:avLst/>
            <a:gdLst/>
            <a:ahLst/>
            <a:cxnLst/>
            <a:rect l="l" t="t" r="r" b="b"/>
            <a:pathLst>
              <a:path w="4867275" h="9525">
                <a:moveTo>
                  <a:pt x="0" y="0"/>
                </a:moveTo>
                <a:lnTo>
                  <a:pt x="4867275" y="0"/>
                </a:lnTo>
              </a:path>
            </a:pathLst>
          </a:custGeom>
          <a:noFill/>
          <a:ln w="9525">
            <a:solidFill>
              <a:srgbClr val="CBD5E0"/>
            </a:solidFill>
          </a:ln>
        </p:spPr>
      </p:sp>
      <p:sp>
        <p:nvSpPr>
          <p:cNvPr id="29" name="TextBox 29"/>
          <p:cNvSpPr txBox="1"/>
          <p:nvPr/>
        </p:nvSpPr>
        <p:spPr>
          <a:xfrm>
            <a:off x="765810" y="5204460"/>
            <a:ext cx="2164080" cy="98679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个人授权、企业委托、</a:t>
            </a:r>
            <a:r>
              <a:rPr lang="zh-CN" sz="1200" dirty="0">
                <a:solidFill>
                  <a:srgbClr val="1A1A2E"/>
                </a:solidFill>
                <a:latin typeface="Arial"/>
                <a:ea typeface="Microsoft YaHei"/>
                <a:cs typeface="Arial"/>
              </a:rPr>
              <a:t>用途限定、审计留痕贯穿全程，</a:t>
            </a:r>
            <a:r>
              <a:rPr lang="zh-CN" sz="1200" dirty="0">
                <a:solidFill>
                  <a:srgbClr val="1A1A2E"/>
                </a:solidFill>
                <a:latin typeface="Arial"/>
                <a:ea typeface="Microsoft YaHei"/>
                <a:cs typeface="Arial"/>
              </a:rPr>
              <a:t>确保数据处理边界清晰，</a:t>
            </a:r>
            <a:r>
              <a:rPr lang="zh-CN" sz="1200" dirty="0">
                <a:solidFill>
                  <a:srgbClr val="1A1A2E"/>
                </a:solidFill>
                <a:latin typeface="Arial"/>
                <a:ea typeface="Microsoft YaHei"/>
                <a:cs typeface="Arial"/>
              </a:rPr>
              <a:t>构建企业和个人的信任基础。</a:t>
            </a:r>
          </a:p>
        </p:txBody>
      </p:sp>
      <p:sp>
        <p:nvSpPr>
          <p:cNvPr id="30" name="Rectangle 30"/>
          <p:cNvSpPr/>
          <p:nvPr/>
        </p:nvSpPr>
        <p:spPr>
          <a:xfrm>
            <a:off x="6353175" y="4286250"/>
            <a:ext cx="5286375" cy="2047875"/>
          </a:xfrm>
          <a:prstGeom prst="roundRect">
            <a:avLst>
              <a:gd name="adj" fmla="val 1860"/>
            </a:avLst>
          </a:prstGeom>
          <a:solidFill>
            <a:srgbClr val="F0F4F8"/>
          </a:solidFill>
          <a:ln>
            <a:noFill/>
          </a:ln>
        </p:spPr>
      </p:sp>
      <p:sp>
        <p:nvSpPr>
          <p:cNvPr id="31" name="Rectangle 31"/>
          <p:cNvSpPr/>
          <p:nvPr/>
        </p:nvSpPr>
        <p:spPr>
          <a:xfrm>
            <a:off x="6353175" y="4286250"/>
            <a:ext cx="5286375" cy="47625"/>
          </a:xfrm>
          <a:prstGeom prst="roundRect">
            <a:avLst>
              <a:gd name="adj" fmla="val 40000"/>
            </a:avLst>
          </a:prstGeom>
          <a:solidFill>
            <a:srgbClr val="2D7D46"/>
          </a:solidFill>
          <a:ln>
            <a:noFill/>
          </a:ln>
        </p:spPr>
      </p:sp>
      <p:grpSp>
        <p:nvGrpSpPr>
          <p:cNvPr id="35" name="Group 35"/>
          <p:cNvGrpSpPr/>
          <p:nvPr/>
        </p:nvGrpSpPr>
        <p:grpSpPr>
          <a:xfrm>
            <a:off x="6581775" y="4538662"/>
            <a:ext cx="381000" cy="333375"/>
            <a:chOff x="6581775" y="4538662"/>
            <a:chExt cx="381000" cy="333375"/>
          </a:xfrm>
        </p:grpSpPr>
        <p:sp>
          <p:nvSpPr>
            <p:cNvPr id="32" name="Freeform 32"/>
            <p:cNvSpPr/>
            <p:nvPr/>
          </p:nvSpPr>
          <p:spPr>
            <a:xfrm>
              <a:off x="6867525" y="4538662"/>
              <a:ext cx="95250" cy="333375"/>
            </a:xfrm>
            <a:custGeom>
              <a:avLst/>
              <a:gdLst/>
              <a:ahLst/>
              <a:cxnLst/>
              <a:rect l="l" t="t" r="r" b="b"/>
              <a:pathLst>
                <a:path w="95250" h="333375">
                  <a:moveTo>
                    <a:pt x="95250" y="0"/>
                  </a:moveTo>
                  <a:lnTo>
                    <a:pt x="0" y="0"/>
                  </a:lnTo>
                  <a:lnTo>
                    <a:pt x="0" y="333375"/>
                  </a:lnTo>
                  <a:lnTo>
                    <a:pt x="95250" y="333375"/>
                  </a:lnTo>
                  <a:lnTo>
                    <a:pt x="95250" y="0"/>
                  </a:lnTo>
                  <a:close/>
                </a:path>
              </a:pathLst>
            </a:custGeom>
            <a:solidFill>
              <a:srgbClr val="2D7D46"/>
            </a:solidFill>
            <a:ln>
              <a:noFill/>
            </a:ln>
          </p:spPr>
        </p:sp>
        <p:sp>
          <p:nvSpPr>
            <p:cNvPr id="33" name="Freeform 33"/>
            <p:cNvSpPr/>
            <p:nvPr/>
          </p:nvSpPr>
          <p:spPr>
            <a:xfrm>
              <a:off x="6724650" y="4633912"/>
              <a:ext cx="95250" cy="238125"/>
            </a:xfrm>
            <a:custGeom>
              <a:avLst/>
              <a:gdLst/>
              <a:ahLst/>
              <a:cxnLst/>
              <a:rect l="l" t="t" r="r" b="b"/>
              <a:pathLst>
                <a:path w="95250" h="238125">
                  <a:moveTo>
                    <a:pt x="0" y="0"/>
                  </a:moveTo>
                  <a:lnTo>
                    <a:pt x="95250" y="0"/>
                  </a:lnTo>
                  <a:lnTo>
                    <a:pt x="95250" y="238125"/>
                  </a:lnTo>
                  <a:lnTo>
                    <a:pt x="0" y="238125"/>
                  </a:lnTo>
                  <a:lnTo>
                    <a:pt x="0" y="0"/>
                  </a:lnTo>
                  <a:close/>
                </a:path>
              </a:pathLst>
            </a:custGeom>
            <a:solidFill>
              <a:srgbClr val="2D7D46"/>
            </a:solidFill>
            <a:ln>
              <a:noFill/>
            </a:ln>
          </p:spPr>
        </p:sp>
        <p:sp>
          <p:nvSpPr>
            <p:cNvPr id="34" name="Freeform 34"/>
            <p:cNvSpPr/>
            <p:nvPr/>
          </p:nvSpPr>
          <p:spPr>
            <a:xfrm>
              <a:off x="6581775" y="4729162"/>
              <a:ext cx="95250" cy="142875"/>
            </a:xfrm>
            <a:custGeom>
              <a:avLst/>
              <a:gdLst/>
              <a:ahLst/>
              <a:cxnLst/>
              <a:rect l="l" t="t" r="r" b="b"/>
              <a:pathLst>
                <a:path w="95250" h="142875">
                  <a:moveTo>
                    <a:pt x="0" y="0"/>
                  </a:moveTo>
                  <a:lnTo>
                    <a:pt x="95250" y="0"/>
                  </a:lnTo>
                  <a:lnTo>
                    <a:pt x="95250" y="142875"/>
                  </a:lnTo>
                  <a:lnTo>
                    <a:pt x="0" y="142875"/>
                  </a:lnTo>
                  <a:lnTo>
                    <a:pt x="0" y="0"/>
                  </a:lnTo>
                  <a:close/>
                </a:path>
              </a:pathLst>
            </a:custGeom>
            <a:solidFill>
              <a:srgbClr val="2D7D46"/>
            </a:solidFill>
            <a:ln>
              <a:noFill/>
            </a:ln>
          </p:spPr>
        </p:sp>
      </p:grpSp>
      <p:sp>
        <p:nvSpPr>
          <p:cNvPr id="36" name="TextBox 36"/>
          <p:cNvSpPr txBox="1"/>
          <p:nvPr/>
        </p:nvSpPr>
        <p:spPr>
          <a:xfrm>
            <a:off x="7094220" y="4565332"/>
            <a:ext cx="966026" cy="335280"/>
          </a:xfrm>
          <a:prstGeom prst="rect">
            <a:avLst/>
          </a:prstGeom>
          <a:noFill/>
          <a:ln>
            <a:noFill/>
          </a:ln>
        </p:spPr>
        <p:txBody>
          <a:bodyPr wrap="none" lIns="0" tIns="0" rIns="0" bIns="0" anchor="t" anchorCtr="0">
            <a:spAutoFit/>
          </a:bodyPr>
          <a:lstStyle/>
          <a:p>
            <a:pPr algn="l"/>
            <a:r>
              <a:rPr lang="zh-CN" sz="1650" b="1" dirty="0">
                <a:solidFill>
                  <a:srgbClr val="2D7D46"/>
                </a:solidFill>
                <a:latin typeface="Arial"/>
                <a:ea typeface="SimHei"/>
                <a:cs typeface="Arial"/>
              </a:rPr>
              <a:t>数据沉淀</a:t>
            </a:r>
          </a:p>
        </p:txBody>
      </p:sp>
      <p:sp>
        <p:nvSpPr>
          <p:cNvPr id="37" name="TextBox 37"/>
          <p:cNvSpPr txBox="1"/>
          <p:nvPr/>
        </p:nvSpPr>
        <p:spPr>
          <a:xfrm>
            <a:off x="7101840" y="4858702"/>
            <a:ext cx="1706880"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资产化运营，构建长期壁垒</a:t>
            </a:r>
          </a:p>
        </p:txBody>
      </p:sp>
      <p:sp>
        <p:nvSpPr>
          <p:cNvPr id="38" name="Line 38"/>
          <p:cNvSpPr/>
          <p:nvPr/>
        </p:nvSpPr>
        <p:spPr>
          <a:xfrm>
            <a:off x="6581775" y="5067300"/>
            <a:ext cx="4867275" cy="9525"/>
          </a:xfrm>
          <a:custGeom>
            <a:avLst/>
            <a:gdLst/>
            <a:ahLst/>
            <a:cxnLst/>
            <a:rect l="l" t="t" r="r" b="b"/>
            <a:pathLst>
              <a:path w="4867275" h="9525">
                <a:moveTo>
                  <a:pt x="0" y="0"/>
                </a:moveTo>
                <a:lnTo>
                  <a:pt x="4867275" y="0"/>
                </a:lnTo>
              </a:path>
            </a:pathLst>
          </a:custGeom>
          <a:noFill/>
          <a:ln w="9525">
            <a:solidFill>
              <a:srgbClr val="CBD5E0"/>
            </a:solidFill>
          </a:ln>
        </p:spPr>
      </p:sp>
      <p:sp>
        <p:nvSpPr>
          <p:cNvPr id="39" name="TextBox 39"/>
          <p:cNvSpPr txBox="1"/>
          <p:nvPr/>
        </p:nvSpPr>
        <p:spPr>
          <a:xfrm>
            <a:off x="6566535" y="5204460"/>
            <a:ext cx="2011680" cy="98679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重点沉淀：题库、核验规则、</a:t>
            </a:r>
            <a:r>
              <a:rPr lang="zh-CN" sz="1200" dirty="0">
                <a:solidFill>
                  <a:srgbClr val="1A1A2E"/>
                </a:solidFill>
                <a:latin typeface="Arial"/>
                <a:ea typeface="Microsoft YaHei"/>
                <a:cs typeface="Arial"/>
              </a:rPr>
              <a:t>能力标签、聚合分析结果。</a:t>
            </a:r>
            <a:r>
              <a:rPr lang="zh-CN" sz="1200" dirty="0">
                <a:solidFill>
                  <a:srgbClr val="1A1A2E"/>
                </a:solidFill>
                <a:latin typeface="Arial"/>
                <a:ea typeface="Microsoft YaHei"/>
                <a:cs typeface="Arial"/>
              </a:rPr>
              <a:t>数据资产是中电联可信核验</a:t>
            </a:r>
            <a:r>
              <a:rPr lang="zh-CN" sz="1200" dirty="0">
                <a:solidFill>
                  <a:srgbClr val="1A1A2E"/>
                </a:solidFill>
                <a:latin typeface="Arial"/>
                <a:ea typeface="Microsoft YaHei"/>
                <a:cs typeface="Arial"/>
              </a:rPr>
              <a:t>长期竞争壁垒的核心来源。</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962398"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第二章 · 总体方案</a:t>
            </a:r>
          </a:p>
        </p:txBody>
      </p:sp>
      <p:sp>
        <p:nvSpPr>
          <p:cNvPr id="4" name="TextBox 4"/>
          <p:cNvSpPr txBox="1"/>
          <p:nvPr/>
        </p:nvSpPr>
        <p:spPr>
          <a:xfrm>
            <a:off x="525780" y="1183005"/>
            <a:ext cx="5728249"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建设目标：先行验证 → 产品成型 → 规模推广</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Polygon 6"/>
          <p:cNvSpPr/>
          <p:nvPr/>
        </p:nvSpPr>
        <p:spPr>
          <a:xfrm>
            <a:off x="552450" y="1857375"/>
            <a:ext cx="3543300" cy="3048000"/>
          </a:xfrm>
          <a:custGeom>
            <a:avLst/>
            <a:gdLst/>
            <a:ahLst/>
            <a:cxnLst/>
            <a:rect l="l" t="t" r="r" b="b"/>
            <a:pathLst>
              <a:path w="3543300" h="3048000">
                <a:moveTo>
                  <a:pt x="0" y="0"/>
                </a:moveTo>
                <a:lnTo>
                  <a:pt x="3162300" y="0"/>
                </a:lnTo>
                <a:lnTo>
                  <a:pt x="3543300" y="1524000"/>
                </a:lnTo>
                <a:lnTo>
                  <a:pt x="3162300" y="3048000"/>
                </a:lnTo>
                <a:lnTo>
                  <a:pt x="0" y="3048000"/>
                </a:lnTo>
                <a:close/>
              </a:path>
            </a:pathLst>
          </a:custGeom>
          <a:solidFill>
            <a:srgbClr val="003A70"/>
          </a:solidFill>
          <a:ln>
            <a:noFill/>
          </a:ln>
        </p:spPr>
      </p:sp>
      <p:sp>
        <p:nvSpPr>
          <p:cNvPr id="7" name="Polygon 7"/>
          <p:cNvSpPr/>
          <p:nvPr/>
        </p:nvSpPr>
        <p:spPr>
          <a:xfrm>
            <a:off x="3714750" y="1857375"/>
            <a:ext cx="685800" cy="3048000"/>
          </a:xfrm>
          <a:custGeom>
            <a:avLst/>
            <a:gdLst/>
            <a:ahLst/>
            <a:cxnLst/>
            <a:rect l="l" t="t" r="r" b="b"/>
            <a:pathLst>
              <a:path w="685800" h="3048000">
                <a:moveTo>
                  <a:pt x="0" y="0"/>
                </a:moveTo>
                <a:lnTo>
                  <a:pt x="304800" y="0"/>
                </a:lnTo>
                <a:lnTo>
                  <a:pt x="685800" y="1524000"/>
                </a:lnTo>
                <a:lnTo>
                  <a:pt x="304800" y="3048000"/>
                </a:lnTo>
                <a:lnTo>
                  <a:pt x="0" y="3048000"/>
                </a:lnTo>
                <a:close/>
              </a:path>
            </a:pathLst>
          </a:custGeom>
          <a:solidFill>
            <a:srgbClr val="003A70">
              <a:alpha val="70000"/>
            </a:srgbClr>
          </a:solidFill>
          <a:ln>
            <a:noFill/>
          </a:ln>
        </p:spPr>
      </p:sp>
      <p:sp>
        <p:nvSpPr>
          <p:cNvPr id="8" name="Polygon 8"/>
          <p:cNvSpPr/>
          <p:nvPr/>
        </p:nvSpPr>
        <p:spPr>
          <a:xfrm>
            <a:off x="4191000" y="1857375"/>
            <a:ext cx="3238500" cy="3048000"/>
          </a:xfrm>
          <a:custGeom>
            <a:avLst/>
            <a:gdLst/>
            <a:ahLst/>
            <a:cxnLst/>
            <a:rect l="l" t="t" r="r" b="b"/>
            <a:pathLst>
              <a:path w="3238500" h="3048000">
                <a:moveTo>
                  <a:pt x="0" y="0"/>
                </a:moveTo>
                <a:lnTo>
                  <a:pt x="2857500" y="0"/>
                </a:lnTo>
                <a:lnTo>
                  <a:pt x="3238500" y="1524000"/>
                </a:lnTo>
                <a:lnTo>
                  <a:pt x="2857500" y="3048000"/>
                </a:lnTo>
                <a:lnTo>
                  <a:pt x="0" y="3048000"/>
                </a:lnTo>
                <a:close/>
              </a:path>
            </a:pathLst>
          </a:custGeom>
          <a:solidFill>
            <a:srgbClr val="0077CC"/>
          </a:solidFill>
          <a:ln>
            <a:noFill/>
          </a:ln>
        </p:spPr>
      </p:sp>
      <p:sp>
        <p:nvSpPr>
          <p:cNvPr id="9" name="Polygon 9"/>
          <p:cNvSpPr/>
          <p:nvPr/>
        </p:nvSpPr>
        <p:spPr>
          <a:xfrm>
            <a:off x="7048500" y="1857375"/>
            <a:ext cx="685800" cy="3048000"/>
          </a:xfrm>
          <a:custGeom>
            <a:avLst/>
            <a:gdLst/>
            <a:ahLst/>
            <a:cxnLst/>
            <a:rect l="l" t="t" r="r" b="b"/>
            <a:pathLst>
              <a:path w="685800" h="3048000">
                <a:moveTo>
                  <a:pt x="0" y="0"/>
                </a:moveTo>
                <a:lnTo>
                  <a:pt x="304800" y="0"/>
                </a:lnTo>
                <a:lnTo>
                  <a:pt x="685800" y="1524000"/>
                </a:lnTo>
                <a:lnTo>
                  <a:pt x="304800" y="3048000"/>
                </a:lnTo>
                <a:lnTo>
                  <a:pt x="0" y="3048000"/>
                </a:lnTo>
                <a:close/>
              </a:path>
            </a:pathLst>
          </a:custGeom>
          <a:solidFill>
            <a:srgbClr val="0077CC">
              <a:alpha val="70000"/>
            </a:srgbClr>
          </a:solidFill>
          <a:ln>
            <a:noFill/>
          </a:ln>
        </p:spPr>
      </p:sp>
      <p:sp>
        <p:nvSpPr>
          <p:cNvPr id="10" name="Polygon 10"/>
          <p:cNvSpPr/>
          <p:nvPr/>
        </p:nvSpPr>
        <p:spPr>
          <a:xfrm>
            <a:off x="7524750" y="1857375"/>
            <a:ext cx="4114800" cy="3048000"/>
          </a:xfrm>
          <a:custGeom>
            <a:avLst/>
            <a:gdLst/>
            <a:ahLst/>
            <a:cxnLst/>
            <a:rect l="l" t="t" r="r" b="b"/>
            <a:pathLst>
              <a:path w="4114800" h="3048000">
                <a:moveTo>
                  <a:pt x="0" y="0"/>
                </a:moveTo>
                <a:lnTo>
                  <a:pt x="3562350" y="0"/>
                </a:lnTo>
                <a:lnTo>
                  <a:pt x="4114800" y="1524000"/>
                </a:lnTo>
                <a:lnTo>
                  <a:pt x="3562350" y="3048000"/>
                </a:lnTo>
                <a:lnTo>
                  <a:pt x="0" y="3048000"/>
                </a:lnTo>
                <a:close/>
              </a:path>
            </a:pathLst>
          </a:custGeom>
          <a:solidFill>
            <a:srgbClr val="4A90D9"/>
          </a:solidFill>
          <a:ln>
            <a:noFill/>
          </a:ln>
        </p:spPr>
      </p:sp>
      <p:sp>
        <p:nvSpPr>
          <p:cNvPr id="11" name="TextBox 11"/>
          <p:cNvSpPr txBox="1"/>
          <p:nvPr/>
        </p:nvSpPr>
        <p:spPr>
          <a:xfrm>
            <a:off x="1727835" y="2256949"/>
            <a:ext cx="544830" cy="198120"/>
          </a:xfrm>
          <a:prstGeom prst="rect">
            <a:avLst/>
          </a:prstGeom>
          <a:noFill/>
          <a:ln>
            <a:noFill/>
          </a:ln>
        </p:spPr>
        <p:txBody>
          <a:bodyPr wrap="none" lIns="0" tIns="0" rIns="0" bIns="0" anchor="t" anchorCtr="0">
            <a:spAutoFit/>
          </a:bodyPr>
          <a:lstStyle/>
          <a:p>
            <a:pPr algn="ctr"/>
            <a:r>
              <a:rPr lang="zh-CN" sz="975" dirty="0">
                <a:solidFill>
                  <a:srgbClr val="FFFFFF">
                    <a:alphaMod val="75000"/>
                  </a:srgbClr>
                </a:solidFill>
                <a:latin typeface="Arial"/>
                <a:ea typeface="SimHei"/>
                <a:cs typeface="Arial"/>
              </a:rPr>
              <a:t>第一阶段</a:t>
            </a:r>
          </a:p>
        </p:txBody>
      </p:sp>
      <p:sp>
        <p:nvSpPr>
          <p:cNvPr id="12" name="TextBox 12"/>
          <p:cNvSpPr txBox="1"/>
          <p:nvPr/>
        </p:nvSpPr>
        <p:spPr>
          <a:xfrm>
            <a:off x="1401723" y="246983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SimHei"/>
                <a:cs typeface="Arial"/>
              </a:rPr>
              <a:t>先行验证期</a:t>
            </a:r>
          </a:p>
        </p:txBody>
      </p:sp>
      <p:sp>
        <p:nvSpPr>
          <p:cNvPr id="13" name="TextBox 13"/>
          <p:cNvSpPr txBox="1"/>
          <p:nvPr/>
        </p:nvSpPr>
        <p:spPr>
          <a:xfrm>
            <a:off x="1828443" y="2812256"/>
            <a:ext cx="343614" cy="228600"/>
          </a:xfrm>
          <a:prstGeom prst="rect">
            <a:avLst/>
          </a:prstGeom>
          <a:noFill/>
          <a:ln>
            <a:noFill/>
          </a:ln>
        </p:spPr>
        <p:txBody>
          <a:bodyPr wrap="none" lIns="0" tIns="0" rIns="0" bIns="0" anchor="t" anchorCtr="0">
            <a:spAutoFit/>
          </a:bodyPr>
          <a:lstStyle/>
          <a:p>
            <a:pPr algn="ctr"/>
            <a:r>
              <a:rPr lang="zh-CN" sz="1125" dirty="0">
                <a:solidFill>
                  <a:srgbClr val="E8EDF3"/>
                </a:solidFill>
                <a:latin typeface="Arial"/>
                <a:ea typeface="Microsoft YaHei"/>
                <a:cs typeface="Arial"/>
              </a:rPr>
              <a:t>90天</a:t>
            </a:r>
          </a:p>
        </p:txBody>
      </p:sp>
      <p:sp>
        <p:nvSpPr>
          <p:cNvPr id="14" name="Line 14"/>
          <p:cNvSpPr/>
          <p:nvPr/>
        </p:nvSpPr>
        <p:spPr>
          <a:xfrm>
            <a:off x="952500" y="3067050"/>
            <a:ext cx="2381250" cy="9525"/>
          </a:xfrm>
          <a:custGeom>
            <a:avLst/>
            <a:gdLst/>
            <a:ahLst/>
            <a:cxnLst/>
            <a:rect l="l" t="t" r="r" b="b"/>
            <a:pathLst>
              <a:path w="2381250" h="9525">
                <a:moveTo>
                  <a:pt x="0" y="0"/>
                </a:moveTo>
                <a:lnTo>
                  <a:pt x="2381250" y="0"/>
                </a:lnTo>
              </a:path>
            </a:pathLst>
          </a:custGeom>
          <a:noFill/>
          <a:ln w="9525">
            <a:solidFill>
              <a:srgbClr val="FFFFFF">
                <a:alpha val="30000"/>
              </a:srgbClr>
            </a:solidFill>
          </a:ln>
        </p:spPr>
      </p:sp>
      <p:sp>
        <p:nvSpPr>
          <p:cNvPr id="15" name="TextBox 15"/>
          <p:cNvSpPr txBox="1"/>
          <p:nvPr/>
        </p:nvSpPr>
        <p:spPr>
          <a:xfrm>
            <a:off x="1678876" y="3201352"/>
            <a:ext cx="642747"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1家企业</a:t>
            </a:r>
          </a:p>
        </p:txBody>
      </p:sp>
      <p:sp>
        <p:nvSpPr>
          <p:cNvPr id="16" name="TextBox 16"/>
          <p:cNvSpPr txBox="1"/>
          <p:nvPr/>
        </p:nvSpPr>
        <p:spPr>
          <a:xfrm>
            <a:off x="1251823" y="3429952"/>
            <a:ext cx="1496854"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300–500人 / 3–5岗位</a:t>
            </a:r>
          </a:p>
        </p:txBody>
      </p:sp>
      <p:sp>
        <p:nvSpPr>
          <p:cNvPr id="17" name="TextBox 17"/>
          <p:cNvSpPr txBox="1"/>
          <p:nvPr/>
        </p:nvSpPr>
        <p:spPr>
          <a:xfrm>
            <a:off x="1507355" y="3658552"/>
            <a:ext cx="98579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完整核验闭环</a:t>
            </a:r>
          </a:p>
        </p:txBody>
      </p:sp>
      <p:sp>
        <p:nvSpPr>
          <p:cNvPr id="18" name="TextBox 18"/>
          <p:cNvSpPr txBox="1"/>
          <p:nvPr/>
        </p:nvSpPr>
        <p:spPr>
          <a:xfrm>
            <a:off x="1507355" y="3887152"/>
            <a:ext cx="98579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验证报告交付</a:t>
            </a:r>
          </a:p>
        </p:txBody>
      </p:sp>
      <p:sp>
        <p:nvSpPr>
          <p:cNvPr id="19" name="TextBox 19"/>
          <p:cNvSpPr txBox="1"/>
          <p:nvPr/>
        </p:nvSpPr>
        <p:spPr>
          <a:xfrm>
            <a:off x="5490210" y="2256949"/>
            <a:ext cx="544830" cy="198120"/>
          </a:xfrm>
          <a:prstGeom prst="rect">
            <a:avLst/>
          </a:prstGeom>
          <a:noFill/>
          <a:ln>
            <a:noFill/>
          </a:ln>
        </p:spPr>
        <p:txBody>
          <a:bodyPr wrap="none" lIns="0" tIns="0" rIns="0" bIns="0" anchor="t" anchorCtr="0">
            <a:spAutoFit/>
          </a:bodyPr>
          <a:lstStyle/>
          <a:p>
            <a:pPr algn="ctr"/>
            <a:r>
              <a:rPr lang="zh-CN" sz="975" dirty="0">
                <a:solidFill>
                  <a:srgbClr val="FFFFFF">
                    <a:alphaMod val="75000"/>
                  </a:srgbClr>
                </a:solidFill>
                <a:latin typeface="Arial"/>
                <a:ea typeface="SimHei"/>
                <a:cs typeface="Arial"/>
              </a:rPr>
              <a:t>第二阶段</a:t>
            </a:r>
          </a:p>
        </p:txBody>
      </p:sp>
      <p:sp>
        <p:nvSpPr>
          <p:cNvPr id="20" name="TextBox 20"/>
          <p:cNvSpPr txBox="1"/>
          <p:nvPr/>
        </p:nvSpPr>
        <p:spPr>
          <a:xfrm>
            <a:off x="5164098" y="246983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SimHei"/>
                <a:cs typeface="Arial"/>
              </a:rPr>
              <a:t>产品成型期</a:t>
            </a:r>
          </a:p>
        </p:txBody>
      </p:sp>
      <p:sp>
        <p:nvSpPr>
          <p:cNvPr id="21" name="TextBox 21"/>
          <p:cNvSpPr txBox="1"/>
          <p:nvPr/>
        </p:nvSpPr>
        <p:spPr>
          <a:xfrm>
            <a:off x="5433298" y="2812256"/>
            <a:ext cx="658654" cy="228600"/>
          </a:xfrm>
          <a:prstGeom prst="rect">
            <a:avLst/>
          </a:prstGeom>
          <a:noFill/>
          <a:ln>
            <a:noFill/>
          </a:ln>
        </p:spPr>
        <p:txBody>
          <a:bodyPr wrap="none" lIns="0" tIns="0" rIns="0" bIns="0" anchor="t" anchorCtr="0">
            <a:spAutoFit/>
          </a:bodyPr>
          <a:lstStyle/>
          <a:p>
            <a:pPr algn="ctr"/>
            <a:r>
              <a:rPr lang="zh-CN" sz="1125" dirty="0">
                <a:solidFill>
                  <a:srgbClr val="E8EDF3"/>
                </a:solidFill>
                <a:latin typeface="Arial"/>
                <a:ea typeface="Microsoft YaHei"/>
                <a:cs typeface="Arial"/>
              </a:rPr>
              <a:t>6–12个月</a:t>
            </a:r>
          </a:p>
        </p:txBody>
      </p:sp>
      <p:sp>
        <p:nvSpPr>
          <p:cNvPr id="22" name="Line 22"/>
          <p:cNvSpPr/>
          <p:nvPr/>
        </p:nvSpPr>
        <p:spPr>
          <a:xfrm>
            <a:off x="4381500" y="3067050"/>
            <a:ext cx="2667000" cy="9525"/>
          </a:xfrm>
          <a:custGeom>
            <a:avLst/>
            <a:gdLst/>
            <a:ahLst/>
            <a:cxnLst/>
            <a:rect l="l" t="t" r="r" b="b"/>
            <a:pathLst>
              <a:path w="2667000" h="9525">
                <a:moveTo>
                  <a:pt x="0" y="0"/>
                </a:moveTo>
                <a:lnTo>
                  <a:pt x="2667000" y="0"/>
                </a:lnTo>
              </a:path>
            </a:pathLst>
          </a:custGeom>
          <a:noFill/>
          <a:ln w="9525">
            <a:solidFill>
              <a:srgbClr val="FFFFFF">
                <a:alpha val="30000"/>
              </a:srgbClr>
            </a:solidFill>
          </a:ln>
        </p:spPr>
      </p:sp>
      <p:sp>
        <p:nvSpPr>
          <p:cNvPr id="23" name="TextBox 23"/>
          <p:cNvSpPr txBox="1"/>
          <p:nvPr/>
        </p:nvSpPr>
        <p:spPr>
          <a:xfrm>
            <a:off x="5129713" y="3201352"/>
            <a:ext cx="126582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多家会员企业接入</a:t>
            </a:r>
          </a:p>
        </p:txBody>
      </p:sp>
      <p:sp>
        <p:nvSpPr>
          <p:cNvPr id="24" name="TextBox 24"/>
          <p:cNvSpPr txBox="1"/>
          <p:nvPr/>
        </p:nvSpPr>
        <p:spPr>
          <a:xfrm>
            <a:off x="5199721" y="3429952"/>
            <a:ext cx="1125807"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企业年度服务包</a:t>
            </a:r>
          </a:p>
        </p:txBody>
      </p:sp>
      <p:sp>
        <p:nvSpPr>
          <p:cNvPr id="25" name="TextBox 25"/>
          <p:cNvSpPr txBox="1"/>
          <p:nvPr/>
        </p:nvSpPr>
        <p:spPr>
          <a:xfrm>
            <a:off x="5199721" y="3658552"/>
            <a:ext cx="1125807"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核验接口标准化</a:t>
            </a:r>
          </a:p>
        </p:txBody>
      </p:sp>
      <p:sp>
        <p:nvSpPr>
          <p:cNvPr id="26" name="TextBox 26"/>
          <p:cNvSpPr txBox="1"/>
          <p:nvPr/>
        </p:nvSpPr>
        <p:spPr>
          <a:xfrm>
            <a:off x="5129713" y="3887152"/>
            <a:ext cx="126582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共享题库稳定运营</a:t>
            </a:r>
          </a:p>
        </p:txBody>
      </p:sp>
      <p:sp>
        <p:nvSpPr>
          <p:cNvPr id="27" name="TextBox 27"/>
          <p:cNvSpPr txBox="1"/>
          <p:nvPr/>
        </p:nvSpPr>
        <p:spPr>
          <a:xfrm>
            <a:off x="9300210" y="2256949"/>
            <a:ext cx="544830" cy="198120"/>
          </a:xfrm>
          <a:prstGeom prst="rect">
            <a:avLst/>
          </a:prstGeom>
          <a:noFill/>
          <a:ln>
            <a:noFill/>
          </a:ln>
        </p:spPr>
        <p:txBody>
          <a:bodyPr wrap="none" lIns="0" tIns="0" rIns="0" bIns="0" anchor="t" anchorCtr="0">
            <a:spAutoFit/>
          </a:bodyPr>
          <a:lstStyle/>
          <a:p>
            <a:pPr algn="ctr"/>
            <a:r>
              <a:rPr lang="zh-CN" sz="975" dirty="0">
                <a:solidFill>
                  <a:srgbClr val="FFFFFF">
                    <a:alphaMod val="75000"/>
                  </a:srgbClr>
                </a:solidFill>
                <a:latin typeface="Arial"/>
                <a:ea typeface="SimHei"/>
                <a:cs typeface="Arial"/>
              </a:rPr>
              <a:t>第三阶段</a:t>
            </a:r>
          </a:p>
        </p:txBody>
      </p:sp>
      <p:sp>
        <p:nvSpPr>
          <p:cNvPr id="28" name="TextBox 28"/>
          <p:cNvSpPr txBox="1"/>
          <p:nvPr/>
        </p:nvSpPr>
        <p:spPr>
          <a:xfrm>
            <a:off x="8974098" y="2469832"/>
            <a:ext cx="119705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SimHei"/>
                <a:cs typeface="Arial"/>
              </a:rPr>
              <a:t>规模推广期</a:t>
            </a:r>
          </a:p>
        </p:txBody>
      </p:sp>
      <p:sp>
        <p:nvSpPr>
          <p:cNvPr id="29" name="TextBox 29"/>
          <p:cNvSpPr txBox="1"/>
          <p:nvPr/>
        </p:nvSpPr>
        <p:spPr>
          <a:xfrm>
            <a:off x="9258300" y="2812256"/>
            <a:ext cx="628650" cy="228600"/>
          </a:xfrm>
          <a:prstGeom prst="rect">
            <a:avLst/>
          </a:prstGeom>
          <a:noFill/>
          <a:ln>
            <a:noFill/>
          </a:ln>
        </p:spPr>
        <p:txBody>
          <a:bodyPr wrap="none" lIns="0" tIns="0" rIns="0" bIns="0" anchor="t" anchorCtr="0">
            <a:spAutoFit/>
          </a:bodyPr>
          <a:lstStyle/>
          <a:p>
            <a:pPr algn="ctr"/>
            <a:r>
              <a:rPr lang="zh-CN" sz="1125" dirty="0">
                <a:solidFill>
                  <a:srgbClr val="E8EDF3"/>
                </a:solidFill>
                <a:latin typeface="Arial"/>
                <a:ea typeface="Microsoft YaHei"/>
                <a:cs typeface="Arial"/>
              </a:rPr>
              <a:t>远期目标</a:t>
            </a:r>
          </a:p>
        </p:txBody>
      </p:sp>
      <p:sp>
        <p:nvSpPr>
          <p:cNvPr id="30" name="Line 30"/>
          <p:cNvSpPr/>
          <p:nvPr/>
        </p:nvSpPr>
        <p:spPr>
          <a:xfrm>
            <a:off x="7810500" y="3067050"/>
            <a:ext cx="3524250" cy="9525"/>
          </a:xfrm>
          <a:custGeom>
            <a:avLst/>
            <a:gdLst/>
            <a:ahLst/>
            <a:cxnLst/>
            <a:rect l="l" t="t" r="r" b="b"/>
            <a:pathLst>
              <a:path w="3524250" h="9525">
                <a:moveTo>
                  <a:pt x="0" y="0"/>
                </a:moveTo>
                <a:lnTo>
                  <a:pt x="3524250" y="0"/>
                </a:lnTo>
              </a:path>
            </a:pathLst>
          </a:custGeom>
          <a:noFill/>
          <a:ln w="9525">
            <a:solidFill>
              <a:srgbClr val="FFFFFF">
                <a:alpha val="30000"/>
              </a:srgbClr>
            </a:solidFill>
          </a:ln>
        </p:spPr>
      </p:sp>
      <p:sp>
        <p:nvSpPr>
          <p:cNvPr id="31" name="TextBox 31"/>
          <p:cNvSpPr txBox="1"/>
          <p:nvPr/>
        </p:nvSpPr>
        <p:spPr>
          <a:xfrm>
            <a:off x="8939713" y="3201352"/>
            <a:ext cx="126582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行业可信核验网络</a:t>
            </a:r>
          </a:p>
        </p:txBody>
      </p:sp>
      <p:sp>
        <p:nvSpPr>
          <p:cNvPr id="32" name="TextBox 32"/>
          <p:cNvSpPr txBox="1"/>
          <p:nvPr/>
        </p:nvSpPr>
        <p:spPr>
          <a:xfrm>
            <a:off x="9009721" y="3429952"/>
            <a:ext cx="1125807"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跨企业记录复用</a:t>
            </a:r>
          </a:p>
        </p:txBody>
      </p:sp>
      <p:sp>
        <p:nvSpPr>
          <p:cNvPr id="33" name="TextBox 33"/>
          <p:cNvSpPr txBox="1"/>
          <p:nvPr/>
        </p:nvSpPr>
        <p:spPr>
          <a:xfrm>
            <a:off x="8939713" y="3658552"/>
            <a:ext cx="126582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数据基础设施示范</a:t>
            </a:r>
          </a:p>
        </p:txBody>
      </p:sp>
      <p:sp>
        <p:nvSpPr>
          <p:cNvPr id="34" name="TextBox 34"/>
          <p:cNvSpPr txBox="1"/>
          <p:nvPr/>
        </p:nvSpPr>
        <p:spPr>
          <a:xfrm>
            <a:off x="8869704" y="3887152"/>
            <a:ext cx="1405842"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 行业分析产品规模化</a:t>
            </a:r>
          </a:p>
        </p:txBody>
      </p:sp>
      <p:sp>
        <p:nvSpPr>
          <p:cNvPr id="35" name="Rectangle 35"/>
          <p:cNvSpPr/>
          <p:nvPr/>
        </p:nvSpPr>
        <p:spPr>
          <a:xfrm>
            <a:off x="552450" y="5095875"/>
            <a:ext cx="3381375" cy="1333500"/>
          </a:xfrm>
          <a:prstGeom prst="roundRect">
            <a:avLst>
              <a:gd name="adj" fmla="val 2143"/>
            </a:avLst>
          </a:prstGeom>
          <a:solidFill>
            <a:srgbClr val="F0F4F8"/>
          </a:solidFill>
          <a:ln>
            <a:noFill/>
          </a:ln>
        </p:spPr>
      </p:sp>
      <p:sp>
        <p:nvSpPr>
          <p:cNvPr id="36" name="TextBox 36"/>
          <p:cNvSpPr txBox="1"/>
          <p:nvPr/>
        </p:nvSpPr>
        <p:spPr>
          <a:xfrm>
            <a:off x="711518" y="5228749"/>
            <a:ext cx="707350" cy="198120"/>
          </a:xfrm>
          <a:prstGeom prst="rect">
            <a:avLst/>
          </a:prstGeom>
          <a:noFill/>
          <a:ln>
            <a:noFill/>
          </a:ln>
        </p:spPr>
        <p:txBody>
          <a:bodyPr wrap="none" lIns="0" tIns="0" rIns="0" bIns="0" anchor="t" anchorCtr="0">
            <a:spAutoFit/>
          </a:bodyPr>
          <a:lstStyle/>
          <a:p>
            <a:pPr algn="l"/>
            <a:r>
              <a:rPr lang="zh-CN" sz="975" b="1" dirty="0">
                <a:solidFill>
                  <a:srgbClr val="003A70"/>
                </a:solidFill>
                <a:latin typeface="Arial"/>
                <a:ea typeface="SimHei"/>
                <a:cs typeface="Arial"/>
              </a:rPr>
              <a:t>核心交付物</a:t>
            </a:r>
          </a:p>
        </p:txBody>
      </p:sp>
      <p:sp>
        <p:nvSpPr>
          <p:cNvPr id="37" name="TextBox 37"/>
          <p:cNvSpPr txBox="1"/>
          <p:nvPr/>
        </p:nvSpPr>
        <p:spPr>
          <a:xfrm>
            <a:off x="710565" y="5468302"/>
            <a:ext cx="147351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完整核验闭环运行报告</a:t>
            </a:r>
            <a:r>
              <a:rPr lang="zh-CN" sz="1050" dirty="0">
                <a:solidFill>
                  <a:srgbClr val="1A1A2E"/>
                </a:solidFill>
                <a:latin typeface="Arial"/>
                <a:ea typeface="Microsoft YaHei"/>
                <a:cs typeface="Arial"/>
              </a:rPr>
              <a:t>· 效率提升量化评估</a:t>
            </a:r>
            <a:r>
              <a:rPr lang="zh-CN" sz="1050" dirty="0">
                <a:solidFill>
                  <a:srgbClr val="1A1A2E"/>
                </a:solidFill>
                <a:latin typeface="Arial"/>
                <a:ea typeface="Microsoft YaHei"/>
                <a:cs typeface="Arial"/>
              </a:rPr>
              <a:t>· 推广建议与产品清单</a:t>
            </a:r>
          </a:p>
        </p:txBody>
      </p:sp>
      <p:sp>
        <p:nvSpPr>
          <p:cNvPr id="38" name="Rectangle 38"/>
          <p:cNvSpPr/>
          <p:nvPr/>
        </p:nvSpPr>
        <p:spPr>
          <a:xfrm>
            <a:off x="4191000" y="5095875"/>
            <a:ext cx="3048000" cy="1333500"/>
          </a:xfrm>
          <a:prstGeom prst="roundRect">
            <a:avLst>
              <a:gd name="adj" fmla="val 2143"/>
            </a:avLst>
          </a:prstGeom>
          <a:solidFill>
            <a:srgbClr val="F0F4F8"/>
          </a:solidFill>
          <a:ln>
            <a:noFill/>
          </a:ln>
        </p:spPr>
      </p:sp>
      <p:sp>
        <p:nvSpPr>
          <p:cNvPr id="39" name="TextBox 39"/>
          <p:cNvSpPr txBox="1"/>
          <p:nvPr/>
        </p:nvSpPr>
        <p:spPr>
          <a:xfrm>
            <a:off x="4350068" y="5228749"/>
            <a:ext cx="707350" cy="198120"/>
          </a:xfrm>
          <a:prstGeom prst="rect">
            <a:avLst/>
          </a:prstGeom>
          <a:noFill/>
          <a:ln>
            <a:noFill/>
          </a:ln>
        </p:spPr>
        <p:txBody>
          <a:bodyPr wrap="none" lIns="0" tIns="0" rIns="0" bIns="0" anchor="t" anchorCtr="0">
            <a:spAutoFit/>
          </a:bodyPr>
          <a:lstStyle/>
          <a:p>
            <a:pPr algn="l"/>
            <a:r>
              <a:rPr lang="zh-CN" sz="975" b="1" dirty="0">
                <a:solidFill>
                  <a:srgbClr val="0077CC"/>
                </a:solidFill>
                <a:latin typeface="Arial"/>
                <a:ea typeface="SimHei"/>
                <a:cs typeface="Arial"/>
              </a:rPr>
              <a:t>核心交付物</a:t>
            </a:r>
          </a:p>
        </p:txBody>
      </p:sp>
      <p:sp>
        <p:nvSpPr>
          <p:cNvPr id="40" name="TextBox 40"/>
          <p:cNvSpPr txBox="1"/>
          <p:nvPr/>
        </p:nvSpPr>
        <p:spPr>
          <a:xfrm>
            <a:off x="4349115" y="5468302"/>
            <a:ext cx="120681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标准化服务产品包</a:t>
            </a:r>
            <a:r>
              <a:rPr lang="zh-CN" sz="1050" dirty="0">
                <a:solidFill>
                  <a:srgbClr val="1A1A2E"/>
                </a:solidFill>
                <a:latin typeface="Arial"/>
                <a:ea typeface="Microsoft YaHei"/>
                <a:cs typeface="Arial"/>
              </a:rPr>
              <a:t>· 核验接口规范文档</a:t>
            </a:r>
            <a:r>
              <a:rPr lang="zh-CN" sz="1050" dirty="0">
                <a:solidFill>
                  <a:srgbClr val="1A1A2E"/>
                </a:solidFill>
                <a:latin typeface="Arial"/>
                <a:ea typeface="Microsoft YaHei"/>
                <a:cs typeface="Arial"/>
              </a:rPr>
              <a:t>· 首批商业合同</a:t>
            </a:r>
          </a:p>
        </p:txBody>
      </p:sp>
      <p:sp>
        <p:nvSpPr>
          <p:cNvPr id="41" name="Rectangle 41"/>
          <p:cNvSpPr/>
          <p:nvPr/>
        </p:nvSpPr>
        <p:spPr>
          <a:xfrm>
            <a:off x="7524750" y="5095875"/>
            <a:ext cx="4114800" cy="1333500"/>
          </a:xfrm>
          <a:prstGeom prst="roundRect">
            <a:avLst>
              <a:gd name="adj" fmla="val 2143"/>
            </a:avLst>
          </a:prstGeom>
          <a:solidFill>
            <a:srgbClr val="F0F4F8"/>
          </a:solidFill>
          <a:ln>
            <a:noFill/>
          </a:ln>
        </p:spPr>
      </p:sp>
      <p:sp>
        <p:nvSpPr>
          <p:cNvPr id="42" name="TextBox 42"/>
          <p:cNvSpPr txBox="1"/>
          <p:nvPr/>
        </p:nvSpPr>
        <p:spPr>
          <a:xfrm>
            <a:off x="7683818" y="5228749"/>
            <a:ext cx="707350"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SimHei"/>
                <a:cs typeface="Arial"/>
              </a:rPr>
              <a:t>核心交付物</a:t>
            </a:r>
          </a:p>
        </p:txBody>
      </p:sp>
      <p:sp>
        <p:nvSpPr>
          <p:cNvPr id="43" name="TextBox 43"/>
          <p:cNvSpPr txBox="1"/>
          <p:nvPr/>
        </p:nvSpPr>
        <p:spPr>
          <a:xfrm>
            <a:off x="7682865" y="5468302"/>
            <a:ext cx="147351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行业核验网络节点覆盖</a:t>
            </a:r>
            <a:r>
              <a:rPr lang="zh-CN" sz="1050" dirty="0">
                <a:solidFill>
                  <a:srgbClr val="1A1A2E"/>
                </a:solidFill>
                <a:latin typeface="Arial"/>
                <a:ea typeface="Microsoft YaHei"/>
                <a:cs typeface="Arial"/>
              </a:rPr>
              <a:t>· 国家级示范应用案例</a:t>
            </a:r>
            <a:r>
              <a:rPr lang="zh-CN" sz="1050" dirty="0">
                <a:solidFill>
                  <a:srgbClr val="1A1A2E"/>
                </a:solidFill>
                <a:latin typeface="Arial"/>
                <a:ea typeface="Microsoft YaHei"/>
                <a:cs typeface="Arial"/>
              </a:rPr>
              <a:t>· 数据要素市场化成果</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962398"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第二章 · 总体方案</a:t>
            </a:r>
          </a:p>
        </p:txBody>
      </p:sp>
      <p:sp>
        <p:nvSpPr>
          <p:cNvPr id="4" name="TextBox 4"/>
          <p:cNvSpPr txBox="1"/>
          <p:nvPr/>
        </p:nvSpPr>
        <p:spPr>
          <a:xfrm>
            <a:off x="525780" y="1183005"/>
            <a:ext cx="9344901"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数据资源体系：安规训考 · 人员能力 · 证照资质 · 项目准入 · 行业聚合</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3748921" y="1688306"/>
            <a:ext cx="4694158"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五类资源共同构建"有权威、可核验、能分析"的行业安全能力数据体系</a:t>
            </a:r>
          </a:p>
        </p:txBody>
      </p:sp>
      <p:sp>
        <p:nvSpPr>
          <p:cNvPr id="7" name="Rectangle 7"/>
          <p:cNvSpPr/>
          <p:nvPr/>
        </p:nvSpPr>
        <p:spPr>
          <a:xfrm>
            <a:off x="552450" y="1952625"/>
            <a:ext cx="2105025" cy="4381500"/>
          </a:xfrm>
          <a:prstGeom prst="roundRect">
            <a:avLst>
              <a:gd name="adj" fmla="val 1357"/>
            </a:avLst>
          </a:prstGeom>
          <a:solidFill>
            <a:srgbClr val="003A70"/>
          </a:solidFill>
          <a:ln>
            <a:noFill/>
          </a:ln>
        </p:spPr>
      </p:sp>
      <p:grpSp>
        <p:nvGrpSpPr>
          <p:cNvPr id="10" name="Group 10"/>
          <p:cNvGrpSpPr/>
          <p:nvPr/>
        </p:nvGrpSpPr>
        <p:grpSpPr>
          <a:xfrm>
            <a:off x="1243012" y="2114550"/>
            <a:ext cx="257175" cy="342900"/>
            <a:chOff x="1243012" y="2114550"/>
            <a:chExt cx="257175" cy="342900"/>
          </a:xfrm>
        </p:grpSpPr>
        <p:sp>
          <p:nvSpPr>
            <p:cNvPr id="8" name="Freeform 8"/>
            <p:cNvSpPr/>
            <p:nvPr/>
          </p:nvSpPr>
          <p:spPr>
            <a:xfrm>
              <a:off x="1243012" y="2114550"/>
              <a:ext cx="257175" cy="342900"/>
            </a:xfrm>
            <a:custGeom>
              <a:avLst/>
              <a:gdLst/>
              <a:ahLst/>
              <a:cxnLst/>
              <a:rect l="l" t="t" r="r" b="b"/>
              <a:pathLst>
                <a:path w="257175" h="342900">
                  <a:moveTo>
                    <a:pt x="107156" y="0"/>
                  </a:moveTo>
                  <a:lnTo>
                    <a:pt x="0" y="0"/>
                  </a:lnTo>
                  <a:lnTo>
                    <a:pt x="0" y="342900"/>
                  </a:lnTo>
                  <a:lnTo>
                    <a:pt x="257175" y="342900"/>
                  </a:lnTo>
                  <a:lnTo>
                    <a:pt x="257175" y="150019"/>
                  </a:lnTo>
                  <a:lnTo>
                    <a:pt x="107156" y="150019"/>
                  </a:lnTo>
                  <a:lnTo>
                    <a:pt x="107156" y="0"/>
                  </a:lnTo>
                  <a:close/>
                </a:path>
              </a:pathLst>
            </a:custGeom>
            <a:solidFill>
              <a:srgbClr val="FFFFFF"/>
            </a:solidFill>
            <a:ln>
              <a:noFill/>
            </a:ln>
          </p:spPr>
        </p:sp>
        <p:sp>
          <p:nvSpPr>
            <p:cNvPr id="9" name="Freeform 9"/>
            <p:cNvSpPr/>
            <p:nvPr/>
          </p:nvSpPr>
          <p:spPr>
            <a:xfrm>
              <a:off x="1393031" y="2114550"/>
              <a:ext cx="107156" cy="107156"/>
            </a:xfrm>
            <a:custGeom>
              <a:avLst/>
              <a:gdLst/>
              <a:ahLst/>
              <a:cxnLst/>
              <a:rect l="l" t="t" r="r" b="b"/>
              <a:pathLst>
                <a:path w="107156" h="107156">
                  <a:moveTo>
                    <a:pt x="0" y="0"/>
                  </a:moveTo>
                  <a:lnTo>
                    <a:pt x="0" y="107156"/>
                  </a:lnTo>
                  <a:lnTo>
                    <a:pt x="107156" y="107156"/>
                  </a:lnTo>
                  <a:lnTo>
                    <a:pt x="0" y="0"/>
                  </a:lnTo>
                  <a:close/>
                </a:path>
              </a:pathLst>
            </a:custGeom>
            <a:solidFill>
              <a:srgbClr val="FFFFFF"/>
            </a:solidFill>
            <a:ln>
              <a:noFill/>
            </a:ln>
          </p:spPr>
        </p:sp>
      </p:grpSp>
      <p:sp>
        <p:nvSpPr>
          <p:cNvPr id="11" name="TextBox 11"/>
          <p:cNvSpPr txBox="1"/>
          <p:nvPr/>
        </p:nvSpPr>
        <p:spPr>
          <a:xfrm>
            <a:off x="1080897" y="21755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SimHei"/>
                <a:cs typeface="Arial"/>
              </a:rPr>
              <a:t>安规训考资源</a:t>
            </a:r>
          </a:p>
        </p:txBody>
      </p:sp>
      <p:sp>
        <p:nvSpPr>
          <p:cNvPr id="12" name="Line 12"/>
          <p:cNvSpPr/>
          <p:nvPr/>
        </p:nvSpPr>
        <p:spPr>
          <a:xfrm>
            <a:off x="742950" y="2533650"/>
            <a:ext cx="1724025" cy="9525"/>
          </a:xfrm>
          <a:custGeom>
            <a:avLst/>
            <a:gdLst/>
            <a:ahLst/>
            <a:cxnLst/>
            <a:rect l="l" t="t" r="r" b="b"/>
            <a:pathLst>
              <a:path w="1724025" h="9525">
                <a:moveTo>
                  <a:pt x="0" y="0"/>
                </a:moveTo>
                <a:lnTo>
                  <a:pt x="1724025" y="0"/>
                </a:lnTo>
              </a:path>
            </a:pathLst>
          </a:custGeom>
          <a:noFill/>
          <a:ln w="9525">
            <a:solidFill>
              <a:srgbClr val="FFFFFF">
                <a:alpha val="30000"/>
              </a:srgbClr>
            </a:solidFill>
          </a:ln>
        </p:spPr>
      </p:sp>
      <p:sp>
        <p:nvSpPr>
          <p:cNvPr id="13" name="TextBox 13"/>
          <p:cNvSpPr txBox="1"/>
          <p:nvPr/>
        </p:nvSpPr>
        <p:spPr>
          <a:xfrm>
            <a:off x="920115" y="2706052"/>
            <a:ext cx="1360170" cy="2194560"/>
          </a:xfrm>
          <a:prstGeom prst="rect">
            <a:avLst/>
          </a:prstGeom>
          <a:noFill/>
          <a:ln>
            <a:noFill/>
          </a:ln>
        </p:spPr>
        <p:txBody>
          <a:bodyPr wrap="square" lIns="0" tIns="0" rIns="0" bIns="0" anchor="t" anchorCtr="0"/>
          <a:lstStyle/>
          <a:p>
            <a:pPr algn="ctr">
              <a:lnSpc>
                <a:spcPts val="2100"/>
              </a:lnSpc>
            </a:pPr>
            <a:r>
              <a:rPr lang="zh-CN" sz="1050" dirty="0">
                <a:solidFill>
                  <a:srgbClr val="E8EDF3"/>
                </a:solidFill>
                <a:latin typeface="Arial"/>
                <a:ea typeface="Microsoft YaHei"/>
                <a:cs typeface="Arial"/>
              </a:rPr>
              <a:t>共享题库</a:t>
            </a:r>
            <a:r>
              <a:rPr lang="zh-CN" sz="1050" dirty="0">
                <a:solidFill>
                  <a:srgbClr val="E8EDF3"/>
                </a:solidFill>
                <a:latin typeface="Arial"/>
                <a:ea typeface="Microsoft YaHei"/>
                <a:cs typeface="Arial"/>
              </a:rPr>
              <a:t>（电力安规知识体系）</a:t>
            </a:r>
          </a:p>
          <a:p>
            <a:pPr algn="ctr">
              <a:lnSpc>
                <a:spcPts val="2100"/>
              </a:lnSpc>
              <a:spcBef>
                <a:spcPts val="300"/>
              </a:spcBef>
            </a:pPr>
            <a:r>
              <a:rPr lang="zh-CN" sz="1050" dirty="0">
                <a:solidFill>
                  <a:srgbClr val="E8EDF3"/>
                </a:solidFill>
                <a:latin typeface="Arial"/>
                <a:ea typeface="Microsoft YaHei"/>
                <a:cs typeface="Arial"/>
              </a:rPr>
              <a:t>项目专项题库</a:t>
            </a:r>
            <a:r>
              <a:rPr lang="zh-CN" sz="1050" dirty="0">
                <a:solidFill>
                  <a:srgbClr val="E8EDF3"/>
                </a:solidFill>
                <a:latin typeface="Arial"/>
                <a:ea typeface="Microsoft YaHei"/>
                <a:cs typeface="Arial"/>
              </a:rPr>
              <a:t>（按岗位工种定制）</a:t>
            </a:r>
          </a:p>
          <a:p>
            <a:pPr algn="ctr">
              <a:lnSpc>
                <a:spcPts val="2100"/>
              </a:lnSpc>
              <a:spcBef>
                <a:spcPts val="300"/>
              </a:spcBef>
            </a:pPr>
            <a:r>
              <a:rPr lang="zh-CN" sz="1050" dirty="0">
                <a:solidFill>
                  <a:srgbClr val="E8EDF3"/>
                </a:solidFill>
                <a:latin typeface="Arial"/>
                <a:ea typeface="Microsoft YaHei"/>
                <a:cs typeface="Arial"/>
              </a:rPr>
              <a:t>视频辨识题</a:t>
            </a:r>
            <a:r>
              <a:rPr lang="zh-CN" sz="1050" dirty="0">
                <a:solidFill>
                  <a:srgbClr val="E8EDF3"/>
                </a:solidFill>
                <a:latin typeface="Arial"/>
                <a:ea typeface="Microsoft YaHei"/>
                <a:cs typeface="Arial"/>
              </a:rPr>
              <a:t>（现场安全规范辨识）</a:t>
            </a:r>
          </a:p>
          <a:p>
            <a:pPr algn="ctr">
              <a:lnSpc>
                <a:spcPts val="2100"/>
              </a:lnSpc>
              <a:spcBef>
                <a:spcPts val="300"/>
              </a:spcBef>
            </a:pPr>
            <a:r>
              <a:rPr lang="zh-CN" sz="1050" dirty="0">
                <a:solidFill>
                  <a:srgbClr val="E8EDF3"/>
                </a:solidFill>
                <a:latin typeface="Arial"/>
                <a:ea typeface="Microsoft YaHei"/>
                <a:cs typeface="Arial"/>
              </a:rPr>
              <a:t>版本管理</a:t>
            </a:r>
            <a:r>
              <a:rPr lang="zh-CN" sz="1050" dirty="0">
                <a:solidFill>
                  <a:srgbClr val="E8EDF3"/>
                </a:solidFill>
                <a:latin typeface="Arial"/>
                <a:ea typeface="Microsoft YaHei"/>
                <a:cs typeface="Arial"/>
              </a:rPr>
              <a:t>（安规版本留痕追溯）</a:t>
            </a:r>
          </a:p>
        </p:txBody>
      </p:sp>
      <p:sp>
        <p:nvSpPr>
          <p:cNvPr id="14" name="Rectangle 14"/>
          <p:cNvSpPr/>
          <p:nvPr/>
        </p:nvSpPr>
        <p:spPr>
          <a:xfrm>
            <a:off x="2752725" y="1952625"/>
            <a:ext cx="2105025" cy="4381500"/>
          </a:xfrm>
          <a:prstGeom prst="roundRect">
            <a:avLst>
              <a:gd name="adj" fmla="val 1357"/>
            </a:avLst>
          </a:prstGeom>
          <a:solidFill>
            <a:srgbClr val="0077CC"/>
          </a:solidFill>
          <a:ln>
            <a:noFill/>
          </a:ln>
        </p:spPr>
      </p:sp>
      <p:grpSp>
        <p:nvGrpSpPr>
          <p:cNvPr id="19" name="Group 19"/>
          <p:cNvGrpSpPr/>
          <p:nvPr/>
        </p:nvGrpSpPr>
        <p:grpSpPr>
          <a:xfrm>
            <a:off x="3400425" y="2135981"/>
            <a:ext cx="342901" cy="300038"/>
            <a:chOff x="3400425" y="2135981"/>
            <a:chExt cx="342901" cy="300038"/>
          </a:xfrm>
        </p:grpSpPr>
        <p:sp>
          <p:nvSpPr>
            <p:cNvPr id="15" name="Freeform 15"/>
            <p:cNvSpPr/>
            <p:nvPr/>
          </p:nvSpPr>
          <p:spPr>
            <a:xfrm>
              <a:off x="3464719" y="2135981"/>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FFFFFF"/>
            </a:solidFill>
            <a:ln>
              <a:noFill/>
            </a:ln>
          </p:spPr>
        </p:sp>
        <p:sp>
          <p:nvSpPr>
            <p:cNvPr id="16" name="Freeform 16"/>
            <p:cNvSpPr/>
            <p:nvPr/>
          </p:nvSpPr>
          <p:spPr>
            <a:xfrm>
              <a:off x="3400425" y="2286000"/>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FFFFFF"/>
            </a:solidFill>
            <a:ln>
              <a:noFill/>
            </a:ln>
          </p:spPr>
        </p:sp>
        <p:sp>
          <p:nvSpPr>
            <p:cNvPr id="17" name="Freeform 17"/>
            <p:cNvSpPr/>
            <p:nvPr/>
          </p:nvSpPr>
          <p:spPr>
            <a:xfrm>
              <a:off x="3614738" y="2286000"/>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FFFFFF"/>
            </a:solidFill>
            <a:ln>
              <a:noFill/>
            </a:ln>
          </p:spPr>
        </p:sp>
        <p:sp>
          <p:nvSpPr>
            <p:cNvPr id="18" name="Freeform 18"/>
            <p:cNvSpPr/>
            <p:nvPr/>
          </p:nvSpPr>
          <p:spPr>
            <a:xfrm>
              <a:off x="3614738" y="2157412"/>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FFFFFF"/>
            </a:solidFill>
            <a:ln>
              <a:noFill/>
            </a:ln>
          </p:spPr>
        </p:sp>
      </p:grpSp>
      <p:sp>
        <p:nvSpPr>
          <p:cNvPr id="20" name="TextBox 20"/>
          <p:cNvSpPr txBox="1"/>
          <p:nvPr/>
        </p:nvSpPr>
        <p:spPr>
          <a:xfrm>
            <a:off x="3113151" y="2175510"/>
            <a:ext cx="1374648"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SimHei"/>
                <a:cs typeface="Arial"/>
              </a:rPr>
              <a:t>人员安全能力资源</a:t>
            </a:r>
          </a:p>
        </p:txBody>
      </p:sp>
      <p:sp>
        <p:nvSpPr>
          <p:cNvPr id="21" name="Line 21"/>
          <p:cNvSpPr/>
          <p:nvPr/>
        </p:nvSpPr>
        <p:spPr>
          <a:xfrm>
            <a:off x="2943225" y="2533650"/>
            <a:ext cx="1724025" cy="9525"/>
          </a:xfrm>
          <a:custGeom>
            <a:avLst/>
            <a:gdLst/>
            <a:ahLst/>
            <a:cxnLst/>
            <a:rect l="l" t="t" r="r" b="b"/>
            <a:pathLst>
              <a:path w="1724025" h="9525">
                <a:moveTo>
                  <a:pt x="0" y="0"/>
                </a:moveTo>
                <a:lnTo>
                  <a:pt x="1724025" y="0"/>
                </a:lnTo>
              </a:path>
            </a:pathLst>
          </a:custGeom>
          <a:noFill/>
          <a:ln w="9525">
            <a:solidFill>
              <a:srgbClr val="FFFFFF">
                <a:alpha val="30000"/>
              </a:srgbClr>
            </a:solidFill>
          </a:ln>
        </p:spPr>
      </p:sp>
      <p:sp>
        <p:nvSpPr>
          <p:cNvPr id="22" name="TextBox 22"/>
          <p:cNvSpPr txBox="1"/>
          <p:nvPr/>
        </p:nvSpPr>
        <p:spPr>
          <a:xfrm>
            <a:off x="3187065" y="2706052"/>
            <a:ext cx="1226820" cy="2194560"/>
          </a:xfrm>
          <a:prstGeom prst="rect">
            <a:avLst/>
          </a:prstGeom>
          <a:noFill/>
          <a:ln>
            <a:noFill/>
          </a:ln>
        </p:spPr>
        <p:txBody>
          <a:bodyPr wrap="square" lIns="0" tIns="0" rIns="0" bIns="0" anchor="t" anchorCtr="0"/>
          <a:lstStyle/>
          <a:p>
            <a:pPr algn="ctr">
              <a:lnSpc>
                <a:spcPts val="2100"/>
              </a:lnSpc>
            </a:pPr>
            <a:r>
              <a:rPr lang="zh-CN" sz="1050" dirty="0">
                <a:solidFill>
                  <a:srgbClr val="E8EDF3"/>
                </a:solidFill>
                <a:latin typeface="Arial"/>
                <a:ea typeface="Microsoft YaHei"/>
                <a:cs typeface="Arial"/>
              </a:rPr>
              <a:t>培训状态记录</a:t>
            </a:r>
            <a:r>
              <a:rPr lang="zh-CN" sz="1050" dirty="0">
                <a:solidFill>
                  <a:srgbClr val="E8EDF3"/>
                </a:solidFill>
                <a:latin typeface="Arial"/>
                <a:ea typeface="Microsoft YaHei"/>
                <a:cs typeface="Arial"/>
              </a:rPr>
              <a:t>（完成时间、课时）</a:t>
            </a:r>
          </a:p>
          <a:p>
            <a:pPr algn="ctr">
              <a:lnSpc>
                <a:spcPts val="2100"/>
              </a:lnSpc>
              <a:spcBef>
                <a:spcPts val="300"/>
              </a:spcBef>
            </a:pPr>
            <a:r>
              <a:rPr lang="zh-CN" sz="1050" dirty="0">
                <a:solidFill>
                  <a:srgbClr val="E8EDF3"/>
                </a:solidFill>
                <a:latin typeface="Arial"/>
                <a:ea typeface="Microsoft YaHei"/>
                <a:cs typeface="Arial"/>
              </a:rPr>
              <a:t>考试结果归档</a:t>
            </a:r>
            <a:r>
              <a:rPr lang="zh-CN" sz="1050" dirty="0">
                <a:solidFill>
                  <a:srgbClr val="E8EDF3"/>
                </a:solidFill>
                <a:latin typeface="Arial"/>
                <a:ea typeface="Microsoft YaHei"/>
                <a:cs typeface="Arial"/>
              </a:rPr>
              <a:t>（分数、通过状态）</a:t>
            </a:r>
          </a:p>
          <a:p>
            <a:pPr algn="ctr">
              <a:lnSpc>
                <a:spcPts val="2100"/>
              </a:lnSpc>
              <a:spcBef>
                <a:spcPts val="300"/>
              </a:spcBef>
            </a:pPr>
            <a:r>
              <a:rPr lang="zh-CN" sz="1050" dirty="0">
                <a:solidFill>
                  <a:srgbClr val="E8EDF3"/>
                </a:solidFill>
                <a:latin typeface="Arial"/>
                <a:ea typeface="Microsoft YaHei"/>
                <a:cs typeface="Arial"/>
              </a:rPr>
              <a:t>复训有效期管理</a:t>
            </a:r>
            <a:r>
              <a:rPr lang="zh-CN" sz="1050" dirty="0">
                <a:solidFill>
                  <a:srgbClr val="E8EDF3"/>
                </a:solidFill>
                <a:latin typeface="Arial"/>
                <a:ea typeface="Microsoft YaHei"/>
                <a:cs typeface="Arial"/>
              </a:rPr>
              <a:t>（到期自动提醒）</a:t>
            </a:r>
          </a:p>
          <a:p>
            <a:pPr algn="ctr">
              <a:lnSpc>
                <a:spcPts val="2100"/>
              </a:lnSpc>
              <a:spcBef>
                <a:spcPts val="300"/>
              </a:spcBef>
            </a:pPr>
            <a:r>
              <a:rPr lang="zh-CN" sz="1050" dirty="0">
                <a:solidFill>
                  <a:srgbClr val="E8EDF3"/>
                </a:solidFill>
                <a:latin typeface="Arial"/>
                <a:ea typeface="Microsoft YaHei"/>
                <a:cs typeface="Arial"/>
              </a:rPr>
              <a:t>能力标签</a:t>
            </a:r>
            <a:r>
              <a:rPr lang="zh-CN" sz="1050" dirty="0">
                <a:solidFill>
                  <a:srgbClr val="E8EDF3"/>
                </a:solidFill>
                <a:latin typeface="Arial"/>
                <a:ea typeface="Microsoft YaHei"/>
                <a:cs typeface="Arial"/>
              </a:rPr>
              <a:t>（岗位能力画像）</a:t>
            </a:r>
          </a:p>
        </p:txBody>
      </p:sp>
      <p:sp>
        <p:nvSpPr>
          <p:cNvPr id="23" name="Rectangle 23"/>
          <p:cNvSpPr/>
          <p:nvPr/>
        </p:nvSpPr>
        <p:spPr>
          <a:xfrm>
            <a:off x="4953000" y="1952625"/>
            <a:ext cx="2105025" cy="4381500"/>
          </a:xfrm>
          <a:prstGeom prst="roundRect">
            <a:avLst>
              <a:gd name="adj" fmla="val 1357"/>
            </a:avLst>
          </a:prstGeom>
          <a:solidFill>
            <a:srgbClr val="4A90D9"/>
          </a:solidFill>
          <a:ln>
            <a:noFill/>
          </a:ln>
        </p:spPr>
      </p:sp>
      <p:sp>
        <p:nvSpPr>
          <p:cNvPr id="24" name="Freeform 24"/>
          <p:cNvSpPr/>
          <p:nvPr/>
        </p:nvSpPr>
        <p:spPr>
          <a:xfrm>
            <a:off x="5600700" y="2114550"/>
            <a:ext cx="342900" cy="342900"/>
          </a:xfrm>
          <a:custGeom>
            <a:avLst/>
            <a:gdLst/>
            <a:ahLst/>
            <a:cxnLst/>
            <a:rect l="l" t="t" r="r" b="b"/>
            <a:pathLst>
              <a:path w="342900" h="342900">
                <a:moveTo>
                  <a:pt x="342900" y="171450"/>
                </a:moveTo>
                <a:cubicBezTo>
                  <a:pt x="342900" y="147456"/>
                  <a:pt x="331634" y="126092"/>
                  <a:pt x="314103" y="112362"/>
                </a:cubicBezTo>
                <a:cubicBezTo>
                  <a:pt x="316790" y="90257"/>
                  <a:pt x="309652" y="67184"/>
                  <a:pt x="292684" y="50218"/>
                </a:cubicBezTo>
                <a:cubicBezTo>
                  <a:pt x="275717" y="33251"/>
                  <a:pt x="252644" y="26111"/>
                  <a:pt x="230540" y="28799"/>
                </a:cubicBezTo>
                <a:cubicBezTo>
                  <a:pt x="216809" y="11267"/>
                  <a:pt x="195445" y="0"/>
                  <a:pt x="171450" y="0"/>
                </a:cubicBezTo>
                <a:cubicBezTo>
                  <a:pt x="147456" y="0"/>
                  <a:pt x="126092" y="11266"/>
                  <a:pt x="112362" y="28798"/>
                </a:cubicBezTo>
                <a:cubicBezTo>
                  <a:pt x="90257" y="26110"/>
                  <a:pt x="67184" y="33249"/>
                  <a:pt x="50217" y="50216"/>
                </a:cubicBezTo>
                <a:cubicBezTo>
                  <a:pt x="33250" y="67183"/>
                  <a:pt x="26111" y="90256"/>
                  <a:pt x="28798" y="112361"/>
                </a:cubicBezTo>
                <a:cubicBezTo>
                  <a:pt x="11267" y="126092"/>
                  <a:pt x="0" y="147455"/>
                  <a:pt x="0" y="171450"/>
                </a:cubicBezTo>
                <a:cubicBezTo>
                  <a:pt x="0" y="195444"/>
                  <a:pt x="11266" y="216807"/>
                  <a:pt x="28798" y="230538"/>
                </a:cubicBezTo>
                <a:cubicBezTo>
                  <a:pt x="26110" y="252644"/>
                  <a:pt x="33249" y="275717"/>
                  <a:pt x="50216" y="292682"/>
                </a:cubicBezTo>
                <a:cubicBezTo>
                  <a:pt x="67183" y="309649"/>
                  <a:pt x="90256" y="316790"/>
                  <a:pt x="112361" y="314101"/>
                </a:cubicBezTo>
                <a:cubicBezTo>
                  <a:pt x="126092" y="331634"/>
                  <a:pt x="147455" y="342900"/>
                  <a:pt x="171450" y="342900"/>
                </a:cubicBezTo>
                <a:cubicBezTo>
                  <a:pt x="195444" y="342900"/>
                  <a:pt x="216807" y="331634"/>
                  <a:pt x="230538" y="314103"/>
                </a:cubicBezTo>
                <a:cubicBezTo>
                  <a:pt x="252642" y="316790"/>
                  <a:pt x="275715" y="309652"/>
                  <a:pt x="292682" y="292684"/>
                </a:cubicBezTo>
                <a:cubicBezTo>
                  <a:pt x="309649" y="275717"/>
                  <a:pt x="316788" y="252644"/>
                  <a:pt x="314101" y="230540"/>
                </a:cubicBezTo>
                <a:cubicBezTo>
                  <a:pt x="331634" y="216809"/>
                  <a:pt x="342900" y="195445"/>
                  <a:pt x="342900" y="171450"/>
                </a:cubicBezTo>
                <a:close/>
              </a:path>
            </a:pathLst>
          </a:custGeom>
          <a:solidFill>
            <a:srgbClr val="FFFFFF"/>
          </a:solidFill>
          <a:ln>
            <a:noFill/>
          </a:ln>
        </p:spPr>
      </p:sp>
      <p:sp>
        <p:nvSpPr>
          <p:cNvPr id="25" name="TextBox 25"/>
          <p:cNvSpPr txBox="1"/>
          <p:nvPr/>
        </p:nvSpPr>
        <p:spPr>
          <a:xfrm>
            <a:off x="5229416" y="217551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SimHei"/>
                <a:cs typeface="Arial"/>
              </a:rPr>
              <a:t>证照与资质核验资源</a:t>
            </a:r>
          </a:p>
        </p:txBody>
      </p:sp>
      <p:sp>
        <p:nvSpPr>
          <p:cNvPr id="26" name="Line 26"/>
          <p:cNvSpPr/>
          <p:nvPr/>
        </p:nvSpPr>
        <p:spPr>
          <a:xfrm>
            <a:off x="5143500" y="2533650"/>
            <a:ext cx="1724025" cy="9525"/>
          </a:xfrm>
          <a:custGeom>
            <a:avLst/>
            <a:gdLst/>
            <a:ahLst/>
            <a:cxnLst/>
            <a:rect l="l" t="t" r="r" b="b"/>
            <a:pathLst>
              <a:path w="1724025" h="9525">
                <a:moveTo>
                  <a:pt x="0" y="0"/>
                </a:moveTo>
                <a:lnTo>
                  <a:pt x="1724025" y="0"/>
                </a:lnTo>
              </a:path>
            </a:pathLst>
          </a:custGeom>
          <a:noFill/>
          <a:ln w="9525">
            <a:solidFill>
              <a:srgbClr val="FFFFFF">
                <a:alpha val="30000"/>
              </a:srgbClr>
            </a:solidFill>
          </a:ln>
        </p:spPr>
      </p:sp>
      <p:sp>
        <p:nvSpPr>
          <p:cNvPr id="27" name="TextBox 27"/>
          <p:cNvSpPr txBox="1"/>
          <p:nvPr/>
        </p:nvSpPr>
        <p:spPr>
          <a:xfrm>
            <a:off x="5180648" y="2706052"/>
            <a:ext cx="1640205" cy="2194560"/>
          </a:xfrm>
          <a:prstGeom prst="rect">
            <a:avLst/>
          </a:prstGeom>
          <a:noFill/>
          <a:ln>
            <a:noFill/>
          </a:ln>
        </p:spPr>
        <p:txBody>
          <a:bodyPr wrap="square" lIns="0" tIns="0" rIns="0" bIns="0" anchor="t" anchorCtr="0"/>
          <a:lstStyle/>
          <a:p>
            <a:pPr algn="ctr">
              <a:lnSpc>
                <a:spcPts val="2100"/>
              </a:lnSpc>
            </a:pPr>
            <a:r>
              <a:rPr lang="zh-CN" sz="1050" dirty="0">
                <a:solidFill>
                  <a:srgbClr val="E8EDF3"/>
                </a:solidFill>
                <a:latin typeface="Arial"/>
                <a:ea typeface="Microsoft YaHei"/>
                <a:cs typeface="Arial"/>
              </a:rPr>
              <a:t>特种作业证查验</a:t>
            </a:r>
            <a:r>
              <a:rPr lang="zh-CN" sz="1050" dirty="0">
                <a:solidFill>
                  <a:srgbClr val="E8EDF3"/>
                </a:solidFill>
                <a:latin typeface="Arial"/>
                <a:ea typeface="Microsoft YaHei"/>
                <a:cs typeface="Arial"/>
              </a:rPr>
              <a:t>（焊接/电工/高处作业等）</a:t>
            </a:r>
          </a:p>
          <a:p>
            <a:pPr algn="ctr">
              <a:lnSpc>
                <a:spcPts val="2100"/>
              </a:lnSpc>
              <a:spcBef>
                <a:spcPts val="300"/>
              </a:spcBef>
            </a:pPr>
            <a:r>
              <a:rPr lang="zh-CN" sz="1050" dirty="0">
                <a:solidFill>
                  <a:srgbClr val="E8EDF3"/>
                </a:solidFill>
                <a:latin typeface="Arial"/>
                <a:ea typeface="Microsoft YaHei"/>
                <a:cs typeface="Arial"/>
              </a:rPr>
              <a:t>有效期核验</a:t>
            </a:r>
            <a:r>
              <a:rPr lang="zh-CN" sz="1050" dirty="0">
                <a:solidFill>
                  <a:srgbClr val="E8EDF3"/>
                </a:solidFill>
                <a:latin typeface="Arial"/>
                <a:ea typeface="Microsoft YaHei"/>
                <a:cs typeface="Arial"/>
              </a:rPr>
              <a:t>（权威渠道来源）</a:t>
            </a:r>
          </a:p>
          <a:p>
            <a:pPr algn="ctr">
              <a:lnSpc>
                <a:spcPts val="2100"/>
              </a:lnSpc>
              <a:spcBef>
                <a:spcPts val="300"/>
              </a:spcBef>
            </a:pPr>
            <a:r>
              <a:rPr lang="zh-CN" sz="1050" dirty="0">
                <a:solidFill>
                  <a:srgbClr val="E8EDF3"/>
                </a:solidFill>
                <a:latin typeface="Arial"/>
                <a:ea typeface="Microsoft YaHei"/>
                <a:cs typeface="Arial"/>
              </a:rPr>
              <a:t>证照真实性核验</a:t>
            </a:r>
            <a:r>
              <a:rPr lang="zh-CN" sz="1050" dirty="0">
                <a:solidFill>
                  <a:srgbClr val="E8EDF3"/>
                </a:solidFill>
                <a:latin typeface="Arial"/>
                <a:ea typeface="Microsoft YaHei"/>
                <a:cs typeface="Arial"/>
              </a:rPr>
              <a:t>（接入官方查验接口）</a:t>
            </a:r>
          </a:p>
          <a:p>
            <a:pPr algn="ctr">
              <a:lnSpc>
                <a:spcPts val="2100"/>
              </a:lnSpc>
              <a:spcBef>
                <a:spcPts val="300"/>
              </a:spcBef>
            </a:pPr>
            <a:r>
              <a:rPr lang="zh-CN" sz="1050" dirty="0">
                <a:solidFill>
                  <a:srgbClr val="E8EDF3"/>
                </a:solidFill>
                <a:latin typeface="Arial"/>
                <a:ea typeface="Microsoft YaHei"/>
                <a:cs typeface="Arial"/>
              </a:rPr>
              <a:t>到期预警</a:t>
            </a:r>
            <a:r>
              <a:rPr lang="zh-CN" sz="1050" dirty="0">
                <a:solidFill>
                  <a:srgbClr val="E8EDF3"/>
                </a:solidFill>
                <a:latin typeface="Arial"/>
                <a:ea typeface="Microsoft YaHei"/>
                <a:cs typeface="Arial"/>
              </a:rPr>
              <a:t>（提前30/60天提醒）</a:t>
            </a:r>
          </a:p>
        </p:txBody>
      </p:sp>
      <p:sp>
        <p:nvSpPr>
          <p:cNvPr id="28" name="Rectangle 28"/>
          <p:cNvSpPr/>
          <p:nvPr/>
        </p:nvSpPr>
        <p:spPr>
          <a:xfrm>
            <a:off x="7153275" y="1952625"/>
            <a:ext cx="2105025" cy="4381500"/>
          </a:xfrm>
          <a:prstGeom prst="roundRect">
            <a:avLst>
              <a:gd name="adj" fmla="val 1357"/>
            </a:avLst>
          </a:prstGeom>
          <a:solidFill>
            <a:srgbClr val="003A70">
              <a:alpha val="75000"/>
            </a:srgbClr>
          </a:solidFill>
          <a:ln>
            <a:noFill/>
          </a:ln>
        </p:spPr>
      </p:sp>
      <p:sp>
        <p:nvSpPr>
          <p:cNvPr id="29" name="Freeform 29"/>
          <p:cNvSpPr/>
          <p:nvPr/>
        </p:nvSpPr>
        <p:spPr>
          <a:xfrm>
            <a:off x="7800975" y="2114550"/>
            <a:ext cx="342900" cy="342900"/>
          </a:xfrm>
          <a:custGeom>
            <a:avLst/>
            <a:gdLst/>
            <a:ahLst/>
            <a:cxnLst/>
            <a:rect l="l" t="t" r="r" b="b"/>
            <a:pathLst>
              <a:path w="342900" h="342900">
                <a:moveTo>
                  <a:pt x="342900" y="117872"/>
                </a:moveTo>
                <a:cubicBezTo>
                  <a:pt x="342900" y="182971"/>
                  <a:pt x="290128" y="235744"/>
                  <a:pt x="225028" y="235744"/>
                </a:cubicBezTo>
                <a:lnTo>
                  <a:pt x="150019" y="235744"/>
                </a:lnTo>
                <a:lnTo>
                  <a:pt x="150019" y="278606"/>
                </a:lnTo>
                <a:lnTo>
                  <a:pt x="107156" y="278606"/>
                </a:lnTo>
                <a:lnTo>
                  <a:pt x="107156" y="321469"/>
                </a:lnTo>
                <a:lnTo>
                  <a:pt x="85725" y="342900"/>
                </a:lnTo>
                <a:lnTo>
                  <a:pt x="0" y="342900"/>
                </a:lnTo>
                <a:lnTo>
                  <a:pt x="0" y="257175"/>
                </a:lnTo>
                <a:lnTo>
                  <a:pt x="110660" y="146515"/>
                </a:lnTo>
                <a:cubicBezTo>
                  <a:pt x="108371" y="137345"/>
                  <a:pt x="107156" y="127750"/>
                  <a:pt x="107156" y="117872"/>
                </a:cubicBezTo>
                <a:cubicBezTo>
                  <a:pt x="107156" y="52773"/>
                  <a:pt x="159929" y="0"/>
                  <a:pt x="225028" y="0"/>
                </a:cubicBezTo>
                <a:cubicBezTo>
                  <a:pt x="290128" y="0"/>
                  <a:pt x="342900" y="52773"/>
                  <a:pt x="342900" y="117872"/>
                </a:cubicBezTo>
                <a:close/>
                <a:moveTo>
                  <a:pt x="278606" y="85725"/>
                </a:moveTo>
                <a:cubicBezTo>
                  <a:pt x="278606" y="97561"/>
                  <a:pt x="269011" y="107156"/>
                  <a:pt x="257175" y="107156"/>
                </a:cubicBezTo>
                <a:cubicBezTo>
                  <a:pt x="245339" y="107156"/>
                  <a:pt x="235744" y="97561"/>
                  <a:pt x="235744" y="85725"/>
                </a:cubicBezTo>
                <a:cubicBezTo>
                  <a:pt x="235744" y="73889"/>
                  <a:pt x="245339" y="64294"/>
                  <a:pt x="257175" y="64294"/>
                </a:cubicBezTo>
                <a:cubicBezTo>
                  <a:pt x="269011" y="64294"/>
                  <a:pt x="278606" y="73889"/>
                  <a:pt x="278606" y="85725"/>
                </a:cubicBezTo>
                <a:close/>
              </a:path>
            </a:pathLst>
          </a:custGeom>
          <a:solidFill>
            <a:srgbClr val="FFFFFF"/>
          </a:solidFill>
          <a:ln>
            <a:noFill/>
          </a:ln>
        </p:spPr>
      </p:sp>
      <p:sp>
        <p:nvSpPr>
          <p:cNvPr id="30" name="TextBox 30"/>
          <p:cNvSpPr txBox="1"/>
          <p:nvPr/>
        </p:nvSpPr>
        <p:spPr>
          <a:xfrm>
            <a:off x="7261670" y="2175510"/>
            <a:ext cx="1878711"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SimHei"/>
                <a:cs typeface="Arial"/>
              </a:rPr>
              <a:t>项目准入与作业场景资源</a:t>
            </a:r>
          </a:p>
        </p:txBody>
      </p:sp>
      <p:sp>
        <p:nvSpPr>
          <p:cNvPr id="31" name="Line 31"/>
          <p:cNvSpPr/>
          <p:nvPr/>
        </p:nvSpPr>
        <p:spPr>
          <a:xfrm>
            <a:off x="7343775" y="2533650"/>
            <a:ext cx="1724025" cy="9525"/>
          </a:xfrm>
          <a:custGeom>
            <a:avLst/>
            <a:gdLst/>
            <a:ahLst/>
            <a:cxnLst/>
            <a:rect l="l" t="t" r="r" b="b"/>
            <a:pathLst>
              <a:path w="1724025" h="9525">
                <a:moveTo>
                  <a:pt x="0" y="0"/>
                </a:moveTo>
                <a:lnTo>
                  <a:pt x="1724025" y="0"/>
                </a:lnTo>
              </a:path>
            </a:pathLst>
          </a:custGeom>
          <a:noFill/>
          <a:ln w="9525">
            <a:solidFill>
              <a:srgbClr val="FFFFFF">
                <a:alpha val="30000"/>
              </a:srgbClr>
            </a:solidFill>
          </a:ln>
        </p:spPr>
      </p:sp>
      <p:sp>
        <p:nvSpPr>
          <p:cNvPr id="32" name="TextBox 32"/>
          <p:cNvSpPr txBox="1"/>
          <p:nvPr/>
        </p:nvSpPr>
        <p:spPr>
          <a:xfrm>
            <a:off x="7454265" y="2706052"/>
            <a:ext cx="1493520" cy="2194560"/>
          </a:xfrm>
          <a:prstGeom prst="rect">
            <a:avLst/>
          </a:prstGeom>
          <a:noFill/>
          <a:ln>
            <a:noFill/>
          </a:ln>
        </p:spPr>
        <p:txBody>
          <a:bodyPr wrap="square" lIns="0" tIns="0" rIns="0" bIns="0" anchor="t" anchorCtr="0"/>
          <a:lstStyle/>
          <a:p>
            <a:pPr algn="ctr">
              <a:lnSpc>
                <a:spcPts val="2100"/>
              </a:lnSpc>
            </a:pPr>
            <a:r>
              <a:rPr lang="zh-CN" sz="1050" dirty="0">
                <a:solidFill>
                  <a:srgbClr val="E8EDF3"/>
                </a:solidFill>
                <a:latin typeface="Arial"/>
                <a:ea typeface="Microsoft YaHei"/>
                <a:cs typeface="Arial"/>
              </a:rPr>
              <a:t>准入规则配置</a:t>
            </a:r>
            <a:r>
              <a:rPr lang="zh-CN" sz="1050" dirty="0">
                <a:solidFill>
                  <a:srgbClr val="E8EDF3"/>
                </a:solidFill>
                <a:latin typeface="Arial"/>
                <a:ea typeface="Microsoft YaHei"/>
                <a:cs typeface="Arial"/>
              </a:rPr>
              <a:t>（按岗位工种定义条件）</a:t>
            </a:r>
          </a:p>
          <a:p>
            <a:pPr algn="ctr">
              <a:lnSpc>
                <a:spcPts val="2100"/>
              </a:lnSpc>
              <a:spcBef>
                <a:spcPts val="300"/>
              </a:spcBef>
            </a:pPr>
            <a:r>
              <a:rPr lang="zh-CN" sz="1050" dirty="0">
                <a:solidFill>
                  <a:srgbClr val="E8EDF3"/>
                </a:solidFill>
                <a:latin typeface="Arial"/>
                <a:ea typeface="Microsoft YaHei"/>
                <a:cs typeface="Arial"/>
              </a:rPr>
              <a:t>岗位工种目录</a:t>
            </a:r>
            <a:r>
              <a:rPr lang="zh-CN" sz="1050" dirty="0">
                <a:solidFill>
                  <a:srgbClr val="E8EDF3"/>
                </a:solidFill>
                <a:latin typeface="Arial"/>
                <a:ea typeface="Microsoft YaHei"/>
                <a:cs typeface="Arial"/>
              </a:rPr>
              <a:t>（覆盖外委典型岗位）</a:t>
            </a:r>
          </a:p>
          <a:p>
            <a:pPr algn="ctr">
              <a:lnSpc>
                <a:spcPts val="2100"/>
              </a:lnSpc>
              <a:spcBef>
                <a:spcPts val="300"/>
              </a:spcBef>
            </a:pPr>
            <a:r>
              <a:rPr lang="zh-CN" sz="1050" dirty="0">
                <a:solidFill>
                  <a:srgbClr val="E8EDF3"/>
                </a:solidFill>
                <a:latin typeface="Arial"/>
                <a:ea typeface="Microsoft YaHei"/>
                <a:cs typeface="Arial"/>
              </a:rPr>
              <a:t>现场风险标注</a:t>
            </a:r>
            <a:r>
              <a:rPr lang="zh-CN" sz="1050" dirty="0">
                <a:solidFill>
                  <a:srgbClr val="E8EDF3"/>
                </a:solidFill>
                <a:latin typeface="Arial"/>
                <a:ea typeface="Microsoft YaHei"/>
                <a:cs typeface="Arial"/>
              </a:rPr>
              <a:t>（危险等级关联）</a:t>
            </a:r>
          </a:p>
          <a:p>
            <a:pPr algn="ctr">
              <a:lnSpc>
                <a:spcPts val="2100"/>
              </a:lnSpc>
              <a:spcBef>
                <a:spcPts val="300"/>
              </a:spcBef>
            </a:pPr>
            <a:r>
              <a:rPr lang="zh-CN" sz="1050" dirty="0">
                <a:solidFill>
                  <a:srgbClr val="E8EDF3"/>
                </a:solidFill>
                <a:latin typeface="Arial"/>
                <a:ea typeface="Microsoft YaHei"/>
                <a:cs typeface="Arial"/>
              </a:rPr>
              <a:t>准入审批记录</a:t>
            </a:r>
            <a:r>
              <a:rPr lang="zh-CN" sz="1050" dirty="0">
                <a:solidFill>
                  <a:srgbClr val="E8EDF3"/>
                </a:solidFill>
                <a:latin typeface="Arial"/>
                <a:ea typeface="Microsoft YaHei"/>
                <a:cs typeface="Arial"/>
              </a:rPr>
              <a:t>（电子化留痕）</a:t>
            </a:r>
          </a:p>
        </p:txBody>
      </p:sp>
      <p:sp>
        <p:nvSpPr>
          <p:cNvPr id="33" name="Rectangle 33"/>
          <p:cNvSpPr/>
          <p:nvPr/>
        </p:nvSpPr>
        <p:spPr>
          <a:xfrm>
            <a:off x="9353550" y="1952625"/>
            <a:ext cx="2286000" cy="4381500"/>
          </a:xfrm>
          <a:prstGeom prst="roundRect">
            <a:avLst>
              <a:gd name="adj" fmla="val 1250"/>
            </a:avLst>
          </a:prstGeom>
          <a:solidFill>
            <a:srgbClr val="1A1A2E"/>
          </a:solidFill>
          <a:ln>
            <a:noFill/>
          </a:ln>
        </p:spPr>
      </p:sp>
      <p:grpSp>
        <p:nvGrpSpPr>
          <p:cNvPr id="37" name="Group 37"/>
          <p:cNvGrpSpPr/>
          <p:nvPr/>
        </p:nvGrpSpPr>
        <p:grpSpPr>
          <a:xfrm>
            <a:off x="10077450" y="2135981"/>
            <a:ext cx="342900" cy="300038"/>
            <a:chOff x="10077450" y="2135981"/>
            <a:chExt cx="342900" cy="300038"/>
          </a:xfrm>
        </p:grpSpPr>
        <p:sp>
          <p:nvSpPr>
            <p:cNvPr id="34" name="Freeform 34"/>
            <p:cNvSpPr/>
            <p:nvPr/>
          </p:nvSpPr>
          <p:spPr>
            <a:xfrm>
              <a:off x="10334625" y="2135981"/>
              <a:ext cx="85725" cy="300038"/>
            </a:xfrm>
            <a:custGeom>
              <a:avLst/>
              <a:gdLst/>
              <a:ahLst/>
              <a:cxnLst/>
              <a:rect l="l" t="t" r="r" b="b"/>
              <a:pathLst>
                <a:path w="85725" h="300038">
                  <a:moveTo>
                    <a:pt x="85725" y="0"/>
                  </a:moveTo>
                  <a:lnTo>
                    <a:pt x="0" y="0"/>
                  </a:lnTo>
                  <a:lnTo>
                    <a:pt x="0" y="300038"/>
                  </a:lnTo>
                  <a:lnTo>
                    <a:pt x="85725" y="300038"/>
                  </a:lnTo>
                  <a:lnTo>
                    <a:pt x="85725" y="0"/>
                  </a:lnTo>
                  <a:close/>
                </a:path>
              </a:pathLst>
            </a:custGeom>
            <a:solidFill>
              <a:srgbClr val="FFFFFF"/>
            </a:solidFill>
            <a:ln>
              <a:noFill/>
            </a:ln>
          </p:spPr>
        </p:sp>
        <p:sp>
          <p:nvSpPr>
            <p:cNvPr id="35" name="Freeform 35"/>
            <p:cNvSpPr/>
            <p:nvPr/>
          </p:nvSpPr>
          <p:spPr>
            <a:xfrm>
              <a:off x="10206038" y="2221706"/>
              <a:ext cx="85725" cy="214312"/>
            </a:xfrm>
            <a:custGeom>
              <a:avLst/>
              <a:gdLst/>
              <a:ahLst/>
              <a:cxnLst/>
              <a:rect l="l" t="t" r="r" b="b"/>
              <a:pathLst>
                <a:path w="85725" h="214312">
                  <a:moveTo>
                    <a:pt x="0" y="0"/>
                  </a:moveTo>
                  <a:lnTo>
                    <a:pt x="85725" y="0"/>
                  </a:lnTo>
                  <a:lnTo>
                    <a:pt x="85725" y="214312"/>
                  </a:lnTo>
                  <a:lnTo>
                    <a:pt x="0" y="214312"/>
                  </a:lnTo>
                  <a:lnTo>
                    <a:pt x="0" y="0"/>
                  </a:lnTo>
                  <a:close/>
                </a:path>
              </a:pathLst>
            </a:custGeom>
            <a:solidFill>
              <a:srgbClr val="FFFFFF"/>
            </a:solidFill>
            <a:ln>
              <a:noFill/>
            </a:ln>
          </p:spPr>
        </p:sp>
        <p:sp>
          <p:nvSpPr>
            <p:cNvPr id="36" name="Freeform 36"/>
            <p:cNvSpPr/>
            <p:nvPr/>
          </p:nvSpPr>
          <p:spPr>
            <a:xfrm>
              <a:off x="10077450" y="2307431"/>
              <a:ext cx="85725" cy="128588"/>
            </a:xfrm>
            <a:custGeom>
              <a:avLst/>
              <a:gdLst/>
              <a:ahLst/>
              <a:cxnLst/>
              <a:rect l="l" t="t" r="r" b="b"/>
              <a:pathLst>
                <a:path w="85725" h="128588">
                  <a:moveTo>
                    <a:pt x="0" y="0"/>
                  </a:moveTo>
                  <a:lnTo>
                    <a:pt x="85725" y="0"/>
                  </a:lnTo>
                  <a:lnTo>
                    <a:pt x="85725" y="128588"/>
                  </a:lnTo>
                  <a:lnTo>
                    <a:pt x="0" y="128588"/>
                  </a:lnTo>
                  <a:lnTo>
                    <a:pt x="0" y="0"/>
                  </a:lnTo>
                  <a:close/>
                </a:path>
              </a:pathLst>
            </a:custGeom>
            <a:solidFill>
              <a:srgbClr val="FFFFFF"/>
            </a:solidFill>
            <a:ln>
              <a:noFill/>
            </a:ln>
          </p:spPr>
        </p:sp>
      </p:grpSp>
      <p:sp>
        <p:nvSpPr>
          <p:cNvPr id="38" name="TextBox 38"/>
          <p:cNvSpPr txBox="1"/>
          <p:nvPr/>
        </p:nvSpPr>
        <p:spPr>
          <a:xfrm>
            <a:off x="9725216" y="2175510"/>
            <a:ext cx="154266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SimHei"/>
                <a:cs typeface="Arial"/>
              </a:rPr>
              <a:t>企业与行业聚合资源</a:t>
            </a:r>
          </a:p>
        </p:txBody>
      </p:sp>
      <p:sp>
        <p:nvSpPr>
          <p:cNvPr id="39" name="Line 39"/>
          <p:cNvSpPr/>
          <p:nvPr/>
        </p:nvSpPr>
        <p:spPr>
          <a:xfrm>
            <a:off x="9544050" y="2533650"/>
            <a:ext cx="1905000" cy="9525"/>
          </a:xfrm>
          <a:custGeom>
            <a:avLst/>
            <a:gdLst/>
            <a:ahLst/>
            <a:cxnLst/>
            <a:rect l="l" t="t" r="r" b="b"/>
            <a:pathLst>
              <a:path w="1905000" h="9525">
                <a:moveTo>
                  <a:pt x="0" y="0"/>
                </a:moveTo>
                <a:lnTo>
                  <a:pt x="1905000" y="0"/>
                </a:lnTo>
              </a:path>
            </a:pathLst>
          </a:custGeom>
          <a:noFill/>
          <a:ln w="9525">
            <a:solidFill>
              <a:srgbClr val="FFFFFF">
                <a:alpha val="30000"/>
              </a:srgbClr>
            </a:solidFill>
          </a:ln>
        </p:spPr>
      </p:sp>
      <p:sp>
        <p:nvSpPr>
          <p:cNvPr id="40" name="TextBox 40"/>
          <p:cNvSpPr txBox="1"/>
          <p:nvPr/>
        </p:nvSpPr>
        <p:spPr>
          <a:xfrm>
            <a:off x="9846469" y="2706052"/>
            <a:ext cx="1300162" cy="2194560"/>
          </a:xfrm>
          <a:prstGeom prst="rect">
            <a:avLst/>
          </a:prstGeom>
          <a:noFill/>
          <a:ln>
            <a:noFill/>
          </a:ln>
        </p:spPr>
        <p:txBody>
          <a:bodyPr wrap="square" lIns="0" tIns="0" rIns="0" bIns="0" anchor="t" anchorCtr="0"/>
          <a:lstStyle/>
          <a:p>
            <a:pPr algn="ctr">
              <a:lnSpc>
                <a:spcPts val="2100"/>
              </a:lnSpc>
            </a:pPr>
            <a:r>
              <a:rPr lang="zh-CN" sz="1050" dirty="0">
                <a:solidFill>
                  <a:srgbClr val="E8EDF3"/>
                </a:solidFill>
                <a:latin typeface="Arial"/>
                <a:ea typeface="Microsoft YaHei"/>
                <a:cs typeface="Arial"/>
              </a:rPr>
              <a:t>外委队伍结构分析</a:t>
            </a:r>
            <a:r>
              <a:rPr lang="zh-CN" sz="1050" dirty="0">
                <a:solidFill>
                  <a:srgbClr val="E8EDF3"/>
                </a:solidFill>
                <a:latin typeface="Arial"/>
                <a:ea typeface="Microsoft YaHei"/>
                <a:cs typeface="Arial"/>
              </a:rPr>
              <a:t>（规模/工种分布）</a:t>
            </a:r>
          </a:p>
          <a:p>
            <a:pPr algn="ctr">
              <a:lnSpc>
                <a:spcPts val="2100"/>
              </a:lnSpc>
              <a:spcBef>
                <a:spcPts val="300"/>
              </a:spcBef>
            </a:pPr>
            <a:r>
              <a:rPr lang="zh-CN" sz="1050" dirty="0">
                <a:solidFill>
                  <a:srgbClr val="E8EDF3"/>
                </a:solidFill>
                <a:latin typeface="Arial"/>
                <a:ea typeface="Microsoft YaHei"/>
                <a:cs typeface="Arial"/>
              </a:rPr>
              <a:t>复训缺口分析</a:t>
            </a:r>
            <a:r>
              <a:rPr lang="zh-CN" sz="1050" dirty="0">
                <a:solidFill>
                  <a:srgbClr val="E8EDF3"/>
                </a:solidFill>
                <a:latin typeface="Arial"/>
                <a:ea typeface="Microsoft YaHei"/>
                <a:cs typeface="Arial"/>
              </a:rPr>
              <a:t>（逾期率/覆盖缺口）</a:t>
            </a:r>
          </a:p>
          <a:p>
            <a:pPr algn="ctr">
              <a:lnSpc>
                <a:spcPts val="2100"/>
              </a:lnSpc>
              <a:spcBef>
                <a:spcPts val="300"/>
              </a:spcBef>
            </a:pPr>
            <a:r>
              <a:rPr lang="zh-CN" sz="1050" dirty="0">
                <a:solidFill>
                  <a:srgbClr val="E8EDF3"/>
                </a:solidFill>
                <a:latin typeface="Arial"/>
                <a:ea typeface="Microsoft YaHei"/>
                <a:cs typeface="Arial"/>
              </a:rPr>
              <a:t>证照异常分析</a:t>
            </a:r>
            <a:r>
              <a:rPr lang="zh-CN" sz="1050" dirty="0">
                <a:solidFill>
                  <a:srgbClr val="E8EDF3"/>
                </a:solidFill>
                <a:latin typeface="Arial"/>
                <a:ea typeface="Microsoft YaHei"/>
                <a:cs typeface="Arial"/>
              </a:rPr>
              <a:t>（失效/伪造预警）</a:t>
            </a:r>
          </a:p>
          <a:p>
            <a:pPr algn="ctr">
              <a:lnSpc>
                <a:spcPts val="2100"/>
              </a:lnSpc>
              <a:spcBef>
                <a:spcPts val="300"/>
              </a:spcBef>
            </a:pPr>
            <a:r>
              <a:rPr lang="zh-CN" sz="1050" dirty="0">
                <a:solidFill>
                  <a:srgbClr val="E8EDF3"/>
                </a:solidFill>
                <a:latin typeface="Arial"/>
                <a:ea typeface="Microsoft YaHei"/>
                <a:cs typeface="Arial"/>
              </a:rPr>
              <a:t>行业安全能力基线</a:t>
            </a:r>
            <a:r>
              <a:rPr lang="zh-CN" sz="1050" dirty="0">
                <a:solidFill>
                  <a:srgbClr val="E8EDF3"/>
                </a:solidFill>
                <a:latin typeface="Arial"/>
                <a:ea typeface="Microsoft YaHei"/>
                <a:cs typeface="Arial"/>
              </a:rPr>
              <a:t>（区域/工种对比）</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962398"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第二章 · 总体方案</a:t>
            </a:r>
          </a:p>
        </p:txBody>
      </p:sp>
      <p:sp>
        <p:nvSpPr>
          <p:cNvPr id="4" name="TextBox 4"/>
          <p:cNvSpPr txBox="1"/>
          <p:nvPr/>
        </p:nvSpPr>
        <p:spPr>
          <a:xfrm>
            <a:off x="525780" y="1183005"/>
            <a:ext cx="5934075"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与电力领域数据基础设施融合：三维价值协同</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19250"/>
            <a:ext cx="11087100" cy="361950"/>
          </a:xfrm>
          <a:prstGeom prst="rect">
            <a:avLst/>
          </a:prstGeom>
          <a:solidFill>
            <a:srgbClr val="003A70">
              <a:alpha val="5000"/>
            </a:srgbClr>
          </a:solidFill>
          <a:ln>
            <a:noFill/>
          </a:ln>
        </p:spPr>
      </p:sp>
      <p:sp>
        <p:nvSpPr>
          <p:cNvPr id="7" name="TextBox 7"/>
          <p:cNvSpPr txBox="1"/>
          <p:nvPr/>
        </p:nvSpPr>
        <p:spPr>
          <a:xfrm>
            <a:off x="3081338" y="1726406"/>
            <a:ext cx="6029325" cy="228600"/>
          </a:xfrm>
          <a:prstGeom prst="rect">
            <a:avLst/>
          </a:prstGeom>
          <a:noFill/>
          <a:ln>
            <a:noFill/>
          </a:ln>
        </p:spPr>
        <p:txBody>
          <a:bodyPr wrap="none" lIns="0" tIns="0" rIns="0" bIns="0" anchor="t" anchorCtr="0">
            <a:spAutoFit/>
          </a:bodyPr>
          <a:lstStyle/>
          <a:p>
            <a:pPr algn="ctr"/>
            <a:r>
              <a:rPr lang="zh-CN" sz="1125" dirty="0">
                <a:solidFill>
                  <a:srgbClr val="003A70"/>
                </a:solidFill>
                <a:latin typeface="Arial"/>
                <a:ea typeface="Microsoft YaHei"/>
                <a:cs typeface="Arial"/>
              </a:rPr>
              <a:t>本场景是国家先行先试项目安全生产方向的具体落地，与基础设施三维互促，形成双向价值</a:t>
            </a:r>
          </a:p>
        </p:txBody>
      </p:sp>
      <p:sp>
        <p:nvSpPr>
          <p:cNvPr id="8" name="Ellipse 8"/>
          <p:cNvSpPr/>
          <p:nvPr/>
        </p:nvSpPr>
        <p:spPr>
          <a:xfrm>
            <a:off x="5238750" y="3238500"/>
            <a:ext cx="1714500" cy="1714500"/>
          </a:xfrm>
          <a:prstGeom prst="ellipse">
            <a:avLst/>
          </a:prstGeom>
          <a:solidFill>
            <a:srgbClr val="003A70"/>
          </a:solidFill>
          <a:ln>
            <a:noFill/>
          </a:ln>
        </p:spPr>
      </p:sp>
      <p:sp>
        <p:nvSpPr>
          <p:cNvPr id="9" name="TextBox 9"/>
          <p:cNvSpPr txBox="1"/>
          <p:nvPr/>
        </p:nvSpPr>
        <p:spPr>
          <a:xfrm>
            <a:off x="5766673" y="3831431"/>
            <a:ext cx="6586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电力领域</a:t>
            </a:r>
          </a:p>
        </p:txBody>
      </p:sp>
      <p:sp>
        <p:nvSpPr>
          <p:cNvPr id="10" name="TextBox 10"/>
          <p:cNvSpPr txBox="1"/>
          <p:nvPr/>
        </p:nvSpPr>
        <p:spPr>
          <a:xfrm>
            <a:off x="5609153" y="4069556"/>
            <a:ext cx="9736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数据基础设施</a:t>
            </a:r>
          </a:p>
        </p:txBody>
      </p:sp>
      <p:sp>
        <p:nvSpPr>
          <p:cNvPr id="11" name="TextBox 11"/>
          <p:cNvSpPr txBox="1"/>
          <p:nvPr/>
        </p:nvSpPr>
        <p:spPr>
          <a:xfrm>
            <a:off x="5664517" y="4331970"/>
            <a:ext cx="862965"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先行先试任务书</a:t>
            </a:r>
          </a:p>
        </p:txBody>
      </p:sp>
      <p:sp>
        <p:nvSpPr>
          <p:cNvPr id="12" name="Line 12"/>
          <p:cNvSpPr/>
          <p:nvPr/>
        </p:nvSpPr>
        <p:spPr>
          <a:xfrm>
            <a:off x="3190875" y="4095750"/>
            <a:ext cx="2028825" cy="1"/>
          </a:xfrm>
          <a:prstGeom prst="line">
            <a:avLst/>
          </a:prstGeom>
          <a:noFill/>
          <a:ln w="19050">
            <a:solidFill>
              <a:srgbClr val="0077CC"/>
            </a:solidFill>
            <a:headEnd type="triangle" w="lg" len="lg"/>
            <a:tailEnd type="triangle" w="lg" len="lg"/>
          </a:ln>
        </p:spPr>
      </p:sp>
      <p:sp>
        <p:nvSpPr>
          <p:cNvPr id="13" name="Line 13"/>
          <p:cNvSpPr/>
          <p:nvPr/>
        </p:nvSpPr>
        <p:spPr>
          <a:xfrm>
            <a:off x="6972300" y="4095750"/>
            <a:ext cx="2028825" cy="1"/>
          </a:xfrm>
          <a:prstGeom prst="line">
            <a:avLst/>
          </a:prstGeom>
          <a:noFill/>
          <a:ln w="19050">
            <a:solidFill>
              <a:srgbClr val="0077CC"/>
            </a:solidFill>
            <a:headEnd type="triangle" w="lg" len="lg"/>
            <a:tailEnd type="triangle" w="lg" len="lg"/>
          </a:ln>
        </p:spPr>
      </p:sp>
      <p:sp>
        <p:nvSpPr>
          <p:cNvPr id="14" name="Line 14"/>
          <p:cNvSpPr/>
          <p:nvPr/>
        </p:nvSpPr>
        <p:spPr>
          <a:xfrm flipV="1">
            <a:off x="6096000" y="2152650"/>
            <a:ext cx="1" cy="1085850"/>
          </a:xfrm>
          <a:prstGeom prst="line">
            <a:avLst/>
          </a:prstGeom>
          <a:noFill/>
          <a:ln w="19050">
            <a:solidFill>
              <a:srgbClr val="0077CC"/>
            </a:solidFill>
            <a:headEnd type="triangle" w="lg" len="lg"/>
            <a:tailEnd type="triangle" w="lg" len="lg"/>
          </a:ln>
        </p:spPr>
      </p:sp>
      <p:sp>
        <p:nvSpPr>
          <p:cNvPr id="15" name="Rectangle 15"/>
          <p:cNvSpPr/>
          <p:nvPr/>
        </p:nvSpPr>
        <p:spPr>
          <a:xfrm>
            <a:off x="552450" y="3095625"/>
            <a:ext cx="2543175" cy="2000250"/>
          </a:xfrm>
          <a:prstGeom prst="roundRect">
            <a:avLst>
              <a:gd name="adj" fmla="val 1905"/>
            </a:avLst>
          </a:prstGeom>
          <a:solidFill>
            <a:srgbClr val="F0F4F8"/>
          </a:solidFill>
          <a:ln>
            <a:noFill/>
          </a:ln>
        </p:spPr>
      </p:sp>
      <p:sp>
        <p:nvSpPr>
          <p:cNvPr id="16" name="Rectangle 16"/>
          <p:cNvSpPr/>
          <p:nvPr/>
        </p:nvSpPr>
        <p:spPr>
          <a:xfrm>
            <a:off x="552450" y="3095625"/>
            <a:ext cx="2543175" cy="47625"/>
          </a:xfrm>
          <a:prstGeom prst="roundRect">
            <a:avLst>
              <a:gd name="adj" fmla="val 40000"/>
            </a:avLst>
          </a:prstGeom>
          <a:solidFill>
            <a:srgbClr val="C53030"/>
          </a:solidFill>
          <a:ln>
            <a:noFill/>
          </a:ln>
        </p:spPr>
      </p:sp>
      <p:sp>
        <p:nvSpPr>
          <p:cNvPr id="17" name="Freeform 17"/>
          <p:cNvSpPr/>
          <p:nvPr/>
        </p:nvSpPr>
        <p:spPr>
          <a:xfrm>
            <a:off x="740569" y="3286125"/>
            <a:ext cx="233362" cy="266700"/>
          </a:xfrm>
          <a:custGeom>
            <a:avLst/>
            <a:gdLst/>
            <a:ahLst/>
            <a:cxnLst/>
            <a:rect l="l" t="t" r="r" b="b"/>
            <a:pathLst>
              <a:path w="233362" h="266700">
                <a:moveTo>
                  <a:pt x="55842" y="223243"/>
                </a:moveTo>
                <a:lnTo>
                  <a:pt x="116681" y="266700"/>
                </a:lnTo>
                <a:lnTo>
                  <a:pt x="177521" y="223243"/>
                </a:lnTo>
                <a:cubicBezTo>
                  <a:pt x="212565" y="198211"/>
                  <a:pt x="233362" y="157798"/>
                  <a:pt x="233362" y="114732"/>
                </a:cubicBezTo>
                <a:lnTo>
                  <a:pt x="233362" y="50006"/>
                </a:lnTo>
                <a:lnTo>
                  <a:pt x="116681" y="0"/>
                </a:lnTo>
                <a:lnTo>
                  <a:pt x="0" y="50006"/>
                </a:lnTo>
                <a:lnTo>
                  <a:pt x="0" y="114732"/>
                </a:lnTo>
                <a:cubicBezTo>
                  <a:pt x="0" y="157798"/>
                  <a:pt x="20798" y="198211"/>
                  <a:pt x="55842" y="223243"/>
                </a:cubicBezTo>
                <a:close/>
              </a:path>
            </a:pathLst>
          </a:custGeom>
          <a:solidFill>
            <a:srgbClr val="C53030"/>
          </a:solidFill>
          <a:ln>
            <a:noFill/>
          </a:ln>
        </p:spPr>
      </p:sp>
      <p:sp>
        <p:nvSpPr>
          <p:cNvPr id="18" name="TextBox 18"/>
          <p:cNvSpPr txBox="1"/>
          <p:nvPr/>
        </p:nvSpPr>
        <p:spPr>
          <a:xfrm>
            <a:off x="1088708" y="3338989"/>
            <a:ext cx="1103519" cy="259080"/>
          </a:xfrm>
          <a:prstGeom prst="rect">
            <a:avLst/>
          </a:prstGeom>
          <a:noFill/>
          <a:ln>
            <a:noFill/>
          </a:ln>
        </p:spPr>
        <p:txBody>
          <a:bodyPr wrap="none" lIns="0" tIns="0" rIns="0" bIns="0" anchor="t" anchorCtr="0">
            <a:spAutoFit/>
          </a:bodyPr>
          <a:lstStyle/>
          <a:p>
            <a:pPr algn="l"/>
            <a:r>
              <a:rPr lang="zh-CN" sz="1275" b="1" dirty="0">
                <a:solidFill>
                  <a:srgbClr val="C53030"/>
                </a:solidFill>
                <a:latin typeface="Arial"/>
                <a:ea typeface="SimHei"/>
                <a:cs typeface="Arial"/>
              </a:rPr>
              <a:t>安全管控维度</a:t>
            </a:r>
          </a:p>
        </p:txBody>
      </p:sp>
      <p:sp>
        <p:nvSpPr>
          <p:cNvPr id="19" name="Line 19"/>
          <p:cNvSpPr/>
          <p:nvPr/>
        </p:nvSpPr>
        <p:spPr>
          <a:xfrm>
            <a:off x="723900" y="3619500"/>
            <a:ext cx="2181225" cy="9525"/>
          </a:xfrm>
          <a:custGeom>
            <a:avLst/>
            <a:gdLst/>
            <a:ahLst/>
            <a:cxnLst/>
            <a:rect l="l" t="t" r="r" b="b"/>
            <a:pathLst>
              <a:path w="2181225" h="9525">
                <a:moveTo>
                  <a:pt x="0" y="0"/>
                </a:moveTo>
                <a:lnTo>
                  <a:pt x="2181225" y="0"/>
                </a:lnTo>
              </a:path>
            </a:pathLst>
          </a:custGeom>
          <a:noFill/>
          <a:ln w="9525">
            <a:solidFill>
              <a:srgbClr val="CBD5E0"/>
            </a:solidFill>
          </a:ln>
        </p:spPr>
      </p:sp>
      <p:sp>
        <p:nvSpPr>
          <p:cNvPr id="20" name="TextBox 20"/>
          <p:cNvSpPr txBox="1"/>
          <p:nvPr/>
        </p:nvSpPr>
        <p:spPr>
          <a:xfrm>
            <a:off x="710565" y="3753802"/>
            <a:ext cx="1006792"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基础设施提供：</a:t>
            </a:r>
          </a:p>
        </p:txBody>
      </p:sp>
      <p:sp>
        <p:nvSpPr>
          <p:cNvPr id="21" name="TextBox 21"/>
          <p:cNvSpPr txBox="1"/>
          <p:nvPr/>
        </p:nvSpPr>
        <p:spPr>
          <a:xfrm>
            <a:off x="710565" y="3982402"/>
            <a:ext cx="1340168"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身份认证基础能力</a:t>
            </a:r>
            <a:r>
              <a:rPr lang="zh-CN" sz="1050" dirty="0">
                <a:solidFill>
                  <a:srgbClr val="1A1A2E"/>
                </a:solidFill>
                <a:latin typeface="Arial"/>
                <a:ea typeface="Microsoft YaHei"/>
                <a:cs typeface="Arial"/>
              </a:rPr>
              <a:t>· 数据脱敏与审计框架</a:t>
            </a:r>
          </a:p>
        </p:txBody>
      </p:sp>
      <p:sp>
        <p:nvSpPr>
          <p:cNvPr id="22" name="TextBox 22"/>
          <p:cNvSpPr txBox="1"/>
          <p:nvPr/>
        </p:nvSpPr>
        <p:spPr>
          <a:xfrm>
            <a:off x="710565" y="4525328"/>
            <a:ext cx="866775"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本场景提供：</a:t>
            </a:r>
          </a:p>
        </p:txBody>
      </p:sp>
      <p:sp>
        <p:nvSpPr>
          <p:cNvPr id="23" name="TextBox 23"/>
          <p:cNvSpPr txBox="1"/>
          <p:nvPr/>
        </p:nvSpPr>
        <p:spPr>
          <a:xfrm>
            <a:off x="710565" y="4744402"/>
            <a:ext cx="140584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 安全策略和规则模板</a:t>
            </a:r>
          </a:p>
        </p:txBody>
      </p:sp>
      <p:sp>
        <p:nvSpPr>
          <p:cNvPr id="24" name="Rectangle 24"/>
          <p:cNvSpPr/>
          <p:nvPr/>
        </p:nvSpPr>
        <p:spPr>
          <a:xfrm>
            <a:off x="9096375" y="3095625"/>
            <a:ext cx="2543175" cy="2000250"/>
          </a:xfrm>
          <a:prstGeom prst="roundRect">
            <a:avLst>
              <a:gd name="adj" fmla="val 1905"/>
            </a:avLst>
          </a:prstGeom>
          <a:solidFill>
            <a:srgbClr val="F0F4F8"/>
          </a:solidFill>
          <a:ln>
            <a:noFill/>
          </a:ln>
        </p:spPr>
      </p:sp>
      <p:sp>
        <p:nvSpPr>
          <p:cNvPr id="25" name="Rectangle 25"/>
          <p:cNvSpPr/>
          <p:nvPr/>
        </p:nvSpPr>
        <p:spPr>
          <a:xfrm>
            <a:off x="9096375" y="3095625"/>
            <a:ext cx="2543175" cy="47625"/>
          </a:xfrm>
          <a:prstGeom prst="roundRect">
            <a:avLst>
              <a:gd name="adj" fmla="val 40000"/>
            </a:avLst>
          </a:prstGeom>
          <a:solidFill>
            <a:srgbClr val="0077CC"/>
          </a:solidFill>
          <a:ln>
            <a:noFill/>
          </a:ln>
        </p:spPr>
      </p:sp>
      <p:sp>
        <p:nvSpPr>
          <p:cNvPr id="26" name="Freeform 26"/>
          <p:cNvSpPr/>
          <p:nvPr/>
        </p:nvSpPr>
        <p:spPr>
          <a:xfrm>
            <a:off x="9267825" y="3286125"/>
            <a:ext cx="233362" cy="266700"/>
          </a:xfrm>
          <a:custGeom>
            <a:avLst/>
            <a:gdLst/>
            <a:ahLst/>
            <a:cxnLst/>
            <a:rect l="l" t="t" r="r" b="b"/>
            <a:pathLst>
              <a:path w="233362" h="266700">
                <a:moveTo>
                  <a:pt x="183356" y="100012"/>
                </a:moveTo>
                <a:cubicBezTo>
                  <a:pt x="210975" y="100012"/>
                  <a:pt x="233362" y="77624"/>
                  <a:pt x="233362" y="50006"/>
                </a:cubicBezTo>
                <a:cubicBezTo>
                  <a:pt x="233362" y="22389"/>
                  <a:pt x="210975" y="0"/>
                  <a:pt x="183356" y="0"/>
                </a:cubicBezTo>
                <a:cubicBezTo>
                  <a:pt x="155739" y="0"/>
                  <a:pt x="133350" y="22389"/>
                  <a:pt x="133350" y="50006"/>
                </a:cubicBezTo>
                <a:cubicBezTo>
                  <a:pt x="133350" y="53735"/>
                  <a:pt x="133758" y="57369"/>
                  <a:pt x="134532" y="60865"/>
                </a:cubicBezTo>
                <a:lnTo>
                  <a:pt x="81154" y="94226"/>
                </a:lnTo>
                <a:cubicBezTo>
                  <a:pt x="72609" y="87415"/>
                  <a:pt x="61783" y="83344"/>
                  <a:pt x="50006" y="83344"/>
                </a:cubicBezTo>
                <a:cubicBezTo>
                  <a:pt x="22389" y="83344"/>
                  <a:pt x="0" y="105732"/>
                  <a:pt x="0" y="133350"/>
                </a:cubicBezTo>
                <a:cubicBezTo>
                  <a:pt x="0" y="160968"/>
                  <a:pt x="22389" y="183356"/>
                  <a:pt x="50006" y="183356"/>
                </a:cubicBezTo>
                <a:cubicBezTo>
                  <a:pt x="61783" y="183356"/>
                  <a:pt x="72609" y="179286"/>
                  <a:pt x="81154" y="172473"/>
                </a:cubicBezTo>
                <a:lnTo>
                  <a:pt x="134532" y="205836"/>
                </a:lnTo>
                <a:cubicBezTo>
                  <a:pt x="133758" y="209331"/>
                  <a:pt x="133350" y="212965"/>
                  <a:pt x="133350" y="216694"/>
                </a:cubicBezTo>
                <a:cubicBezTo>
                  <a:pt x="133350" y="244312"/>
                  <a:pt x="155739" y="266700"/>
                  <a:pt x="183356" y="266700"/>
                </a:cubicBezTo>
                <a:cubicBezTo>
                  <a:pt x="210975" y="266700"/>
                  <a:pt x="233362" y="244312"/>
                  <a:pt x="233362" y="216694"/>
                </a:cubicBezTo>
                <a:cubicBezTo>
                  <a:pt x="233362" y="189075"/>
                  <a:pt x="210975" y="166688"/>
                  <a:pt x="183356" y="166688"/>
                </a:cubicBezTo>
                <a:cubicBezTo>
                  <a:pt x="171580" y="166688"/>
                  <a:pt x="160753" y="170758"/>
                  <a:pt x="152209" y="177571"/>
                </a:cubicBezTo>
                <a:lnTo>
                  <a:pt x="98830" y="144209"/>
                </a:lnTo>
                <a:cubicBezTo>
                  <a:pt x="99604" y="140712"/>
                  <a:pt x="100012" y="137079"/>
                  <a:pt x="100012" y="133350"/>
                </a:cubicBezTo>
                <a:cubicBezTo>
                  <a:pt x="100012" y="129621"/>
                  <a:pt x="99604" y="125988"/>
                  <a:pt x="98830" y="122491"/>
                </a:cubicBezTo>
                <a:lnTo>
                  <a:pt x="152209" y="89130"/>
                </a:lnTo>
                <a:cubicBezTo>
                  <a:pt x="160753" y="95941"/>
                  <a:pt x="171580" y="100012"/>
                  <a:pt x="183356" y="100012"/>
                </a:cubicBezTo>
                <a:close/>
              </a:path>
            </a:pathLst>
          </a:custGeom>
          <a:solidFill>
            <a:srgbClr val="0077CC"/>
          </a:solidFill>
          <a:ln>
            <a:noFill/>
          </a:ln>
        </p:spPr>
      </p:sp>
      <p:sp>
        <p:nvSpPr>
          <p:cNvPr id="27" name="TextBox 27"/>
          <p:cNvSpPr txBox="1"/>
          <p:nvPr/>
        </p:nvSpPr>
        <p:spPr>
          <a:xfrm>
            <a:off x="9632632" y="3338989"/>
            <a:ext cx="1103519" cy="259080"/>
          </a:xfrm>
          <a:prstGeom prst="rect">
            <a:avLst/>
          </a:prstGeom>
          <a:noFill/>
          <a:ln>
            <a:noFill/>
          </a:ln>
        </p:spPr>
        <p:txBody>
          <a:bodyPr wrap="none" lIns="0" tIns="0" rIns="0" bIns="0" anchor="t" anchorCtr="0">
            <a:spAutoFit/>
          </a:bodyPr>
          <a:lstStyle/>
          <a:p>
            <a:pPr algn="l"/>
            <a:r>
              <a:rPr lang="zh-CN" sz="1275" b="1" dirty="0">
                <a:solidFill>
                  <a:srgbClr val="0077CC"/>
                </a:solidFill>
                <a:latin typeface="Arial"/>
                <a:ea typeface="SimHei"/>
                <a:cs typeface="Arial"/>
              </a:rPr>
              <a:t>数据共享维度</a:t>
            </a:r>
          </a:p>
        </p:txBody>
      </p:sp>
      <p:sp>
        <p:nvSpPr>
          <p:cNvPr id="28" name="Line 28"/>
          <p:cNvSpPr/>
          <p:nvPr/>
        </p:nvSpPr>
        <p:spPr>
          <a:xfrm>
            <a:off x="9267825" y="3619500"/>
            <a:ext cx="2181225" cy="9525"/>
          </a:xfrm>
          <a:custGeom>
            <a:avLst/>
            <a:gdLst/>
            <a:ahLst/>
            <a:cxnLst/>
            <a:rect l="l" t="t" r="r" b="b"/>
            <a:pathLst>
              <a:path w="2181225" h="9525">
                <a:moveTo>
                  <a:pt x="0" y="0"/>
                </a:moveTo>
                <a:lnTo>
                  <a:pt x="2181225" y="0"/>
                </a:lnTo>
              </a:path>
            </a:pathLst>
          </a:custGeom>
          <a:noFill/>
          <a:ln w="9525">
            <a:solidFill>
              <a:srgbClr val="CBD5E0"/>
            </a:solidFill>
          </a:ln>
        </p:spPr>
      </p:sp>
      <p:sp>
        <p:nvSpPr>
          <p:cNvPr id="29" name="TextBox 29"/>
          <p:cNvSpPr txBox="1"/>
          <p:nvPr/>
        </p:nvSpPr>
        <p:spPr>
          <a:xfrm>
            <a:off x="9254490" y="3753802"/>
            <a:ext cx="1006792"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基础设施提供：</a:t>
            </a:r>
          </a:p>
        </p:txBody>
      </p:sp>
      <p:sp>
        <p:nvSpPr>
          <p:cNvPr id="30" name="TextBox 30"/>
          <p:cNvSpPr txBox="1"/>
          <p:nvPr/>
        </p:nvSpPr>
        <p:spPr>
          <a:xfrm>
            <a:off x="9254490" y="3982402"/>
            <a:ext cx="1340168"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多主体数据共享通道</a:t>
            </a:r>
            <a:r>
              <a:rPr lang="zh-CN" sz="1050" dirty="0">
                <a:solidFill>
                  <a:srgbClr val="1A1A2E"/>
                </a:solidFill>
                <a:latin typeface="Arial"/>
                <a:ea typeface="Microsoft YaHei"/>
                <a:cs typeface="Arial"/>
              </a:rPr>
              <a:t>· 授权管理机制</a:t>
            </a:r>
          </a:p>
        </p:txBody>
      </p:sp>
      <p:sp>
        <p:nvSpPr>
          <p:cNvPr id="31" name="TextBox 31"/>
          <p:cNvSpPr txBox="1"/>
          <p:nvPr/>
        </p:nvSpPr>
        <p:spPr>
          <a:xfrm>
            <a:off x="9254490" y="4525328"/>
            <a:ext cx="866775"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本场景提供：</a:t>
            </a:r>
          </a:p>
        </p:txBody>
      </p:sp>
      <p:sp>
        <p:nvSpPr>
          <p:cNvPr id="32" name="TextBox 32"/>
          <p:cNvSpPr txBox="1"/>
          <p:nvPr/>
        </p:nvSpPr>
        <p:spPr>
          <a:xfrm>
            <a:off x="9254490" y="4744402"/>
            <a:ext cx="140584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 跨主体复用规则样板</a:t>
            </a:r>
          </a:p>
        </p:txBody>
      </p:sp>
      <p:sp>
        <p:nvSpPr>
          <p:cNvPr id="33" name="Rectangle 33"/>
          <p:cNvSpPr/>
          <p:nvPr/>
        </p:nvSpPr>
        <p:spPr>
          <a:xfrm>
            <a:off x="4057650" y="1666875"/>
            <a:ext cx="4076700" cy="1238250"/>
          </a:xfrm>
          <a:prstGeom prst="roundRect">
            <a:avLst>
              <a:gd name="adj" fmla="val 3077"/>
            </a:avLst>
          </a:prstGeom>
          <a:solidFill>
            <a:srgbClr val="F0F4F8"/>
          </a:solidFill>
          <a:ln>
            <a:noFill/>
          </a:ln>
        </p:spPr>
      </p:sp>
      <p:sp>
        <p:nvSpPr>
          <p:cNvPr id="34" name="Rectangle 34"/>
          <p:cNvSpPr/>
          <p:nvPr/>
        </p:nvSpPr>
        <p:spPr>
          <a:xfrm>
            <a:off x="4057650" y="1666875"/>
            <a:ext cx="4076700" cy="47625"/>
          </a:xfrm>
          <a:prstGeom prst="roundRect">
            <a:avLst>
              <a:gd name="adj" fmla="val 40000"/>
            </a:avLst>
          </a:prstGeom>
          <a:solidFill>
            <a:srgbClr val="2D7D46"/>
          </a:solidFill>
          <a:ln>
            <a:noFill/>
          </a:ln>
        </p:spPr>
      </p:sp>
      <p:grpSp>
        <p:nvGrpSpPr>
          <p:cNvPr id="38" name="Group 38"/>
          <p:cNvGrpSpPr/>
          <p:nvPr/>
        </p:nvGrpSpPr>
        <p:grpSpPr>
          <a:xfrm>
            <a:off x="4229100" y="1854994"/>
            <a:ext cx="266700" cy="233363"/>
            <a:chOff x="4229100" y="1854994"/>
            <a:chExt cx="266700" cy="233363"/>
          </a:xfrm>
        </p:grpSpPr>
        <p:sp>
          <p:nvSpPr>
            <p:cNvPr id="35" name="Freeform 35"/>
            <p:cNvSpPr/>
            <p:nvPr/>
          </p:nvSpPr>
          <p:spPr>
            <a:xfrm>
              <a:off x="4429125" y="1854994"/>
              <a:ext cx="66675" cy="233362"/>
            </a:xfrm>
            <a:custGeom>
              <a:avLst/>
              <a:gdLst/>
              <a:ahLst/>
              <a:cxnLst/>
              <a:rect l="l" t="t" r="r" b="b"/>
              <a:pathLst>
                <a:path w="66675" h="233362">
                  <a:moveTo>
                    <a:pt x="66675" y="0"/>
                  </a:moveTo>
                  <a:lnTo>
                    <a:pt x="0" y="0"/>
                  </a:lnTo>
                  <a:lnTo>
                    <a:pt x="0" y="233362"/>
                  </a:lnTo>
                  <a:lnTo>
                    <a:pt x="66675" y="233362"/>
                  </a:lnTo>
                  <a:lnTo>
                    <a:pt x="66675" y="0"/>
                  </a:lnTo>
                  <a:close/>
                </a:path>
              </a:pathLst>
            </a:custGeom>
            <a:solidFill>
              <a:srgbClr val="2D7D46"/>
            </a:solidFill>
            <a:ln>
              <a:noFill/>
            </a:ln>
          </p:spPr>
        </p:sp>
        <p:sp>
          <p:nvSpPr>
            <p:cNvPr id="36" name="Freeform 36"/>
            <p:cNvSpPr/>
            <p:nvPr/>
          </p:nvSpPr>
          <p:spPr>
            <a:xfrm>
              <a:off x="4329112" y="1921669"/>
              <a:ext cx="66675" cy="166688"/>
            </a:xfrm>
            <a:custGeom>
              <a:avLst/>
              <a:gdLst/>
              <a:ahLst/>
              <a:cxnLst/>
              <a:rect l="l" t="t" r="r" b="b"/>
              <a:pathLst>
                <a:path w="66675" h="166688">
                  <a:moveTo>
                    <a:pt x="0" y="0"/>
                  </a:moveTo>
                  <a:lnTo>
                    <a:pt x="66675" y="0"/>
                  </a:lnTo>
                  <a:lnTo>
                    <a:pt x="66675" y="166688"/>
                  </a:lnTo>
                  <a:lnTo>
                    <a:pt x="0" y="166688"/>
                  </a:lnTo>
                  <a:lnTo>
                    <a:pt x="0" y="0"/>
                  </a:lnTo>
                  <a:close/>
                </a:path>
              </a:pathLst>
            </a:custGeom>
            <a:solidFill>
              <a:srgbClr val="2D7D46"/>
            </a:solidFill>
            <a:ln>
              <a:noFill/>
            </a:ln>
          </p:spPr>
        </p:sp>
        <p:sp>
          <p:nvSpPr>
            <p:cNvPr id="37" name="Freeform 37"/>
            <p:cNvSpPr/>
            <p:nvPr/>
          </p:nvSpPr>
          <p:spPr>
            <a:xfrm>
              <a:off x="4229100" y="1988344"/>
              <a:ext cx="66675" cy="100012"/>
            </a:xfrm>
            <a:custGeom>
              <a:avLst/>
              <a:gdLst/>
              <a:ahLst/>
              <a:cxnLst/>
              <a:rect l="l" t="t" r="r" b="b"/>
              <a:pathLst>
                <a:path w="66675" h="100012">
                  <a:moveTo>
                    <a:pt x="0" y="0"/>
                  </a:moveTo>
                  <a:lnTo>
                    <a:pt x="66675" y="0"/>
                  </a:lnTo>
                  <a:lnTo>
                    <a:pt x="66675" y="100012"/>
                  </a:lnTo>
                  <a:lnTo>
                    <a:pt x="0" y="100012"/>
                  </a:lnTo>
                  <a:lnTo>
                    <a:pt x="0" y="0"/>
                  </a:lnTo>
                  <a:close/>
                </a:path>
              </a:pathLst>
            </a:custGeom>
            <a:solidFill>
              <a:srgbClr val="2D7D46"/>
            </a:solidFill>
            <a:ln>
              <a:noFill/>
            </a:ln>
          </p:spPr>
        </p:sp>
      </p:grpSp>
      <p:sp>
        <p:nvSpPr>
          <p:cNvPr id="39" name="TextBox 39"/>
          <p:cNvSpPr txBox="1"/>
          <p:nvPr/>
        </p:nvSpPr>
        <p:spPr>
          <a:xfrm>
            <a:off x="4593908" y="1891189"/>
            <a:ext cx="1103519" cy="259080"/>
          </a:xfrm>
          <a:prstGeom prst="rect">
            <a:avLst/>
          </a:prstGeom>
          <a:noFill/>
          <a:ln>
            <a:noFill/>
          </a:ln>
        </p:spPr>
        <p:txBody>
          <a:bodyPr wrap="none" lIns="0" tIns="0" rIns="0" bIns="0" anchor="t" anchorCtr="0">
            <a:spAutoFit/>
          </a:bodyPr>
          <a:lstStyle/>
          <a:p>
            <a:pPr algn="l"/>
            <a:r>
              <a:rPr lang="zh-CN" sz="1275" b="1" dirty="0">
                <a:solidFill>
                  <a:srgbClr val="2D7D46"/>
                </a:solidFill>
                <a:latin typeface="Arial"/>
                <a:ea typeface="SimHei"/>
                <a:cs typeface="Arial"/>
              </a:rPr>
              <a:t>价值共创维度</a:t>
            </a:r>
          </a:p>
        </p:txBody>
      </p:sp>
      <p:sp>
        <p:nvSpPr>
          <p:cNvPr id="40" name="Line 40"/>
          <p:cNvSpPr/>
          <p:nvPr/>
        </p:nvSpPr>
        <p:spPr>
          <a:xfrm>
            <a:off x="4229100" y="2152650"/>
            <a:ext cx="3714750" cy="9525"/>
          </a:xfrm>
          <a:custGeom>
            <a:avLst/>
            <a:gdLst/>
            <a:ahLst/>
            <a:cxnLst/>
            <a:rect l="l" t="t" r="r" b="b"/>
            <a:pathLst>
              <a:path w="3714750" h="9525">
                <a:moveTo>
                  <a:pt x="0" y="0"/>
                </a:moveTo>
                <a:lnTo>
                  <a:pt x="3714750" y="0"/>
                </a:lnTo>
              </a:path>
            </a:pathLst>
          </a:custGeom>
          <a:noFill/>
          <a:ln w="9525">
            <a:solidFill>
              <a:srgbClr val="CBD5E0"/>
            </a:solidFill>
          </a:ln>
        </p:spPr>
      </p:sp>
      <p:sp>
        <p:nvSpPr>
          <p:cNvPr id="41" name="TextBox 41"/>
          <p:cNvSpPr txBox="1"/>
          <p:nvPr/>
        </p:nvSpPr>
        <p:spPr>
          <a:xfrm>
            <a:off x="4215765" y="2286952"/>
            <a:ext cx="2539984"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 训考/核验/分析产品形成持续服务收入</a:t>
            </a:r>
          </a:p>
        </p:txBody>
      </p:sp>
      <p:sp>
        <p:nvSpPr>
          <p:cNvPr id="42" name="TextBox 42"/>
          <p:cNvSpPr txBox="1"/>
          <p:nvPr/>
        </p:nvSpPr>
        <p:spPr>
          <a:xfrm>
            <a:off x="4215765" y="2553652"/>
            <a:ext cx="252598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 推动安全生产数据向运营价值持续转化</a:t>
            </a:r>
          </a:p>
        </p:txBody>
      </p:sp>
      <p:sp>
        <p:nvSpPr>
          <p:cNvPr id="43" name="TextBox 43"/>
          <p:cNvSpPr txBox="1"/>
          <p:nvPr/>
        </p:nvSpPr>
        <p:spPr>
          <a:xfrm>
            <a:off x="3225165" y="3884295"/>
            <a:ext cx="502920"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能力输入</a:t>
            </a:r>
          </a:p>
        </p:txBody>
      </p:sp>
      <p:sp>
        <p:nvSpPr>
          <p:cNvPr id="44" name="TextBox 44"/>
          <p:cNvSpPr txBox="1"/>
          <p:nvPr/>
        </p:nvSpPr>
        <p:spPr>
          <a:xfrm>
            <a:off x="3225165" y="4150995"/>
            <a:ext cx="502920"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规则反哺</a:t>
            </a:r>
          </a:p>
        </p:txBody>
      </p:sp>
      <p:sp>
        <p:nvSpPr>
          <p:cNvPr id="45" name="TextBox 45"/>
          <p:cNvSpPr txBox="1"/>
          <p:nvPr/>
        </p:nvSpPr>
        <p:spPr>
          <a:xfrm>
            <a:off x="8463915" y="3884295"/>
            <a:ext cx="502920"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通道接入</a:t>
            </a:r>
          </a:p>
        </p:txBody>
      </p:sp>
      <p:sp>
        <p:nvSpPr>
          <p:cNvPr id="46" name="TextBox 46"/>
          <p:cNvSpPr txBox="1"/>
          <p:nvPr/>
        </p:nvSpPr>
        <p:spPr>
          <a:xfrm>
            <a:off x="8463915" y="4150995"/>
            <a:ext cx="502920"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样板沉淀</a:t>
            </a:r>
          </a:p>
        </p:txBody>
      </p:sp>
      <p:sp>
        <p:nvSpPr>
          <p:cNvPr id="47" name="TextBox 47"/>
          <p:cNvSpPr txBox="1"/>
          <p:nvPr/>
        </p:nvSpPr>
        <p:spPr>
          <a:xfrm>
            <a:off x="6389370" y="256984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场景输出</a:t>
            </a:r>
          </a:p>
        </p:txBody>
      </p:sp>
      <p:sp>
        <p:nvSpPr>
          <p:cNvPr id="48" name="TextBox 48"/>
          <p:cNvSpPr txBox="1"/>
          <p:nvPr/>
        </p:nvSpPr>
        <p:spPr>
          <a:xfrm>
            <a:off x="6389370" y="276034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数据回流</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962398"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第二章 · 总体方案</a:t>
            </a:r>
          </a:p>
        </p:txBody>
      </p:sp>
      <p:sp>
        <p:nvSpPr>
          <p:cNvPr id="4" name="TextBox 4"/>
          <p:cNvSpPr txBox="1"/>
          <p:nvPr/>
        </p:nvSpPr>
        <p:spPr>
          <a:xfrm>
            <a:off x="525780" y="1183005"/>
            <a:ext cx="7786507"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首批落地场景：新能源 · 电力建设 · 检修技改三类外委入场</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95450"/>
            <a:ext cx="3505200" cy="4667250"/>
          </a:xfrm>
          <a:prstGeom prst="roundRect">
            <a:avLst>
              <a:gd name="adj" fmla="val 1087"/>
            </a:avLst>
          </a:prstGeom>
          <a:solidFill>
            <a:srgbClr val="F0F4F8"/>
          </a:solidFill>
          <a:ln>
            <a:noFill/>
          </a:ln>
        </p:spPr>
      </p:sp>
      <p:sp>
        <p:nvSpPr>
          <p:cNvPr id="7" name="Rectangle 7"/>
          <p:cNvSpPr/>
          <p:nvPr/>
        </p:nvSpPr>
        <p:spPr>
          <a:xfrm>
            <a:off x="552450" y="1695450"/>
            <a:ext cx="3505200" cy="533400"/>
          </a:xfrm>
          <a:prstGeom prst="roundRect">
            <a:avLst>
              <a:gd name="adj" fmla="val 7143"/>
            </a:avLst>
          </a:prstGeom>
          <a:solidFill>
            <a:srgbClr val="003A70"/>
          </a:solidFill>
          <a:ln>
            <a:noFill/>
          </a:ln>
        </p:spPr>
      </p:sp>
      <p:sp>
        <p:nvSpPr>
          <p:cNvPr id="8" name="Rectangle 8"/>
          <p:cNvSpPr/>
          <p:nvPr/>
        </p:nvSpPr>
        <p:spPr>
          <a:xfrm>
            <a:off x="552450" y="2000250"/>
            <a:ext cx="3505200" cy="228600"/>
          </a:xfrm>
          <a:prstGeom prst="rect">
            <a:avLst/>
          </a:prstGeom>
          <a:solidFill>
            <a:srgbClr val="003A70"/>
          </a:solidFill>
          <a:ln>
            <a:noFill/>
          </a:ln>
        </p:spPr>
      </p:sp>
      <p:sp>
        <p:nvSpPr>
          <p:cNvPr id="9" name="Freeform 9"/>
          <p:cNvSpPr/>
          <p:nvPr/>
        </p:nvSpPr>
        <p:spPr>
          <a:xfrm>
            <a:off x="776288" y="1819275"/>
            <a:ext cx="200025" cy="266700"/>
          </a:xfrm>
          <a:custGeom>
            <a:avLst/>
            <a:gdLst/>
            <a:ahLst/>
            <a:cxnLst/>
            <a:rect l="l" t="t" r="r" b="b"/>
            <a:pathLst>
              <a:path w="200025" h="266700">
                <a:moveTo>
                  <a:pt x="116681" y="116681"/>
                </a:moveTo>
                <a:lnTo>
                  <a:pt x="133350" y="0"/>
                </a:lnTo>
                <a:lnTo>
                  <a:pt x="100012" y="0"/>
                </a:lnTo>
                <a:lnTo>
                  <a:pt x="0" y="116681"/>
                </a:lnTo>
                <a:lnTo>
                  <a:pt x="0" y="150019"/>
                </a:lnTo>
                <a:lnTo>
                  <a:pt x="83344" y="150019"/>
                </a:lnTo>
                <a:lnTo>
                  <a:pt x="66675" y="266700"/>
                </a:lnTo>
                <a:lnTo>
                  <a:pt x="100012" y="266700"/>
                </a:lnTo>
                <a:lnTo>
                  <a:pt x="200025" y="150019"/>
                </a:lnTo>
                <a:lnTo>
                  <a:pt x="200025" y="116681"/>
                </a:lnTo>
                <a:lnTo>
                  <a:pt x="116681" y="116681"/>
                </a:lnTo>
                <a:close/>
              </a:path>
            </a:pathLst>
          </a:custGeom>
          <a:solidFill>
            <a:srgbClr val="FFFFFF"/>
          </a:solidFill>
          <a:ln>
            <a:noFill/>
          </a:ln>
        </p:spPr>
      </p:sp>
      <p:sp>
        <p:nvSpPr>
          <p:cNvPr id="10" name="TextBox 10"/>
          <p:cNvSpPr txBox="1"/>
          <p:nvPr/>
        </p:nvSpPr>
        <p:spPr>
          <a:xfrm>
            <a:off x="1107758" y="1891189"/>
            <a:ext cx="1639086"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SimHei"/>
                <a:cs typeface="Arial"/>
              </a:rPr>
              <a:t>新能源站场运维外委</a:t>
            </a:r>
          </a:p>
        </p:txBody>
      </p:sp>
      <p:sp>
        <p:nvSpPr>
          <p:cNvPr id="11" name="TextBox 11"/>
          <p:cNvSpPr txBox="1"/>
          <p:nvPr/>
        </p:nvSpPr>
        <p:spPr>
          <a:xfrm>
            <a:off x="730568" y="2352199"/>
            <a:ext cx="570833" cy="198120"/>
          </a:xfrm>
          <a:prstGeom prst="rect">
            <a:avLst/>
          </a:prstGeom>
          <a:noFill/>
          <a:ln>
            <a:noFill/>
          </a:ln>
        </p:spPr>
        <p:txBody>
          <a:bodyPr wrap="none" lIns="0" tIns="0" rIns="0" bIns="0" anchor="t" anchorCtr="0">
            <a:spAutoFit/>
          </a:bodyPr>
          <a:lstStyle/>
          <a:p>
            <a:pPr algn="l"/>
            <a:r>
              <a:rPr lang="zh-CN" sz="975" b="1" dirty="0">
                <a:solidFill>
                  <a:srgbClr val="0077CC"/>
                </a:solidFill>
                <a:latin typeface="Arial"/>
                <a:ea typeface="SimHei"/>
                <a:cs typeface="Arial"/>
              </a:rPr>
              <a:t>业务痛点</a:t>
            </a:r>
          </a:p>
        </p:txBody>
      </p:sp>
      <p:sp>
        <p:nvSpPr>
          <p:cNvPr id="12" name="TextBox 12"/>
          <p:cNvSpPr txBox="1"/>
          <p:nvPr/>
        </p:nvSpPr>
        <p:spPr>
          <a:xfrm>
            <a:off x="729615" y="2572702"/>
            <a:ext cx="1546860" cy="12611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风场/光伏站分散分布，</a:t>
            </a:r>
            <a:r>
              <a:rPr lang="zh-CN" sz="1050" dirty="0">
                <a:solidFill>
                  <a:srgbClr val="1A1A2E"/>
                </a:solidFill>
                <a:latin typeface="Arial"/>
                <a:ea typeface="Microsoft YaHei"/>
                <a:cs typeface="Arial"/>
              </a:rPr>
              <a:t>外委人员流动频繁</a:t>
            </a:r>
            <a:r>
              <a:rPr lang="zh-CN" sz="1050" dirty="0">
                <a:solidFill>
                  <a:srgbClr val="1A1A2E"/>
                </a:solidFill>
                <a:latin typeface="Arial"/>
                <a:ea typeface="Microsoft YaHei"/>
                <a:cs typeface="Arial"/>
              </a:rPr>
              <a:t>· 批量核验需求强，</a:t>
            </a:r>
            <a:r>
              <a:rPr lang="zh-CN" sz="1050" dirty="0">
                <a:solidFill>
                  <a:srgbClr val="1A1A2E"/>
                </a:solidFill>
                <a:latin typeface="Arial"/>
                <a:ea typeface="Microsoft YaHei"/>
                <a:cs typeface="Arial"/>
              </a:rPr>
              <a:t>证照有效期管理难</a:t>
            </a:r>
            <a:r>
              <a:rPr lang="zh-CN" sz="1050" dirty="0">
                <a:solidFill>
                  <a:srgbClr val="1A1A2E"/>
                </a:solidFill>
                <a:latin typeface="Arial"/>
                <a:ea typeface="Microsoft YaHei"/>
                <a:cs typeface="Arial"/>
              </a:rPr>
              <a:t>· 跨省作业常见，</a:t>
            </a:r>
            <a:r>
              <a:rPr lang="zh-CN" sz="1050" dirty="0">
                <a:solidFill>
                  <a:srgbClr val="1A1A2E"/>
                </a:solidFill>
                <a:latin typeface="Arial"/>
                <a:ea typeface="Microsoft YaHei"/>
                <a:cs typeface="Arial"/>
              </a:rPr>
              <a:t>记录互认诉求迫切</a:t>
            </a:r>
          </a:p>
        </p:txBody>
      </p:sp>
      <p:sp>
        <p:nvSpPr>
          <p:cNvPr id="13" name="Line 13"/>
          <p:cNvSpPr/>
          <p:nvPr/>
        </p:nvSpPr>
        <p:spPr>
          <a:xfrm>
            <a:off x="742950" y="38100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14" name="TextBox 14"/>
          <p:cNvSpPr txBox="1"/>
          <p:nvPr/>
        </p:nvSpPr>
        <p:spPr>
          <a:xfrm>
            <a:off x="730568" y="3933349"/>
            <a:ext cx="843867" cy="198120"/>
          </a:xfrm>
          <a:prstGeom prst="rect">
            <a:avLst/>
          </a:prstGeom>
          <a:noFill/>
          <a:ln>
            <a:noFill/>
          </a:ln>
        </p:spPr>
        <p:txBody>
          <a:bodyPr wrap="none" lIns="0" tIns="0" rIns="0" bIns="0" anchor="t" anchorCtr="0">
            <a:spAutoFit/>
          </a:bodyPr>
          <a:lstStyle/>
          <a:p>
            <a:pPr algn="l"/>
            <a:r>
              <a:rPr lang="zh-CN" sz="975" b="1" dirty="0">
                <a:solidFill>
                  <a:srgbClr val="003A70"/>
                </a:solidFill>
                <a:latin typeface="Arial"/>
                <a:ea typeface="SimHei"/>
                <a:cs typeface="Arial"/>
              </a:rPr>
              <a:t>核验服务内容</a:t>
            </a:r>
          </a:p>
        </p:txBody>
      </p:sp>
      <p:sp>
        <p:nvSpPr>
          <p:cNvPr id="15" name="TextBox 15"/>
          <p:cNvSpPr txBox="1"/>
          <p:nvPr/>
        </p:nvSpPr>
        <p:spPr>
          <a:xfrm>
            <a:off x="729615" y="4153852"/>
            <a:ext cx="1206818" cy="8420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批量人员安规考试</a:t>
            </a:r>
            <a:r>
              <a:rPr lang="zh-CN" sz="1050" dirty="0">
                <a:solidFill>
                  <a:srgbClr val="1A1A2E"/>
                </a:solidFill>
                <a:latin typeface="Arial"/>
                <a:ea typeface="Microsoft YaHei"/>
                <a:cs typeface="Arial"/>
              </a:rPr>
              <a:t>· 证照有效性核验</a:t>
            </a:r>
            <a:r>
              <a:rPr lang="zh-CN" sz="1050" dirty="0">
                <a:solidFill>
                  <a:srgbClr val="1A1A2E"/>
                </a:solidFill>
                <a:latin typeface="Arial"/>
                <a:ea typeface="Microsoft YaHei"/>
                <a:cs typeface="Arial"/>
              </a:rPr>
              <a:t>· 岗位准入判断</a:t>
            </a:r>
            <a:r>
              <a:rPr lang="zh-CN" sz="1050" dirty="0">
                <a:solidFill>
                  <a:srgbClr val="1A1A2E"/>
                </a:solidFill>
                <a:latin typeface="Arial"/>
                <a:ea typeface="Microsoft YaHei"/>
                <a:cs typeface="Arial"/>
              </a:rPr>
              <a:t>· 复训到期提醒</a:t>
            </a:r>
          </a:p>
        </p:txBody>
      </p:sp>
      <p:sp>
        <p:nvSpPr>
          <p:cNvPr id="16" name="Line 16"/>
          <p:cNvSpPr/>
          <p:nvPr/>
        </p:nvSpPr>
        <p:spPr>
          <a:xfrm>
            <a:off x="742950" y="52959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17" name="TextBox 17"/>
          <p:cNvSpPr txBox="1"/>
          <p:nvPr/>
        </p:nvSpPr>
        <p:spPr>
          <a:xfrm>
            <a:off x="730568" y="5419249"/>
            <a:ext cx="570833" cy="198120"/>
          </a:xfrm>
          <a:prstGeom prst="rect">
            <a:avLst/>
          </a:prstGeom>
          <a:noFill/>
          <a:ln>
            <a:noFill/>
          </a:ln>
        </p:spPr>
        <p:txBody>
          <a:bodyPr wrap="none" lIns="0" tIns="0" rIns="0" bIns="0" anchor="t" anchorCtr="0">
            <a:spAutoFit/>
          </a:bodyPr>
          <a:lstStyle/>
          <a:p>
            <a:pPr algn="l"/>
            <a:r>
              <a:rPr lang="zh-CN" sz="975" b="1" dirty="0">
                <a:solidFill>
                  <a:srgbClr val="2D7D46"/>
                </a:solidFill>
                <a:latin typeface="Arial"/>
                <a:ea typeface="SimHei"/>
                <a:cs typeface="Arial"/>
              </a:rPr>
              <a:t>预期价值</a:t>
            </a:r>
          </a:p>
        </p:txBody>
      </p:sp>
      <p:sp>
        <p:nvSpPr>
          <p:cNvPr id="18" name="TextBox 18"/>
          <p:cNvSpPr txBox="1"/>
          <p:nvPr/>
        </p:nvSpPr>
        <p:spPr>
          <a:xfrm>
            <a:off x="729615" y="5639752"/>
            <a:ext cx="1526857"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xml:space="preserve">· 批量核验效率提升50%+ </a:t>
            </a:r>
            <a:r>
              <a:rPr lang="zh-CN" sz="1050" dirty="0">
                <a:solidFill>
                  <a:srgbClr val="1A1A2E"/>
                </a:solidFill>
                <a:latin typeface="Arial"/>
                <a:ea typeface="Microsoft YaHei"/>
                <a:cs typeface="Arial"/>
              </a:rPr>
              <a:t>· 跨省核验结果互认</a:t>
            </a:r>
          </a:p>
        </p:txBody>
      </p:sp>
      <p:sp>
        <p:nvSpPr>
          <p:cNvPr id="19" name="Rectangle 19"/>
          <p:cNvSpPr/>
          <p:nvPr/>
        </p:nvSpPr>
        <p:spPr>
          <a:xfrm>
            <a:off x="4343400" y="1695450"/>
            <a:ext cx="3505200" cy="4667250"/>
          </a:xfrm>
          <a:prstGeom prst="roundRect">
            <a:avLst>
              <a:gd name="adj" fmla="val 1087"/>
            </a:avLst>
          </a:prstGeom>
          <a:solidFill>
            <a:srgbClr val="F0F4F8"/>
          </a:solidFill>
          <a:ln>
            <a:noFill/>
          </a:ln>
        </p:spPr>
      </p:sp>
      <p:sp>
        <p:nvSpPr>
          <p:cNvPr id="20" name="Rectangle 20"/>
          <p:cNvSpPr/>
          <p:nvPr/>
        </p:nvSpPr>
        <p:spPr>
          <a:xfrm>
            <a:off x="4343400" y="1695450"/>
            <a:ext cx="3505200" cy="533400"/>
          </a:xfrm>
          <a:prstGeom prst="roundRect">
            <a:avLst>
              <a:gd name="adj" fmla="val 7143"/>
            </a:avLst>
          </a:prstGeom>
          <a:solidFill>
            <a:srgbClr val="0077CC"/>
          </a:solidFill>
          <a:ln>
            <a:noFill/>
          </a:ln>
        </p:spPr>
      </p:sp>
      <p:sp>
        <p:nvSpPr>
          <p:cNvPr id="21" name="Rectangle 21"/>
          <p:cNvSpPr/>
          <p:nvPr/>
        </p:nvSpPr>
        <p:spPr>
          <a:xfrm>
            <a:off x="4343400" y="2000250"/>
            <a:ext cx="3505200" cy="228600"/>
          </a:xfrm>
          <a:prstGeom prst="rect">
            <a:avLst/>
          </a:prstGeom>
          <a:solidFill>
            <a:srgbClr val="0077CC"/>
          </a:solidFill>
          <a:ln>
            <a:noFill/>
          </a:ln>
        </p:spPr>
      </p:sp>
      <p:sp>
        <p:nvSpPr>
          <p:cNvPr id="22" name="Freeform 22"/>
          <p:cNvSpPr/>
          <p:nvPr/>
        </p:nvSpPr>
        <p:spPr>
          <a:xfrm>
            <a:off x="4567238" y="1819275"/>
            <a:ext cx="200025" cy="266700"/>
          </a:xfrm>
          <a:custGeom>
            <a:avLst/>
            <a:gdLst/>
            <a:ahLst/>
            <a:cxnLst/>
            <a:rect l="l" t="t" r="r" b="b"/>
            <a:pathLst>
              <a:path w="200025" h="266700">
                <a:moveTo>
                  <a:pt x="200025" y="0"/>
                </a:moveTo>
                <a:lnTo>
                  <a:pt x="0" y="0"/>
                </a:lnTo>
                <a:lnTo>
                  <a:pt x="0" y="266700"/>
                </a:lnTo>
                <a:lnTo>
                  <a:pt x="66675" y="266700"/>
                </a:lnTo>
                <a:lnTo>
                  <a:pt x="66675" y="200025"/>
                </a:lnTo>
                <a:lnTo>
                  <a:pt x="133350" y="200025"/>
                </a:lnTo>
                <a:lnTo>
                  <a:pt x="133350" y="266700"/>
                </a:lnTo>
                <a:lnTo>
                  <a:pt x="200025" y="266700"/>
                </a:lnTo>
                <a:lnTo>
                  <a:pt x="200025" y="0"/>
                </a:lnTo>
                <a:close/>
                <a:moveTo>
                  <a:pt x="50006" y="50006"/>
                </a:moveTo>
                <a:lnTo>
                  <a:pt x="83344" y="50006"/>
                </a:lnTo>
                <a:lnTo>
                  <a:pt x="83344" y="83344"/>
                </a:lnTo>
                <a:lnTo>
                  <a:pt x="50006" y="83344"/>
                </a:lnTo>
                <a:lnTo>
                  <a:pt x="50006" y="50006"/>
                </a:lnTo>
                <a:close/>
                <a:moveTo>
                  <a:pt x="83344" y="116681"/>
                </a:moveTo>
                <a:lnTo>
                  <a:pt x="50006" y="116681"/>
                </a:lnTo>
                <a:lnTo>
                  <a:pt x="50006" y="150019"/>
                </a:lnTo>
                <a:lnTo>
                  <a:pt x="83344" y="150019"/>
                </a:lnTo>
                <a:lnTo>
                  <a:pt x="83344" y="116681"/>
                </a:lnTo>
                <a:close/>
                <a:moveTo>
                  <a:pt x="116681" y="50006"/>
                </a:moveTo>
                <a:lnTo>
                  <a:pt x="150019" y="50006"/>
                </a:lnTo>
                <a:lnTo>
                  <a:pt x="150019" y="83344"/>
                </a:lnTo>
                <a:lnTo>
                  <a:pt x="116681" y="83344"/>
                </a:lnTo>
                <a:lnTo>
                  <a:pt x="116681" y="50006"/>
                </a:lnTo>
                <a:close/>
                <a:moveTo>
                  <a:pt x="150019" y="116681"/>
                </a:moveTo>
                <a:lnTo>
                  <a:pt x="116681" y="116681"/>
                </a:lnTo>
                <a:lnTo>
                  <a:pt x="116681" y="150019"/>
                </a:lnTo>
                <a:lnTo>
                  <a:pt x="150019" y="150019"/>
                </a:lnTo>
                <a:lnTo>
                  <a:pt x="150019" y="116681"/>
                </a:lnTo>
                <a:close/>
              </a:path>
            </a:pathLst>
          </a:custGeom>
          <a:solidFill>
            <a:srgbClr val="FFFFFF"/>
          </a:solidFill>
          <a:ln>
            <a:noFill/>
          </a:ln>
        </p:spPr>
      </p:sp>
      <p:sp>
        <p:nvSpPr>
          <p:cNvPr id="23" name="TextBox 23"/>
          <p:cNvSpPr txBox="1"/>
          <p:nvPr/>
        </p:nvSpPr>
        <p:spPr>
          <a:xfrm>
            <a:off x="4898708" y="1891189"/>
            <a:ext cx="1460564"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SimHei"/>
                <a:cs typeface="Arial"/>
              </a:rPr>
              <a:t>电力建设施工项目</a:t>
            </a:r>
          </a:p>
        </p:txBody>
      </p:sp>
      <p:sp>
        <p:nvSpPr>
          <p:cNvPr id="24" name="TextBox 24"/>
          <p:cNvSpPr txBox="1"/>
          <p:nvPr/>
        </p:nvSpPr>
        <p:spPr>
          <a:xfrm>
            <a:off x="4521518" y="2352199"/>
            <a:ext cx="570833" cy="198120"/>
          </a:xfrm>
          <a:prstGeom prst="rect">
            <a:avLst/>
          </a:prstGeom>
          <a:noFill/>
          <a:ln>
            <a:noFill/>
          </a:ln>
        </p:spPr>
        <p:txBody>
          <a:bodyPr wrap="none" lIns="0" tIns="0" rIns="0" bIns="0" anchor="t" anchorCtr="0">
            <a:spAutoFit/>
          </a:bodyPr>
          <a:lstStyle/>
          <a:p>
            <a:pPr algn="l"/>
            <a:r>
              <a:rPr lang="zh-CN" sz="975" b="1" dirty="0">
                <a:solidFill>
                  <a:srgbClr val="0077CC"/>
                </a:solidFill>
                <a:latin typeface="Arial"/>
                <a:ea typeface="SimHei"/>
                <a:cs typeface="Arial"/>
              </a:rPr>
              <a:t>业务痛点</a:t>
            </a:r>
          </a:p>
        </p:txBody>
      </p:sp>
      <p:sp>
        <p:nvSpPr>
          <p:cNvPr id="25" name="TextBox 25"/>
          <p:cNvSpPr txBox="1"/>
          <p:nvPr/>
        </p:nvSpPr>
        <p:spPr>
          <a:xfrm>
            <a:off x="4520565" y="2572702"/>
            <a:ext cx="1206818" cy="12611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特种作业工种多，</a:t>
            </a:r>
            <a:r>
              <a:rPr lang="zh-CN" sz="1050" dirty="0">
                <a:solidFill>
                  <a:srgbClr val="1A1A2E"/>
                </a:solidFill>
                <a:latin typeface="Arial"/>
                <a:ea typeface="Microsoft YaHei"/>
                <a:cs typeface="Arial"/>
              </a:rPr>
              <a:t>分包层级复杂</a:t>
            </a:r>
            <a:r>
              <a:rPr lang="zh-CN" sz="1050" dirty="0">
                <a:solidFill>
                  <a:srgbClr val="1A1A2E"/>
                </a:solidFill>
                <a:latin typeface="Arial"/>
                <a:ea typeface="Microsoft YaHei"/>
                <a:cs typeface="Arial"/>
              </a:rPr>
              <a:t>· 特种证查验繁琐，</a:t>
            </a:r>
            <a:r>
              <a:rPr lang="zh-CN" sz="1050" dirty="0">
                <a:solidFill>
                  <a:srgbClr val="1A1A2E"/>
                </a:solidFill>
                <a:latin typeface="Arial"/>
                <a:ea typeface="Microsoft YaHei"/>
                <a:cs typeface="Arial"/>
              </a:rPr>
              <a:t>伪造风险难发现</a:t>
            </a:r>
            <a:r>
              <a:rPr lang="zh-CN" sz="1050" dirty="0">
                <a:solidFill>
                  <a:srgbClr val="1A1A2E"/>
                </a:solidFill>
                <a:latin typeface="Arial"/>
                <a:ea typeface="Microsoft YaHei"/>
                <a:cs typeface="Arial"/>
              </a:rPr>
              <a:t>· 准入规则复杂，</a:t>
            </a:r>
            <a:r>
              <a:rPr lang="zh-CN" sz="1050" dirty="0">
                <a:solidFill>
                  <a:srgbClr val="1A1A2E"/>
                </a:solidFill>
                <a:latin typeface="Arial"/>
                <a:ea typeface="Microsoft YaHei"/>
                <a:cs typeface="Arial"/>
              </a:rPr>
              <a:t>人工判断易出错</a:t>
            </a:r>
          </a:p>
        </p:txBody>
      </p:sp>
      <p:sp>
        <p:nvSpPr>
          <p:cNvPr id="26" name="Line 26"/>
          <p:cNvSpPr/>
          <p:nvPr/>
        </p:nvSpPr>
        <p:spPr>
          <a:xfrm>
            <a:off x="4533900" y="38100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27" name="TextBox 27"/>
          <p:cNvSpPr txBox="1"/>
          <p:nvPr/>
        </p:nvSpPr>
        <p:spPr>
          <a:xfrm>
            <a:off x="4521518" y="3933349"/>
            <a:ext cx="843867" cy="198120"/>
          </a:xfrm>
          <a:prstGeom prst="rect">
            <a:avLst/>
          </a:prstGeom>
          <a:noFill/>
          <a:ln>
            <a:noFill/>
          </a:ln>
        </p:spPr>
        <p:txBody>
          <a:bodyPr wrap="none" lIns="0" tIns="0" rIns="0" bIns="0" anchor="t" anchorCtr="0">
            <a:spAutoFit/>
          </a:bodyPr>
          <a:lstStyle/>
          <a:p>
            <a:pPr algn="l"/>
            <a:r>
              <a:rPr lang="zh-CN" sz="975" b="1" dirty="0">
                <a:solidFill>
                  <a:srgbClr val="0077CC"/>
                </a:solidFill>
                <a:latin typeface="Arial"/>
                <a:ea typeface="SimHei"/>
                <a:cs typeface="Arial"/>
              </a:rPr>
              <a:t>核验服务内容</a:t>
            </a:r>
          </a:p>
        </p:txBody>
      </p:sp>
      <p:sp>
        <p:nvSpPr>
          <p:cNvPr id="28" name="TextBox 28"/>
          <p:cNvSpPr txBox="1"/>
          <p:nvPr/>
        </p:nvSpPr>
        <p:spPr>
          <a:xfrm>
            <a:off x="4520565" y="4153852"/>
            <a:ext cx="1473518" cy="8420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特种作业证真实性核验</a:t>
            </a:r>
            <a:r>
              <a:rPr lang="zh-CN" sz="1050" dirty="0">
                <a:solidFill>
                  <a:srgbClr val="1A1A2E"/>
                </a:solidFill>
                <a:latin typeface="Arial"/>
                <a:ea typeface="Microsoft YaHei"/>
                <a:cs typeface="Arial"/>
              </a:rPr>
              <a:t>· 分包人员批量清单核验</a:t>
            </a:r>
            <a:r>
              <a:rPr lang="zh-CN" sz="1050" dirty="0">
                <a:solidFill>
                  <a:srgbClr val="1A1A2E"/>
                </a:solidFill>
                <a:latin typeface="Arial"/>
                <a:ea typeface="Microsoft YaHei"/>
                <a:cs typeface="Arial"/>
              </a:rPr>
              <a:t>· 岗位准入规则自动判断</a:t>
            </a:r>
            <a:r>
              <a:rPr lang="zh-CN" sz="1050" dirty="0">
                <a:solidFill>
                  <a:srgbClr val="1A1A2E"/>
                </a:solidFill>
                <a:latin typeface="Arial"/>
                <a:ea typeface="Microsoft YaHei"/>
                <a:cs typeface="Arial"/>
              </a:rPr>
              <a:t>· 核验结论报告生成</a:t>
            </a:r>
          </a:p>
        </p:txBody>
      </p:sp>
      <p:sp>
        <p:nvSpPr>
          <p:cNvPr id="29" name="Line 29"/>
          <p:cNvSpPr/>
          <p:nvPr/>
        </p:nvSpPr>
        <p:spPr>
          <a:xfrm>
            <a:off x="4533900" y="52959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30" name="TextBox 30"/>
          <p:cNvSpPr txBox="1"/>
          <p:nvPr/>
        </p:nvSpPr>
        <p:spPr>
          <a:xfrm>
            <a:off x="4521518" y="5419249"/>
            <a:ext cx="570833" cy="198120"/>
          </a:xfrm>
          <a:prstGeom prst="rect">
            <a:avLst/>
          </a:prstGeom>
          <a:noFill/>
          <a:ln>
            <a:noFill/>
          </a:ln>
        </p:spPr>
        <p:txBody>
          <a:bodyPr wrap="none" lIns="0" tIns="0" rIns="0" bIns="0" anchor="t" anchorCtr="0">
            <a:spAutoFit/>
          </a:bodyPr>
          <a:lstStyle/>
          <a:p>
            <a:pPr algn="l"/>
            <a:r>
              <a:rPr lang="zh-CN" sz="975" b="1" dirty="0">
                <a:solidFill>
                  <a:srgbClr val="2D7D46"/>
                </a:solidFill>
                <a:latin typeface="Arial"/>
                <a:ea typeface="SimHei"/>
                <a:cs typeface="Arial"/>
              </a:rPr>
              <a:t>预期价值</a:t>
            </a:r>
          </a:p>
        </p:txBody>
      </p:sp>
      <p:sp>
        <p:nvSpPr>
          <p:cNvPr id="31" name="TextBox 31"/>
          <p:cNvSpPr txBox="1"/>
          <p:nvPr/>
        </p:nvSpPr>
        <p:spPr>
          <a:xfrm>
            <a:off x="4520565" y="5639752"/>
            <a:ext cx="1473518"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特种证伪造风险降低</a:t>
            </a:r>
            <a:r>
              <a:rPr lang="zh-CN" sz="1050" dirty="0">
                <a:solidFill>
                  <a:srgbClr val="1A1A2E"/>
                </a:solidFill>
                <a:latin typeface="Arial"/>
                <a:ea typeface="Microsoft YaHei"/>
                <a:cs typeface="Arial"/>
              </a:rPr>
              <a:t>· 准入审批效率显著提升</a:t>
            </a:r>
          </a:p>
        </p:txBody>
      </p:sp>
      <p:sp>
        <p:nvSpPr>
          <p:cNvPr id="32" name="Rectangle 32"/>
          <p:cNvSpPr/>
          <p:nvPr/>
        </p:nvSpPr>
        <p:spPr>
          <a:xfrm>
            <a:off x="8134350" y="1695450"/>
            <a:ext cx="3505200" cy="4667250"/>
          </a:xfrm>
          <a:prstGeom prst="roundRect">
            <a:avLst>
              <a:gd name="adj" fmla="val 1087"/>
            </a:avLst>
          </a:prstGeom>
          <a:solidFill>
            <a:srgbClr val="F0F4F8"/>
          </a:solidFill>
          <a:ln>
            <a:noFill/>
          </a:ln>
        </p:spPr>
      </p:sp>
      <p:sp>
        <p:nvSpPr>
          <p:cNvPr id="33" name="Rectangle 33"/>
          <p:cNvSpPr/>
          <p:nvPr/>
        </p:nvSpPr>
        <p:spPr>
          <a:xfrm>
            <a:off x="8134350" y="1695450"/>
            <a:ext cx="3505200" cy="533400"/>
          </a:xfrm>
          <a:prstGeom prst="roundRect">
            <a:avLst>
              <a:gd name="adj" fmla="val 7143"/>
            </a:avLst>
          </a:prstGeom>
          <a:solidFill>
            <a:srgbClr val="4A90D9"/>
          </a:solidFill>
          <a:ln>
            <a:noFill/>
          </a:ln>
        </p:spPr>
      </p:sp>
      <p:sp>
        <p:nvSpPr>
          <p:cNvPr id="34" name="Rectangle 34"/>
          <p:cNvSpPr/>
          <p:nvPr/>
        </p:nvSpPr>
        <p:spPr>
          <a:xfrm>
            <a:off x="8134350" y="2000250"/>
            <a:ext cx="3505200" cy="228600"/>
          </a:xfrm>
          <a:prstGeom prst="rect">
            <a:avLst/>
          </a:prstGeom>
          <a:solidFill>
            <a:srgbClr val="4A90D9"/>
          </a:solidFill>
          <a:ln>
            <a:noFill/>
          </a:ln>
        </p:spPr>
      </p:sp>
      <p:sp>
        <p:nvSpPr>
          <p:cNvPr id="35" name="Freeform 35"/>
          <p:cNvSpPr/>
          <p:nvPr/>
        </p:nvSpPr>
        <p:spPr>
          <a:xfrm>
            <a:off x="8330214" y="1819275"/>
            <a:ext cx="255972" cy="266700"/>
          </a:xfrm>
          <a:custGeom>
            <a:avLst/>
            <a:gdLst/>
            <a:ahLst/>
            <a:cxnLst/>
            <a:rect l="l" t="t" r="r" b="b"/>
            <a:pathLst>
              <a:path w="255972" h="266700">
                <a:moveTo>
                  <a:pt x="102983" y="0"/>
                </a:moveTo>
                <a:lnTo>
                  <a:pt x="152989" y="0"/>
                </a:lnTo>
                <a:lnTo>
                  <a:pt x="162889" y="39596"/>
                </a:lnTo>
                <a:cubicBezTo>
                  <a:pt x="173452" y="43530"/>
                  <a:pt x="183171" y="49199"/>
                  <a:pt x="191699" y="56255"/>
                </a:cubicBezTo>
                <a:lnTo>
                  <a:pt x="230969" y="45022"/>
                </a:lnTo>
                <a:lnTo>
                  <a:pt x="255972" y="88328"/>
                </a:lnTo>
                <a:lnTo>
                  <a:pt x="226620" y="116709"/>
                </a:lnTo>
                <a:cubicBezTo>
                  <a:pt x="227527" y="122121"/>
                  <a:pt x="227998" y="127680"/>
                  <a:pt x="227998" y="133350"/>
                </a:cubicBezTo>
                <a:cubicBezTo>
                  <a:pt x="227998" y="139020"/>
                  <a:pt x="227527" y="144579"/>
                  <a:pt x="226620" y="149991"/>
                </a:cubicBezTo>
                <a:lnTo>
                  <a:pt x="255972" y="178372"/>
                </a:lnTo>
                <a:lnTo>
                  <a:pt x="230969" y="221678"/>
                </a:lnTo>
                <a:lnTo>
                  <a:pt x="191699" y="210445"/>
                </a:lnTo>
                <a:cubicBezTo>
                  <a:pt x="183171" y="217501"/>
                  <a:pt x="173452" y="223170"/>
                  <a:pt x="162889" y="227103"/>
                </a:cubicBezTo>
                <a:lnTo>
                  <a:pt x="152989" y="266700"/>
                </a:lnTo>
                <a:lnTo>
                  <a:pt x="102983" y="266700"/>
                </a:lnTo>
                <a:lnTo>
                  <a:pt x="93084" y="227103"/>
                </a:lnTo>
                <a:cubicBezTo>
                  <a:pt x="82521" y="223170"/>
                  <a:pt x="72801" y="217501"/>
                  <a:pt x="64273" y="210445"/>
                </a:cubicBezTo>
                <a:lnTo>
                  <a:pt x="25003" y="221678"/>
                </a:lnTo>
                <a:lnTo>
                  <a:pt x="0" y="178372"/>
                </a:lnTo>
                <a:lnTo>
                  <a:pt x="29352" y="149991"/>
                </a:lnTo>
                <a:cubicBezTo>
                  <a:pt x="28445" y="144579"/>
                  <a:pt x="27974" y="139020"/>
                  <a:pt x="27974" y="133350"/>
                </a:cubicBezTo>
                <a:cubicBezTo>
                  <a:pt x="27974" y="127680"/>
                  <a:pt x="28445" y="122121"/>
                  <a:pt x="29352" y="116709"/>
                </a:cubicBezTo>
                <a:lnTo>
                  <a:pt x="0" y="88328"/>
                </a:lnTo>
                <a:lnTo>
                  <a:pt x="25003" y="45022"/>
                </a:lnTo>
                <a:lnTo>
                  <a:pt x="64273" y="56255"/>
                </a:lnTo>
                <a:cubicBezTo>
                  <a:pt x="72801" y="49199"/>
                  <a:pt x="82520" y="43530"/>
                  <a:pt x="93084" y="39596"/>
                </a:cubicBezTo>
                <a:lnTo>
                  <a:pt x="102983" y="0"/>
                </a:lnTo>
                <a:close/>
                <a:moveTo>
                  <a:pt x="127986" y="166688"/>
                </a:moveTo>
                <a:cubicBezTo>
                  <a:pt x="146398" y="166688"/>
                  <a:pt x="161323" y="151762"/>
                  <a:pt x="161323" y="133350"/>
                </a:cubicBezTo>
                <a:cubicBezTo>
                  <a:pt x="161323" y="114938"/>
                  <a:pt x="146398" y="100012"/>
                  <a:pt x="127986" y="100012"/>
                </a:cubicBezTo>
                <a:cubicBezTo>
                  <a:pt x="109574" y="100012"/>
                  <a:pt x="94649" y="114938"/>
                  <a:pt x="94649" y="133350"/>
                </a:cubicBezTo>
                <a:cubicBezTo>
                  <a:pt x="94649" y="151762"/>
                  <a:pt x="109574" y="166688"/>
                  <a:pt x="127986" y="166688"/>
                </a:cubicBezTo>
                <a:close/>
              </a:path>
            </a:pathLst>
          </a:custGeom>
          <a:solidFill>
            <a:srgbClr val="FFFFFF"/>
          </a:solidFill>
          <a:ln>
            <a:noFill/>
          </a:ln>
        </p:spPr>
      </p:sp>
      <p:sp>
        <p:nvSpPr>
          <p:cNvPr id="36" name="TextBox 36"/>
          <p:cNvSpPr txBox="1"/>
          <p:nvPr/>
        </p:nvSpPr>
        <p:spPr>
          <a:xfrm>
            <a:off x="8689658" y="1891189"/>
            <a:ext cx="1639086" cy="259080"/>
          </a:xfrm>
          <a:prstGeom prst="rect">
            <a:avLst/>
          </a:prstGeom>
          <a:noFill/>
          <a:ln>
            <a:noFill/>
          </a:ln>
        </p:spPr>
        <p:txBody>
          <a:bodyPr wrap="none" lIns="0" tIns="0" rIns="0" bIns="0" anchor="t" anchorCtr="0">
            <a:spAutoFit/>
          </a:bodyPr>
          <a:lstStyle/>
          <a:p>
            <a:pPr algn="l"/>
            <a:r>
              <a:rPr lang="zh-CN" sz="1275" b="1" dirty="0">
                <a:solidFill>
                  <a:srgbClr val="FFFFFF"/>
                </a:solidFill>
                <a:latin typeface="Arial"/>
                <a:ea typeface="SimHei"/>
                <a:cs typeface="Arial"/>
              </a:rPr>
              <a:t>检修技改集中窗口期</a:t>
            </a:r>
          </a:p>
        </p:txBody>
      </p:sp>
      <p:sp>
        <p:nvSpPr>
          <p:cNvPr id="37" name="TextBox 37"/>
          <p:cNvSpPr txBox="1"/>
          <p:nvPr/>
        </p:nvSpPr>
        <p:spPr>
          <a:xfrm>
            <a:off x="8312468" y="2352199"/>
            <a:ext cx="570833" cy="198120"/>
          </a:xfrm>
          <a:prstGeom prst="rect">
            <a:avLst/>
          </a:prstGeom>
          <a:noFill/>
          <a:ln>
            <a:noFill/>
          </a:ln>
        </p:spPr>
        <p:txBody>
          <a:bodyPr wrap="none" lIns="0" tIns="0" rIns="0" bIns="0" anchor="t" anchorCtr="0">
            <a:spAutoFit/>
          </a:bodyPr>
          <a:lstStyle/>
          <a:p>
            <a:pPr algn="l"/>
            <a:r>
              <a:rPr lang="zh-CN" sz="975" b="1" dirty="0">
                <a:solidFill>
                  <a:srgbClr val="0077CC"/>
                </a:solidFill>
                <a:latin typeface="Arial"/>
                <a:ea typeface="SimHei"/>
                <a:cs typeface="Arial"/>
              </a:rPr>
              <a:t>业务痛点</a:t>
            </a:r>
          </a:p>
        </p:txBody>
      </p:sp>
      <p:sp>
        <p:nvSpPr>
          <p:cNvPr id="38" name="TextBox 38"/>
          <p:cNvSpPr txBox="1"/>
          <p:nvPr/>
        </p:nvSpPr>
        <p:spPr>
          <a:xfrm>
            <a:off x="8311515" y="2572702"/>
            <a:ext cx="1360170" cy="12611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停电窗口短，</a:t>
            </a:r>
            <a:r>
              <a:rPr lang="zh-CN" sz="1050" dirty="0">
                <a:solidFill>
                  <a:srgbClr val="1A1A2E"/>
                </a:solidFill>
                <a:latin typeface="Arial"/>
                <a:ea typeface="Microsoft YaHei"/>
                <a:cs typeface="Arial"/>
              </a:rPr>
              <a:t>外委人员短期集中进场</a:t>
            </a:r>
            <a:r>
              <a:rPr lang="zh-CN" sz="1050" dirty="0">
                <a:solidFill>
                  <a:srgbClr val="1A1A2E"/>
                </a:solidFill>
                <a:latin typeface="Arial"/>
                <a:ea typeface="Microsoft YaHei"/>
                <a:cs typeface="Arial"/>
              </a:rPr>
              <a:t>· 快速核验需求急迫，</a:t>
            </a:r>
            <a:r>
              <a:rPr lang="zh-CN" sz="1050" dirty="0">
                <a:solidFill>
                  <a:srgbClr val="1A1A2E"/>
                </a:solidFill>
                <a:latin typeface="Arial"/>
                <a:ea typeface="Microsoft YaHei"/>
                <a:cs typeface="Arial"/>
              </a:rPr>
              <a:t>无法等待人工审查</a:t>
            </a:r>
            <a:r>
              <a:rPr lang="zh-CN" sz="1050" dirty="0">
                <a:solidFill>
                  <a:srgbClr val="1A1A2E"/>
                </a:solidFill>
                <a:latin typeface="Arial"/>
                <a:ea typeface="Microsoft YaHei"/>
                <a:cs typeface="Arial"/>
              </a:rPr>
              <a:t>· 不合格人员退场</a:t>
            </a:r>
            <a:r>
              <a:rPr lang="zh-CN" sz="1050" dirty="0">
                <a:solidFill>
                  <a:srgbClr val="1A1A2E"/>
                </a:solidFill>
                <a:latin typeface="Arial"/>
                <a:ea typeface="Microsoft YaHei"/>
                <a:cs typeface="Arial"/>
              </a:rPr>
              <a:t>成本极高</a:t>
            </a:r>
          </a:p>
        </p:txBody>
      </p:sp>
      <p:sp>
        <p:nvSpPr>
          <p:cNvPr id="39" name="Line 39"/>
          <p:cNvSpPr/>
          <p:nvPr/>
        </p:nvSpPr>
        <p:spPr>
          <a:xfrm>
            <a:off x="8324850" y="38100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40" name="TextBox 40"/>
          <p:cNvSpPr txBox="1"/>
          <p:nvPr/>
        </p:nvSpPr>
        <p:spPr>
          <a:xfrm>
            <a:off x="8312468" y="3933349"/>
            <a:ext cx="843867"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SimHei"/>
                <a:cs typeface="Arial"/>
              </a:rPr>
              <a:t>核验服务内容</a:t>
            </a:r>
          </a:p>
        </p:txBody>
      </p:sp>
      <p:sp>
        <p:nvSpPr>
          <p:cNvPr id="41" name="TextBox 41"/>
          <p:cNvSpPr txBox="1"/>
          <p:nvPr/>
        </p:nvSpPr>
        <p:spPr>
          <a:xfrm>
            <a:off x="8311515" y="4153852"/>
            <a:ext cx="1340168" cy="8420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快速现场考试</a:t>
            </a:r>
            <a:r>
              <a:rPr lang="zh-CN" sz="1050" dirty="0">
                <a:solidFill>
                  <a:srgbClr val="1A1A2E"/>
                </a:solidFill>
                <a:latin typeface="Arial"/>
                <a:ea typeface="Microsoft YaHei"/>
                <a:cs typeface="Arial"/>
              </a:rPr>
              <a:t>· 批量清单实时核验</a:t>
            </a:r>
            <a:r>
              <a:rPr lang="zh-CN" sz="1050" dirty="0">
                <a:solidFill>
                  <a:srgbClr val="1A1A2E"/>
                </a:solidFill>
                <a:latin typeface="Arial"/>
                <a:ea typeface="Microsoft YaHei"/>
                <a:cs typeface="Arial"/>
              </a:rPr>
              <a:t>· 不合格自动推送补训</a:t>
            </a:r>
            <a:r>
              <a:rPr lang="zh-CN" sz="1050" dirty="0">
                <a:solidFill>
                  <a:srgbClr val="1A1A2E"/>
                </a:solidFill>
                <a:latin typeface="Arial"/>
                <a:ea typeface="Microsoft YaHei"/>
                <a:cs typeface="Arial"/>
              </a:rPr>
              <a:t>· 电子化准入证明</a:t>
            </a:r>
          </a:p>
        </p:txBody>
      </p:sp>
      <p:sp>
        <p:nvSpPr>
          <p:cNvPr id="42" name="Line 42"/>
          <p:cNvSpPr/>
          <p:nvPr/>
        </p:nvSpPr>
        <p:spPr>
          <a:xfrm>
            <a:off x="8324850" y="5295900"/>
            <a:ext cx="3124200" cy="9525"/>
          </a:xfrm>
          <a:custGeom>
            <a:avLst/>
            <a:gdLst/>
            <a:ahLst/>
            <a:cxnLst/>
            <a:rect l="l" t="t" r="r" b="b"/>
            <a:pathLst>
              <a:path w="3124200" h="9525">
                <a:moveTo>
                  <a:pt x="0" y="0"/>
                </a:moveTo>
                <a:lnTo>
                  <a:pt x="3124200" y="0"/>
                </a:lnTo>
              </a:path>
            </a:pathLst>
          </a:custGeom>
          <a:noFill/>
          <a:ln w="9525">
            <a:solidFill>
              <a:srgbClr val="CBD5E0"/>
            </a:solidFill>
          </a:ln>
        </p:spPr>
      </p:sp>
      <p:sp>
        <p:nvSpPr>
          <p:cNvPr id="43" name="TextBox 43"/>
          <p:cNvSpPr txBox="1"/>
          <p:nvPr/>
        </p:nvSpPr>
        <p:spPr>
          <a:xfrm>
            <a:off x="8312468" y="5419249"/>
            <a:ext cx="570833" cy="198120"/>
          </a:xfrm>
          <a:prstGeom prst="rect">
            <a:avLst/>
          </a:prstGeom>
          <a:noFill/>
          <a:ln>
            <a:noFill/>
          </a:ln>
        </p:spPr>
        <p:txBody>
          <a:bodyPr wrap="none" lIns="0" tIns="0" rIns="0" bIns="0" anchor="t" anchorCtr="0">
            <a:spAutoFit/>
          </a:bodyPr>
          <a:lstStyle/>
          <a:p>
            <a:pPr algn="l"/>
            <a:r>
              <a:rPr lang="zh-CN" sz="975" b="1" dirty="0">
                <a:solidFill>
                  <a:srgbClr val="2D7D46"/>
                </a:solidFill>
                <a:latin typeface="Arial"/>
                <a:ea typeface="SimHei"/>
                <a:cs typeface="Arial"/>
              </a:rPr>
              <a:t>预期价值</a:t>
            </a:r>
          </a:p>
        </p:txBody>
      </p:sp>
      <p:sp>
        <p:nvSpPr>
          <p:cNvPr id="44" name="TextBox 44"/>
          <p:cNvSpPr txBox="1"/>
          <p:nvPr/>
        </p:nvSpPr>
        <p:spPr>
          <a:xfrm>
            <a:off x="8311515" y="5639752"/>
            <a:ext cx="1473518" cy="42291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窗口期核验效率最大化</a:t>
            </a:r>
            <a:r>
              <a:rPr lang="zh-CN" sz="1050" dirty="0">
                <a:solidFill>
                  <a:srgbClr val="1A1A2E"/>
                </a:solidFill>
                <a:latin typeface="Arial"/>
                <a:ea typeface="Microsoft YaHei"/>
                <a:cs typeface="Arial"/>
              </a:rPr>
              <a:t>· 补训闭环全程可追溯</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第三章 · 技术与业务实现</a:t>
            </a:r>
          </a:p>
        </p:txBody>
      </p:sp>
      <p:sp>
        <p:nvSpPr>
          <p:cNvPr id="4" name="TextBox 4"/>
          <p:cNvSpPr txBox="1"/>
          <p:nvPr/>
        </p:nvSpPr>
        <p:spPr>
          <a:xfrm>
            <a:off x="525780" y="1183005"/>
            <a:ext cx="9712447"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业务流程：项目建档→人员导入→授权确认→训考→证照→准入→企业使用→审计</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3508891" y="1688306"/>
            <a:ext cx="5174218"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八环节完整覆盖"企业发起→个人授权→平台核验→结果反馈→全程留痕"业务闭环</a:t>
            </a:r>
          </a:p>
        </p:txBody>
      </p:sp>
      <p:sp>
        <p:nvSpPr>
          <p:cNvPr id="7" name="Rectangle 7"/>
          <p:cNvSpPr/>
          <p:nvPr/>
        </p:nvSpPr>
        <p:spPr>
          <a:xfrm>
            <a:off x="552450" y="2000250"/>
            <a:ext cx="2286000" cy="1238250"/>
          </a:xfrm>
          <a:prstGeom prst="roundRect">
            <a:avLst>
              <a:gd name="adj" fmla="val 3077"/>
            </a:avLst>
          </a:prstGeom>
          <a:solidFill>
            <a:srgbClr val="003A70"/>
          </a:solidFill>
          <a:ln>
            <a:noFill/>
          </a:ln>
        </p:spPr>
      </p:sp>
      <p:sp>
        <p:nvSpPr>
          <p:cNvPr id="8" name="TextBox 8"/>
          <p:cNvSpPr txBox="1"/>
          <p:nvPr/>
        </p:nvSpPr>
        <p:spPr>
          <a:xfrm>
            <a:off x="1507060" y="2078355"/>
            <a:ext cx="376780" cy="426720"/>
          </a:xfrm>
          <a:prstGeom prst="rect">
            <a:avLst/>
          </a:prstGeom>
          <a:noFill/>
          <a:ln>
            <a:noFill/>
          </a:ln>
        </p:spPr>
        <p:txBody>
          <a:bodyPr wrap="none" lIns="0" tIns="0" rIns="0" bIns="0" anchor="t" anchorCtr="0">
            <a:spAutoFit/>
          </a:bodyPr>
          <a:lstStyle/>
          <a:p>
            <a:pPr algn="ctr"/>
            <a:r>
              <a:rPr lang="en-US" sz="2100" b="1" dirty="0">
                <a:solidFill>
                  <a:srgbClr val="FFFFFF">
                    <a:alphaMod val="15000"/>
                  </a:srgbClr>
                </a:solidFill>
                <a:latin typeface="Arial"/>
                <a:ea typeface="Arial"/>
                <a:cs typeface="Arial"/>
              </a:rPr>
              <a:t>01</a:t>
            </a:r>
          </a:p>
        </p:txBody>
      </p:sp>
      <p:sp>
        <p:nvSpPr>
          <p:cNvPr id="9" name="TextBox 9"/>
          <p:cNvSpPr txBox="1"/>
          <p:nvPr/>
        </p:nvSpPr>
        <p:spPr>
          <a:xfrm>
            <a:off x="1322213" y="2291239"/>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项目建档</a:t>
            </a:r>
          </a:p>
        </p:txBody>
      </p:sp>
      <p:sp>
        <p:nvSpPr>
          <p:cNvPr id="10" name="Line 10"/>
          <p:cNvSpPr/>
          <p:nvPr/>
        </p:nvSpPr>
        <p:spPr>
          <a:xfrm>
            <a:off x="742950" y="2552700"/>
            <a:ext cx="1905000" cy="9525"/>
          </a:xfrm>
          <a:custGeom>
            <a:avLst/>
            <a:gdLst/>
            <a:ahLst/>
            <a:cxnLst/>
            <a:rect l="l" t="t" r="r" b="b"/>
            <a:pathLst>
              <a:path w="1905000" h="9525">
                <a:moveTo>
                  <a:pt x="0" y="0"/>
                </a:moveTo>
                <a:lnTo>
                  <a:pt x="1905000" y="0"/>
                </a:lnTo>
              </a:path>
            </a:pathLst>
          </a:custGeom>
          <a:noFill/>
          <a:ln w="9525">
            <a:solidFill>
              <a:srgbClr val="FFFFFF">
                <a:alpha val="30000"/>
              </a:srgbClr>
            </a:solidFill>
          </a:ln>
        </p:spPr>
      </p:sp>
      <p:sp>
        <p:nvSpPr>
          <p:cNvPr id="11" name="TextBox 11"/>
          <p:cNvSpPr txBox="1"/>
          <p:nvPr/>
        </p:nvSpPr>
        <p:spPr>
          <a:xfrm>
            <a:off x="1387281" y="2656999"/>
            <a:ext cx="616339"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企业+平台</a:t>
            </a:r>
          </a:p>
        </p:txBody>
      </p:sp>
      <p:sp>
        <p:nvSpPr>
          <p:cNvPr id="12" name="TextBox 12"/>
          <p:cNvSpPr txBox="1"/>
          <p:nvPr/>
        </p:nvSpPr>
        <p:spPr>
          <a:xfrm>
            <a:off x="1163002" y="2866549"/>
            <a:ext cx="1064895"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录入项目基本信息</a:t>
            </a:r>
          </a:p>
        </p:txBody>
      </p:sp>
      <p:sp>
        <p:nvSpPr>
          <p:cNvPr id="13" name="TextBox 13"/>
          <p:cNvSpPr txBox="1"/>
          <p:nvPr/>
        </p:nvSpPr>
        <p:spPr>
          <a:xfrm>
            <a:off x="1293019" y="3057049"/>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配置准入规则</a:t>
            </a:r>
          </a:p>
        </p:txBody>
      </p:sp>
      <p:sp>
        <p:nvSpPr>
          <p:cNvPr id="14" name="Polygon 14"/>
          <p:cNvSpPr/>
          <p:nvPr/>
        </p:nvSpPr>
        <p:spPr>
          <a:xfrm>
            <a:off x="2857500" y="2495550"/>
            <a:ext cx="171450" cy="247650"/>
          </a:xfrm>
          <a:custGeom>
            <a:avLst/>
            <a:gdLst/>
            <a:ahLst/>
            <a:cxnLst/>
            <a:rect l="l" t="t" r="r" b="b"/>
            <a:pathLst>
              <a:path w="171450" h="247650">
                <a:moveTo>
                  <a:pt x="0" y="0"/>
                </a:moveTo>
                <a:lnTo>
                  <a:pt x="171450" y="123825"/>
                </a:lnTo>
                <a:lnTo>
                  <a:pt x="0" y="247650"/>
                </a:lnTo>
                <a:close/>
              </a:path>
            </a:pathLst>
          </a:custGeom>
          <a:solidFill>
            <a:srgbClr val="003A70"/>
          </a:solidFill>
          <a:ln>
            <a:noFill/>
          </a:ln>
        </p:spPr>
      </p:sp>
      <p:sp>
        <p:nvSpPr>
          <p:cNvPr id="15" name="Line 15"/>
          <p:cNvSpPr/>
          <p:nvPr/>
        </p:nvSpPr>
        <p:spPr>
          <a:xfrm>
            <a:off x="2838450" y="2619375"/>
            <a:ext cx="171450" cy="9525"/>
          </a:xfrm>
          <a:custGeom>
            <a:avLst/>
            <a:gdLst/>
            <a:ahLst/>
            <a:cxnLst/>
            <a:rect l="l" t="t" r="r" b="b"/>
            <a:pathLst>
              <a:path w="171450" h="9525">
                <a:moveTo>
                  <a:pt x="0" y="0"/>
                </a:moveTo>
                <a:lnTo>
                  <a:pt x="171450" y="0"/>
                </a:lnTo>
              </a:path>
            </a:pathLst>
          </a:custGeom>
          <a:noFill/>
          <a:ln w="19050">
            <a:solidFill>
              <a:srgbClr val="003A70"/>
            </a:solidFill>
          </a:ln>
        </p:spPr>
      </p:sp>
      <p:sp>
        <p:nvSpPr>
          <p:cNvPr id="16" name="Rectangle 16"/>
          <p:cNvSpPr/>
          <p:nvPr/>
        </p:nvSpPr>
        <p:spPr>
          <a:xfrm>
            <a:off x="3028950" y="2000250"/>
            <a:ext cx="2286000" cy="1238250"/>
          </a:xfrm>
          <a:prstGeom prst="roundRect">
            <a:avLst>
              <a:gd name="adj" fmla="val 3077"/>
            </a:avLst>
          </a:prstGeom>
          <a:solidFill>
            <a:srgbClr val="003A70">
              <a:alpha val="80000"/>
            </a:srgbClr>
          </a:solidFill>
          <a:ln>
            <a:noFill/>
          </a:ln>
        </p:spPr>
      </p:sp>
      <p:sp>
        <p:nvSpPr>
          <p:cNvPr id="17" name="TextBox 17"/>
          <p:cNvSpPr txBox="1"/>
          <p:nvPr/>
        </p:nvSpPr>
        <p:spPr>
          <a:xfrm>
            <a:off x="3620191" y="2291239"/>
            <a:ext cx="11035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人员清单导入</a:t>
            </a:r>
          </a:p>
        </p:txBody>
      </p:sp>
      <p:sp>
        <p:nvSpPr>
          <p:cNvPr id="18" name="Line 18"/>
          <p:cNvSpPr/>
          <p:nvPr/>
        </p:nvSpPr>
        <p:spPr>
          <a:xfrm>
            <a:off x="3219450" y="2552700"/>
            <a:ext cx="1905000" cy="9525"/>
          </a:xfrm>
          <a:custGeom>
            <a:avLst/>
            <a:gdLst/>
            <a:ahLst/>
            <a:cxnLst/>
            <a:rect l="l" t="t" r="r" b="b"/>
            <a:pathLst>
              <a:path w="1905000" h="9525">
                <a:moveTo>
                  <a:pt x="0" y="0"/>
                </a:moveTo>
                <a:lnTo>
                  <a:pt x="1905000" y="0"/>
                </a:lnTo>
              </a:path>
            </a:pathLst>
          </a:custGeom>
          <a:noFill/>
          <a:ln w="9525">
            <a:solidFill>
              <a:srgbClr val="FFFFFF">
                <a:alpha val="30000"/>
              </a:srgbClr>
            </a:solidFill>
          </a:ln>
        </p:spPr>
      </p:sp>
      <p:sp>
        <p:nvSpPr>
          <p:cNvPr id="19" name="TextBox 19"/>
          <p:cNvSpPr txBox="1"/>
          <p:nvPr/>
        </p:nvSpPr>
        <p:spPr>
          <a:xfrm>
            <a:off x="3704511" y="2656999"/>
            <a:ext cx="934879"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承包商批量上传</a:t>
            </a:r>
          </a:p>
        </p:txBody>
      </p:sp>
      <p:sp>
        <p:nvSpPr>
          <p:cNvPr id="20" name="TextBox 20"/>
          <p:cNvSpPr txBox="1"/>
          <p:nvPr/>
        </p:nvSpPr>
        <p:spPr>
          <a:xfrm>
            <a:off x="3574494" y="2866549"/>
            <a:ext cx="1194911"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参加项目的人员名单</a:t>
            </a:r>
          </a:p>
        </p:txBody>
      </p:sp>
      <p:sp>
        <p:nvSpPr>
          <p:cNvPr id="21" name="TextBox 21"/>
          <p:cNvSpPr txBox="1"/>
          <p:nvPr/>
        </p:nvSpPr>
        <p:spPr>
          <a:xfrm>
            <a:off x="3834527" y="3057049"/>
            <a:ext cx="674846"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及岗位信息</a:t>
            </a:r>
          </a:p>
        </p:txBody>
      </p:sp>
      <p:sp>
        <p:nvSpPr>
          <p:cNvPr id="22" name="Polygon 22"/>
          <p:cNvSpPr/>
          <p:nvPr/>
        </p:nvSpPr>
        <p:spPr>
          <a:xfrm>
            <a:off x="5334000" y="2495550"/>
            <a:ext cx="171450" cy="247650"/>
          </a:xfrm>
          <a:custGeom>
            <a:avLst/>
            <a:gdLst/>
            <a:ahLst/>
            <a:cxnLst/>
            <a:rect l="l" t="t" r="r" b="b"/>
            <a:pathLst>
              <a:path w="171450" h="247650">
                <a:moveTo>
                  <a:pt x="0" y="0"/>
                </a:moveTo>
                <a:lnTo>
                  <a:pt x="171450" y="123825"/>
                </a:lnTo>
                <a:lnTo>
                  <a:pt x="0" y="247650"/>
                </a:lnTo>
                <a:close/>
              </a:path>
            </a:pathLst>
          </a:custGeom>
          <a:solidFill>
            <a:srgbClr val="0077CC"/>
          </a:solidFill>
          <a:ln>
            <a:noFill/>
          </a:ln>
        </p:spPr>
      </p:sp>
      <p:sp>
        <p:nvSpPr>
          <p:cNvPr id="23" name="Line 23"/>
          <p:cNvSpPr/>
          <p:nvPr/>
        </p:nvSpPr>
        <p:spPr>
          <a:xfrm>
            <a:off x="5314950" y="2619375"/>
            <a:ext cx="171450" cy="9525"/>
          </a:xfrm>
          <a:custGeom>
            <a:avLst/>
            <a:gdLst/>
            <a:ahLst/>
            <a:cxnLst/>
            <a:rect l="l" t="t" r="r" b="b"/>
            <a:pathLst>
              <a:path w="171450" h="9525">
                <a:moveTo>
                  <a:pt x="0" y="0"/>
                </a:moveTo>
                <a:lnTo>
                  <a:pt x="171450" y="0"/>
                </a:lnTo>
              </a:path>
            </a:pathLst>
          </a:custGeom>
          <a:noFill/>
          <a:ln w="19050">
            <a:solidFill>
              <a:srgbClr val="0077CC"/>
            </a:solidFill>
          </a:ln>
        </p:spPr>
      </p:sp>
      <p:sp>
        <p:nvSpPr>
          <p:cNvPr id="24" name="Rectangle 24"/>
          <p:cNvSpPr/>
          <p:nvPr/>
        </p:nvSpPr>
        <p:spPr>
          <a:xfrm>
            <a:off x="5505450" y="2000250"/>
            <a:ext cx="2286000" cy="1238250"/>
          </a:xfrm>
          <a:prstGeom prst="roundRect">
            <a:avLst>
              <a:gd name="adj" fmla="val 3077"/>
            </a:avLst>
          </a:prstGeom>
          <a:solidFill>
            <a:srgbClr val="0077CC"/>
          </a:solidFill>
          <a:ln>
            <a:noFill/>
          </a:ln>
        </p:spPr>
      </p:sp>
      <p:sp>
        <p:nvSpPr>
          <p:cNvPr id="25" name="TextBox 25"/>
          <p:cNvSpPr txBox="1"/>
          <p:nvPr/>
        </p:nvSpPr>
        <p:spPr>
          <a:xfrm>
            <a:off x="6096691" y="2291239"/>
            <a:ext cx="11035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个人授权确认</a:t>
            </a:r>
          </a:p>
        </p:txBody>
      </p:sp>
      <p:sp>
        <p:nvSpPr>
          <p:cNvPr id="26" name="Line 26"/>
          <p:cNvSpPr/>
          <p:nvPr/>
        </p:nvSpPr>
        <p:spPr>
          <a:xfrm>
            <a:off x="5695950" y="2552700"/>
            <a:ext cx="1905000" cy="9525"/>
          </a:xfrm>
          <a:custGeom>
            <a:avLst/>
            <a:gdLst/>
            <a:ahLst/>
            <a:cxnLst/>
            <a:rect l="l" t="t" r="r" b="b"/>
            <a:pathLst>
              <a:path w="1905000" h="9525">
                <a:moveTo>
                  <a:pt x="0" y="0"/>
                </a:moveTo>
                <a:lnTo>
                  <a:pt x="1905000" y="0"/>
                </a:lnTo>
              </a:path>
            </a:pathLst>
          </a:custGeom>
          <a:noFill/>
          <a:ln w="9525">
            <a:solidFill>
              <a:srgbClr val="FFFFFF">
                <a:alpha val="30000"/>
              </a:srgbClr>
            </a:solidFill>
          </a:ln>
        </p:spPr>
      </p:sp>
      <p:sp>
        <p:nvSpPr>
          <p:cNvPr id="27" name="TextBox 27"/>
          <p:cNvSpPr txBox="1"/>
          <p:nvPr/>
        </p:nvSpPr>
        <p:spPr>
          <a:xfrm>
            <a:off x="6050994" y="2656999"/>
            <a:ext cx="1194911"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个人线上签署授权书</a:t>
            </a:r>
          </a:p>
        </p:txBody>
      </p:sp>
      <p:sp>
        <p:nvSpPr>
          <p:cNvPr id="28" name="TextBox 28"/>
          <p:cNvSpPr txBox="1"/>
          <p:nvPr/>
        </p:nvSpPr>
        <p:spPr>
          <a:xfrm>
            <a:off x="6246019" y="2866549"/>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同意平台查验</a:t>
            </a:r>
          </a:p>
        </p:txBody>
      </p:sp>
      <p:sp>
        <p:nvSpPr>
          <p:cNvPr id="29" name="TextBox 29"/>
          <p:cNvSpPr txBox="1"/>
          <p:nvPr/>
        </p:nvSpPr>
        <p:spPr>
          <a:xfrm>
            <a:off x="6246019" y="3057049"/>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个人能力信息</a:t>
            </a:r>
          </a:p>
        </p:txBody>
      </p:sp>
      <p:sp>
        <p:nvSpPr>
          <p:cNvPr id="30" name="Polygon 30"/>
          <p:cNvSpPr/>
          <p:nvPr/>
        </p:nvSpPr>
        <p:spPr>
          <a:xfrm>
            <a:off x="7810500" y="2495550"/>
            <a:ext cx="171450" cy="247650"/>
          </a:xfrm>
          <a:custGeom>
            <a:avLst/>
            <a:gdLst/>
            <a:ahLst/>
            <a:cxnLst/>
            <a:rect l="l" t="t" r="r" b="b"/>
            <a:pathLst>
              <a:path w="171450" h="247650">
                <a:moveTo>
                  <a:pt x="0" y="0"/>
                </a:moveTo>
                <a:lnTo>
                  <a:pt x="171450" y="123825"/>
                </a:lnTo>
                <a:lnTo>
                  <a:pt x="0" y="247650"/>
                </a:lnTo>
                <a:close/>
              </a:path>
            </a:pathLst>
          </a:custGeom>
          <a:solidFill>
            <a:srgbClr val="0077CC"/>
          </a:solidFill>
          <a:ln>
            <a:noFill/>
          </a:ln>
        </p:spPr>
      </p:sp>
      <p:sp>
        <p:nvSpPr>
          <p:cNvPr id="31" name="Line 31"/>
          <p:cNvSpPr/>
          <p:nvPr/>
        </p:nvSpPr>
        <p:spPr>
          <a:xfrm>
            <a:off x="7791450" y="2619375"/>
            <a:ext cx="171450" cy="9525"/>
          </a:xfrm>
          <a:custGeom>
            <a:avLst/>
            <a:gdLst/>
            <a:ahLst/>
            <a:cxnLst/>
            <a:rect l="l" t="t" r="r" b="b"/>
            <a:pathLst>
              <a:path w="171450" h="9525">
                <a:moveTo>
                  <a:pt x="0" y="0"/>
                </a:moveTo>
                <a:lnTo>
                  <a:pt x="171450" y="0"/>
                </a:lnTo>
              </a:path>
            </a:pathLst>
          </a:custGeom>
          <a:noFill/>
          <a:ln w="19050">
            <a:solidFill>
              <a:srgbClr val="0077CC"/>
            </a:solidFill>
          </a:ln>
        </p:spPr>
      </p:sp>
      <p:sp>
        <p:nvSpPr>
          <p:cNvPr id="32" name="Rectangle 32"/>
          <p:cNvSpPr/>
          <p:nvPr/>
        </p:nvSpPr>
        <p:spPr>
          <a:xfrm>
            <a:off x="7981950" y="2000250"/>
            <a:ext cx="3657600" cy="1238250"/>
          </a:xfrm>
          <a:prstGeom prst="roundRect">
            <a:avLst>
              <a:gd name="adj" fmla="val 3077"/>
            </a:avLst>
          </a:prstGeom>
          <a:solidFill>
            <a:srgbClr val="0077CC">
              <a:alpha val="75000"/>
            </a:srgbClr>
          </a:solidFill>
          <a:ln>
            <a:noFill/>
          </a:ln>
        </p:spPr>
      </p:sp>
      <p:sp>
        <p:nvSpPr>
          <p:cNvPr id="33" name="TextBox 33"/>
          <p:cNvSpPr txBox="1"/>
          <p:nvPr/>
        </p:nvSpPr>
        <p:spPr>
          <a:xfrm>
            <a:off x="9437513" y="2291239"/>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培训考试</a:t>
            </a:r>
          </a:p>
        </p:txBody>
      </p:sp>
      <p:sp>
        <p:nvSpPr>
          <p:cNvPr id="34" name="Line 34"/>
          <p:cNvSpPr/>
          <p:nvPr/>
        </p:nvSpPr>
        <p:spPr>
          <a:xfrm>
            <a:off x="8172450" y="2552700"/>
            <a:ext cx="3276600" cy="9525"/>
          </a:xfrm>
          <a:custGeom>
            <a:avLst/>
            <a:gdLst/>
            <a:ahLst/>
            <a:cxnLst/>
            <a:rect l="l" t="t" r="r" b="b"/>
            <a:pathLst>
              <a:path w="3276600" h="9525">
                <a:moveTo>
                  <a:pt x="0" y="0"/>
                </a:moveTo>
                <a:lnTo>
                  <a:pt x="3276600" y="0"/>
                </a:lnTo>
              </a:path>
            </a:pathLst>
          </a:custGeom>
          <a:noFill/>
          <a:ln w="9525">
            <a:solidFill>
              <a:srgbClr val="FFFFFF">
                <a:alpha val="30000"/>
              </a:srgbClr>
            </a:solidFill>
          </a:ln>
        </p:spPr>
      </p:sp>
      <p:sp>
        <p:nvSpPr>
          <p:cNvPr id="35" name="TextBox 35"/>
          <p:cNvSpPr txBox="1"/>
          <p:nvPr/>
        </p:nvSpPr>
        <p:spPr>
          <a:xfrm>
            <a:off x="9112532" y="2656999"/>
            <a:ext cx="1396436"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共享题库/项目专项考试</a:t>
            </a:r>
          </a:p>
        </p:txBody>
      </p:sp>
      <p:sp>
        <p:nvSpPr>
          <p:cNvPr id="36" name="TextBox 36"/>
          <p:cNvSpPr txBox="1"/>
          <p:nvPr/>
        </p:nvSpPr>
        <p:spPr>
          <a:xfrm>
            <a:off x="9278302" y="2866549"/>
            <a:ext cx="1064895"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完成培训学时要求</a:t>
            </a:r>
          </a:p>
        </p:txBody>
      </p:sp>
      <p:sp>
        <p:nvSpPr>
          <p:cNvPr id="37" name="TextBox 37"/>
          <p:cNvSpPr txBox="1"/>
          <p:nvPr/>
        </p:nvSpPr>
        <p:spPr>
          <a:xfrm>
            <a:off x="9408319" y="3057049"/>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成绩自动归档</a:t>
            </a:r>
          </a:p>
        </p:txBody>
      </p:sp>
      <p:sp>
        <p:nvSpPr>
          <p:cNvPr id="38" name="Line 38"/>
          <p:cNvSpPr/>
          <p:nvPr/>
        </p:nvSpPr>
        <p:spPr>
          <a:xfrm>
            <a:off x="11639550" y="2619375"/>
            <a:ext cx="171450" cy="9525"/>
          </a:xfrm>
          <a:custGeom>
            <a:avLst/>
            <a:gdLst/>
            <a:ahLst/>
            <a:cxnLst/>
            <a:rect l="l" t="t" r="r" b="b"/>
            <a:pathLst>
              <a:path w="171450" h="9525">
                <a:moveTo>
                  <a:pt x="0" y="0"/>
                </a:moveTo>
                <a:lnTo>
                  <a:pt x="171450" y="0"/>
                </a:lnTo>
              </a:path>
            </a:pathLst>
          </a:custGeom>
          <a:noFill/>
          <a:ln w="19050">
            <a:solidFill>
              <a:srgbClr val="4A90D9"/>
            </a:solidFill>
          </a:ln>
        </p:spPr>
      </p:sp>
      <p:sp>
        <p:nvSpPr>
          <p:cNvPr id="39" name="Line 39"/>
          <p:cNvSpPr/>
          <p:nvPr/>
        </p:nvSpPr>
        <p:spPr>
          <a:xfrm>
            <a:off x="11811000" y="2619375"/>
            <a:ext cx="9525" cy="2238375"/>
          </a:xfrm>
          <a:custGeom>
            <a:avLst/>
            <a:gdLst/>
            <a:ahLst/>
            <a:cxnLst/>
            <a:rect l="l" t="t" r="r" b="b"/>
            <a:pathLst>
              <a:path w="9525" h="2238375">
                <a:moveTo>
                  <a:pt x="0" y="0"/>
                </a:moveTo>
                <a:lnTo>
                  <a:pt x="0" y="2238375"/>
                </a:lnTo>
              </a:path>
            </a:pathLst>
          </a:custGeom>
          <a:noFill/>
          <a:ln w="19050">
            <a:solidFill>
              <a:srgbClr val="4A90D9"/>
            </a:solidFill>
          </a:ln>
        </p:spPr>
      </p:sp>
      <p:sp>
        <p:nvSpPr>
          <p:cNvPr id="40" name="Line 40"/>
          <p:cNvSpPr/>
          <p:nvPr/>
        </p:nvSpPr>
        <p:spPr>
          <a:xfrm>
            <a:off x="11639550" y="4857750"/>
            <a:ext cx="171450" cy="9525"/>
          </a:xfrm>
          <a:custGeom>
            <a:avLst/>
            <a:gdLst/>
            <a:ahLst/>
            <a:cxnLst/>
            <a:rect l="l" t="t" r="r" b="b"/>
            <a:pathLst>
              <a:path w="171450" h="9525">
                <a:moveTo>
                  <a:pt x="171450" y="0"/>
                </a:moveTo>
                <a:lnTo>
                  <a:pt x="0" y="0"/>
                </a:lnTo>
              </a:path>
            </a:pathLst>
          </a:custGeom>
          <a:noFill/>
          <a:ln w="19050">
            <a:solidFill>
              <a:srgbClr val="4A90D9"/>
            </a:solidFill>
          </a:ln>
        </p:spPr>
      </p:sp>
      <p:sp>
        <p:nvSpPr>
          <p:cNvPr id="41" name="Polygon 41"/>
          <p:cNvSpPr/>
          <p:nvPr/>
        </p:nvSpPr>
        <p:spPr>
          <a:xfrm>
            <a:off x="11468100" y="4733925"/>
            <a:ext cx="171450" cy="247650"/>
          </a:xfrm>
          <a:custGeom>
            <a:avLst/>
            <a:gdLst/>
            <a:ahLst/>
            <a:cxnLst/>
            <a:rect l="l" t="t" r="r" b="b"/>
            <a:pathLst>
              <a:path w="171450" h="247650">
                <a:moveTo>
                  <a:pt x="171450" y="0"/>
                </a:moveTo>
                <a:lnTo>
                  <a:pt x="0" y="123825"/>
                </a:lnTo>
                <a:lnTo>
                  <a:pt x="171450" y="247650"/>
                </a:lnTo>
                <a:close/>
              </a:path>
            </a:pathLst>
          </a:custGeom>
          <a:solidFill>
            <a:srgbClr val="4A90D9"/>
          </a:solidFill>
          <a:ln>
            <a:noFill/>
          </a:ln>
        </p:spPr>
      </p:sp>
      <p:sp>
        <p:nvSpPr>
          <p:cNvPr id="42" name="Rectangle 42"/>
          <p:cNvSpPr/>
          <p:nvPr/>
        </p:nvSpPr>
        <p:spPr>
          <a:xfrm>
            <a:off x="7981950" y="4238625"/>
            <a:ext cx="3657600" cy="1238250"/>
          </a:xfrm>
          <a:prstGeom prst="roundRect">
            <a:avLst>
              <a:gd name="adj" fmla="val 3077"/>
            </a:avLst>
          </a:prstGeom>
          <a:solidFill>
            <a:srgbClr val="4A90D9"/>
          </a:solidFill>
          <a:ln>
            <a:noFill/>
          </a:ln>
        </p:spPr>
      </p:sp>
      <p:sp>
        <p:nvSpPr>
          <p:cNvPr id="43" name="TextBox 43"/>
          <p:cNvSpPr txBox="1"/>
          <p:nvPr/>
        </p:nvSpPr>
        <p:spPr>
          <a:xfrm>
            <a:off x="9437513" y="4529614"/>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证照核验</a:t>
            </a:r>
          </a:p>
        </p:txBody>
      </p:sp>
      <p:sp>
        <p:nvSpPr>
          <p:cNvPr id="44" name="Line 44"/>
          <p:cNvSpPr/>
          <p:nvPr/>
        </p:nvSpPr>
        <p:spPr>
          <a:xfrm>
            <a:off x="8172450" y="4791075"/>
            <a:ext cx="3276600" cy="9525"/>
          </a:xfrm>
          <a:custGeom>
            <a:avLst/>
            <a:gdLst/>
            <a:ahLst/>
            <a:cxnLst/>
            <a:rect l="l" t="t" r="r" b="b"/>
            <a:pathLst>
              <a:path w="3276600" h="9525">
                <a:moveTo>
                  <a:pt x="0" y="0"/>
                </a:moveTo>
                <a:lnTo>
                  <a:pt x="3276600" y="0"/>
                </a:lnTo>
              </a:path>
            </a:pathLst>
          </a:custGeom>
          <a:noFill/>
          <a:ln w="9525">
            <a:solidFill>
              <a:srgbClr val="FFFFFF">
                <a:alpha val="30000"/>
              </a:srgbClr>
            </a:solidFill>
          </a:ln>
        </p:spPr>
      </p:sp>
      <p:sp>
        <p:nvSpPr>
          <p:cNvPr id="45" name="TextBox 45"/>
          <p:cNvSpPr txBox="1"/>
          <p:nvPr/>
        </p:nvSpPr>
        <p:spPr>
          <a:xfrm>
            <a:off x="9408319" y="4895374"/>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权威渠道接入</a:t>
            </a:r>
          </a:p>
        </p:txBody>
      </p:sp>
      <p:sp>
        <p:nvSpPr>
          <p:cNvPr id="46" name="TextBox 46"/>
          <p:cNvSpPr txBox="1"/>
          <p:nvPr/>
        </p:nvSpPr>
        <p:spPr>
          <a:xfrm>
            <a:off x="9242548" y="5104924"/>
            <a:ext cx="1136404"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特种证/资质有效性</a:t>
            </a:r>
          </a:p>
        </p:txBody>
      </p:sp>
      <p:sp>
        <p:nvSpPr>
          <p:cNvPr id="47" name="TextBox 47"/>
          <p:cNvSpPr txBox="1"/>
          <p:nvPr/>
        </p:nvSpPr>
        <p:spPr>
          <a:xfrm>
            <a:off x="9213294" y="5295424"/>
            <a:ext cx="1194911"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自动核验，留存来源</a:t>
            </a:r>
          </a:p>
        </p:txBody>
      </p:sp>
      <p:sp>
        <p:nvSpPr>
          <p:cNvPr id="48" name="Polygon 48"/>
          <p:cNvSpPr/>
          <p:nvPr/>
        </p:nvSpPr>
        <p:spPr>
          <a:xfrm>
            <a:off x="7791450" y="4733925"/>
            <a:ext cx="171450" cy="247650"/>
          </a:xfrm>
          <a:custGeom>
            <a:avLst/>
            <a:gdLst/>
            <a:ahLst/>
            <a:cxnLst/>
            <a:rect l="l" t="t" r="r" b="b"/>
            <a:pathLst>
              <a:path w="171450" h="247650">
                <a:moveTo>
                  <a:pt x="171450" y="0"/>
                </a:moveTo>
                <a:lnTo>
                  <a:pt x="0" y="123825"/>
                </a:lnTo>
                <a:lnTo>
                  <a:pt x="171450" y="247650"/>
                </a:lnTo>
                <a:close/>
              </a:path>
            </a:pathLst>
          </a:custGeom>
          <a:solidFill>
            <a:srgbClr val="4A90D9"/>
          </a:solidFill>
          <a:ln>
            <a:noFill/>
          </a:ln>
        </p:spPr>
      </p:sp>
      <p:sp>
        <p:nvSpPr>
          <p:cNvPr id="49" name="Line 49"/>
          <p:cNvSpPr/>
          <p:nvPr/>
        </p:nvSpPr>
        <p:spPr>
          <a:xfrm>
            <a:off x="7791450" y="4857750"/>
            <a:ext cx="171450" cy="9525"/>
          </a:xfrm>
          <a:custGeom>
            <a:avLst/>
            <a:gdLst/>
            <a:ahLst/>
            <a:cxnLst/>
            <a:rect l="l" t="t" r="r" b="b"/>
            <a:pathLst>
              <a:path w="171450" h="9525">
                <a:moveTo>
                  <a:pt x="0" y="0"/>
                </a:moveTo>
                <a:lnTo>
                  <a:pt x="171450" y="0"/>
                </a:lnTo>
              </a:path>
            </a:pathLst>
          </a:custGeom>
          <a:noFill/>
          <a:ln w="19050">
            <a:solidFill>
              <a:srgbClr val="4A90D9"/>
            </a:solidFill>
          </a:ln>
        </p:spPr>
      </p:sp>
      <p:sp>
        <p:nvSpPr>
          <p:cNvPr id="50" name="Rectangle 50"/>
          <p:cNvSpPr/>
          <p:nvPr/>
        </p:nvSpPr>
        <p:spPr>
          <a:xfrm>
            <a:off x="5505450" y="4238625"/>
            <a:ext cx="2447925" cy="1238250"/>
          </a:xfrm>
          <a:prstGeom prst="roundRect">
            <a:avLst>
              <a:gd name="adj" fmla="val 3077"/>
            </a:avLst>
          </a:prstGeom>
          <a:solidFill>
            <a:srgbClr val="003A70">
              <a:alpha val="75000"/>
            </a:srgbClr>
          </a:solidFill>
          <a:ln>
            <a:noFill/>
          </a:ln>
        </p:spPr>
      </p:sp>
      <p:sp>
        <p:nvSpPr>
          <p:cNvPr id="51" name="TextBox 51"/>
          <p:cNvSpPr txBox="1"/>
          <p:nvPr/>
        </p:nvSpPr>
        <p:spPr>
          <a:xfrm>
            <a:off x="6351413" y="4529614"/>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准入判断</a:t>
            </a:r>
          </a:p>
        </p:txBody>
      </p:sp>
      <p:sp>
        <p:nvSpPr>
          <p:cNvPr id="52" name="Line 52"/>
          <p:cNvSpPr/>
          <p:nvPr/>
        </p:nvSpPr>
        <p:spPr>
          <a:xfrm>
            <a:off x="5695950" y="4791075"/>
            <a:ext cx="2066925" cy="9525"/>
          </a:xfrm>
          <a:custGeom>
            <a:avLst/>
            <a:gdLst/>
            <a:ahLst/>
            <a:cxnLst/>
            <a:rect l="l" t="t" r="r" b="b"/>
            <a:pathLst>
              <a:path w="2066925" h="9525">
                <a:moveTo>
                  <a:pt x="0" y="0"/>
                </a:moveTo>
                <a:lnTo>
                  <a:pt x="2066925" y="0"/>
                </a:lnTo>
              </a:path>
            </a:pathLst>
          </a:custGeom>
          <a:noFill/>
          <a:ln w="9525">
            <a:solidFill>
              <a:srgbClr val="FFFFFF">
                <a:alpha val="30000"/>
              </a:srgbClr>
            </a:solidFill>
          </a:ln>
        </p:spPr>
      </p:sp>
      <p:sp>
        <p:nvSpPr>
          <p:cNvPr id="53" name="TextBox 53"/>
          <p:cNvSpPr txBox="1"/>
          <p:nvPr/>
        </p:nvSpPr>
        <p:spPr>
          <a:xfrm>
            <a:off x="6192202" y="4895374"/>
            <a:ext cx="1064895"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规则引擎自动计算</a:t>
            </a:r>
          </a:p>
        </p:txBody>
      </p:sp>
      <p:sp>
        <p:nvSpPr>
          <p:cNvPr id="54" name="TextBox 54"/>
          <p:cNvSpPr txBox="1"/>
          <p:nvPr/>
        </p:nvSpPr>
        <p:spPr>
          <a:xfrm>
            <a:off x="6120694" y="5104924"/>
            <a:ext cx="1207913"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通过/待整改/不合格</a:t>
            </a:r>
          </a:p>
        </p:txBody>
      </p:sp>
      <p:sp>
        <p:nvSpPr>
          <p:cNvPr id="55" name="TextBox 55"/>
          <p:cNvSpPr txBox="1"/>
          <p:nvPr/>
        </p:nvSpPr>
        <p:spPr>
          <a:xfrm>
            <a:off x="6257211" y="5295424"/>
            <a:ext cx="934879"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含依据摘要说明</a:t>
            </a:r>
          </a:p>
        </p:txBody>
      </p:sp>
      <p:sp>
        <p:nvSpPr>
          <p:cNvPr id="56" name="Polygon 56"/>
          <p:cNvSpPr/>
          <p:nvPr/>
        </p:nvSpPr>
        <p:spPr>
          <a:xfrm>
            <a:off x="5314950" y="4733925"/>
            <a:ext cx="171450" cy="247650"/>
          </a:xfrm>
          <a:custGeom>
            <a:avLst/>
            <a:gdLst/>
            <a:ahLst/>
            <a:cxnLst/>
            <a:rect l="l" t="t" r="r" b="b"/>
            <a:pathLst>
              <a:path w="171450" h="247650">
                <a:moveTo>
                  <a:pt x="171450" y="0"/>
                </a:moveTo>
                <a:lnTo>
                  <a:pt x="0" y="123825"/>
                </a:lnTo>
                <a:lnTo>
                  <a:pt x="171450" y="247650"/>
                </a:lnTo>
                <a:close/>
              </a:path>
            </a:pathLst>
          </a:custGeom>
          <a:solidFill>
            <a:srgbClr val="003A70"/>
          </a:solidFill>
          <a:ln>
            <a:noFill/>
          </a:ln>
        </p:spPr>
      </p:sp>
      <p:sp>
        <p:nvSpPr>
          <p:cNvPr id="57" name="Line 57"/>
          <p:cNvSpPr/>
          <p:nvPr/>
        </p:nvSpPr>
        <p:spPr>
          <a:xfrm>
            <a:off x="5314950" y="4857750"/>
            <a:ext cx="171450" cy="9525"/>
          </a:xfrm>
          <a:custGeom>
            <a:avLst/>
            <a:gdLst/>
            <a:ahLst/>
            <a:cxnLst/>
            <a:rect l="l" t="t" r="r" b="b"/>
            <a:pathLst>
              <a:path w="171450" h="9525">
                <a:moveTo>
                  <a:pt x="0" y="0"/>
                </a:moveTo>
                <a:lnTo>
                  <a:pt x="171450" y="0"/>
                </a:lnTo>
              </a:path>
            </a:pathLst>
          </a:custGeom>
          <a:noFill/>
          <a:ln w="19050">
            <a:solidFill>
              <a:srgbClr val="003A70"/>
            </a:solidFill>
          </a:ln>
        </p:spPr>
      </p:sp>
      <p:sp>
        <p:nvSpPr>
          <p:cNvPr id="58" name="Rectangle 58"/>
          <p:cNvSpPr/>
          <p:nvPr/>
        </p:nvSpPr>
        <p:spPr>
          <a:xfrm>
            <a:off x="3028950" y="4238625"/>
            <a:ext cx="2447925" cy="1238250"/>
          </a:xfrm>
          <a:prstGeom prst="roundRect">
            <a:avLst>
              <a:gd name="adj" fmla="val 3077"/>
            </a:avLst>
          </a:prstGeom>
          <a:solidFill>
            <a:srgbClr val="003A70">
              <a:alpha val="85000"/>
            </a:srgbClr>
          </a:solidFill>
          <a:ln>
            <a:noFill/>
          </a:ln>
        </p:spPr>
      </p:sp>
      <p:sp>
        <p:nvSpPr>
          <p:cNvPr id="59" name="TextBox 59"/>
          <p:cNvSpPr txBox="1"/>
          <p:nvPr/>
        </p:nvSpPr>
        <p:spPr>
          <a:xfrm>
            <a:off x="3696391" y="4529614"/>
            <a:ext cx="1103519"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企业审批使用</a:t>
            </a:r>
          </a:p>
        </p:txBody>
      </p:sp>
      <p:sp>
        <p:nvSpPr>
          <p:cNvPr id="60" name="Line 60"/>
          <p:cNvSpPr/>
          <p:nvPr/>
        </p:nvSpPr>
        <p:spPr>
          <a:xfrm>
            <a:off x="3219450" y="4791075"/>
            <a:ext cx="2066925" cy="9525"/>
          </a:xfrm>
          <a:custGeom>
            <a:avLst/>
            <a:gdLst/>
            <a:ahLst/>
            <a:cxnLst/>
            <a:rect l="l" t="t" r="r" b="b"/>
            <a:pathLst>
              <a:path w="2066925" h="9525">
                <a:moveTo>
                  <a:pt x="0" y="0"/>
                </a:moveTo>
                <a:lnTo>
                  <a:pt x="2066925" y="0"/>
                </a:lnTo>
              </a:path>
            </a:pathLst>
          </a:custGeom>
          <a:noFill/>
          <a:ln w="9525">
            <a:solidFill>
              <a:srgbClr val="FFFFFF">
                <a:alpha val="30000"/>
              </a:srgbClr>
            </a:solidFill>
          </a:ln>
        </p:spPr>
      </p:sp>
      <p:sp>
        <p:nvSpPr>
          <p:cNvPr id="61" name="TextBox 61"/>
          <p:cNvSpPr txBox="1"/>
          <p:nvPr/>
        </p:nvSpPr>
        <p:spPr>
          <a:xfrm>
            <a:off x="3845719" y="4895374"/>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企业安监人员</a:t>
            </a:r>
          </a:p>
        </p:txBody>
      </p:sp>
      <p:sp>
        <p:nvSpPr>
          <p:cNvPr id="62" name="TextBox 62"/>
          <p:cNvSpPr txBox="1"/>
          <p:nvPr/>
        </p:nvSpPr>
        <p:spPr>
          <a:xfrm>
            <a:off x="3845719" y="5104924"/>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查看核验报告</a:t>
            </a:r>
          </a:p>
        </p:txBody>
      </p:sp>
      <p:sp>
        <p:nvSpPr>
          <p:cNvPr id="63" name="TextBox 63"/>
          <p:cNvSpPr txBox="1"/>
          <p:nvPr/>
        </p:nvSpPr>
        <p:spPr>
          <a:xfrm>
            <a:off x="3975735" y="5295424"/>
            <a:ext cx="544830"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确认入场</a:t>
            </a:r>
          </a:p>
        </p:txBody>
      </p:sp>
      <p:sp>
        <p:nvSpPr>
          <p:cNvPr id="64" name="Polygon 64"/>
          <p:cNvSpPr/>
          <p:nvPr/>
        </p:nvSpPr>
        <p:spPr>
          <a:xfrm>
            <a:off x="2838450" y="4733925"/>
            <a:ext cx="171450" cy="247650"/>
          </a:xfrm>
          <a:custGeom>
            <a:avLst/>
            <a:gdLst/>
            <a:ahLst/>
            <a:cxnLst/>
            <a:rect l="l" t="t" r="r" b="b"/>
            <a:pathLst>
              <a:path w="171450" h="247650">
                <a:moveTo>
                  <a:pt x="171450" y="0"/>
                </a:moveTo>
                <a:lnTo>
                  <a:pt x="0" y="123825"/>
                </a:lnTo>
                <a:lnTo>
                  <a:pt x="171450" y="247650"/>
                </a:lnTo>
                <a:close/>
              </a:path>
            </a:pathLst>
          </a:custGeom>
          <a:solidFill>
            <a:srgbClr val="003A70"/>
          </a:solidFill>
          <a:ln>
            <a:noFill/>
          </a:ln>
        </p:spPr>
      </p:sp>
      <p:sp>
        <p:nvSpPr>
          <p:cNvPr id="65" name="Line 65"/>
          <p:cNvSpPr/>
          <p:nvPr/>
        </p:nvSpPr>
        <p:spPr>
          <a:xfrm>
            <a:off x="2838450" y="4857750"/>
            <a:ext cx="171450" cy="9525"/>
          </a:xfrm>
          <a:custGeom>
            <a:avLst/>
            <a:gdLst/>
            <a:ahLst/>
            <a:cxnLst/>
            <a:rect l="l" t="t" r="r" b="b"/>
            <a:pathLst>
              <a:path w="171450" h="9525">
                <a:moveTo>
                  <a:pt x="0" y="0"/>
                </a:moveTo>
                <a:lnTo>
                  <a:pt x="171450" y="0"/>
                </a:lnTo>
              </a:path>
            </a:pathLst>
          </a:custGeom>
          <a:noFill/>
          <a:ln w="19050">
            <a:solidFill>
              <a:srgbClr val="003A70"/>
            </a:solidFill>
          </a:ln>
        </p:spPr>
      </p:sp>
      <p:sp>
        <p:nvSpPr>
          <p:cNvPr id="66" name="Rectangle 66"/>
          <p:cNvSpPr/>
          <p:nvPr/>
        </p:nvSpPr>
        <p:spPr>
          <a:xfrm>
            <a:off x="552450" y="4238625"/>
            <a:ext cx="2447925" cy="1238250"/>
          </a:xfrm>
          <a:prstGeom prst="roundRect">
            <a:avLst>
              <a:gd name="adj" fmla="val 3077"/>
            </a:avLst>
          </a:prstGeom>
          <a:solidFill>
            <a:srgbClr val="003A70"/>
          </a:solidFill>
          <a:ln>
            <a:noFill/>
          </a:ln>
        </p:spPr>
      </p:sp>
      <p:sp>
        <p:nvSpPr>
          <p:cNvPr id="67" name="TextBox 67"/>
          <p:cNvSpPr txBox="1"/>
          <p:nvPr/>
        </p:nvSpPr>
        <p:spPr>
          <a:xfrm>
            <a:off x="1398413" y="4529614"/>
            <a:ext cx="746474"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Arial"/>
                <a:ea typeface="SimHei"/>
                <a:cs typeface="Arial"/>
              </a:rPr>
              <a:t>审计复盘</a:t>
            </a:r>
          </a:p>
        </p:txBody>
      </p:sp>
      <p:sp>
        <p:nvSpPr>
          <p:cNvPr id="68" name="Line 68"/>
          <p:cNvSpPr/>
          <p:nvPr/>
        </p:nvSpPr>
        <p:spPr>
          <a:xfrm>
            <a:off x="742950" y="4791075"/>
            <a:ext cx="2066925" cy="9525"/>
          </a:xfrm>
          <a:custGeom>
            <a:avLst/>
            <a:gdLst/>
            <a:ahLst/>
            <a:cxnLst/>
            <a:rect l="l" t="t" r="r" b="b"/>
            <a:pathLst>
              <a:path w="2066925" h="9525">
                <a:moveTo>
                  <a:pt x="0" y="0"/>
                </a:moveTo>
                <a:lnTo>
                  <a:pt x="2066925" y="0"/>
                </a:lnTo>
              </a:path>
            </a:pathLst>
          </a:custGeom>
          <a:noFill/>
          <a:ln w="9525">
            <a:solidFill>
              <a:srgbClr val="FFFFFF">
                <a:alpha val="30000"/>
              </a:srgbClr>
            </a:solidFill>
          </a:ln>
        </p:spPr>
      </p:sp>
      <p:sp>
        <p:nvSpPr>
          <p:cNvPr id="69" name="TextBox 69"/>
          <p:cNvSpPr txBox="1"/>
          <p:nvPr/>
        </p:nvSpPr>
        <p:spPr>
          <a:xfrm>
            <a:off x="1463481" y="4895374"/>
            <a:ext cx="616339"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平台+企业</a:t>
            </a:r>
          </a:p>
        </p:txBody>
      </p:sp>
      <p:sp>
        <p:nvSpPr>
          <p:cNvPr id="70" name="TextBox 70"/>
          <p:cNvSpPr txBox="1"/>
          <p:nvPr/>
        </p:nvSpPr>
        <p:spPr>
          <a:xfrm>
            <a:off x="1239202" y="5104924"/>
            <a:ext cx="1064895"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全程操作审计台账</a:t>
            </a:r>
          </a:p>
        </p:txBody>
      </p:sp>
      <p:sp>
        <p:nvSpPr>
          <p:cNvPr id="71" name="TextBox 71"/>
          <p:cNvSpPr txBox="1"/>
          <p:nvPr/>
        </p:nvSpPr>
        <p:spPr>
          <a:xfrm>
            <a:off x="1174194" y="5295424"/>
            <a:ext cx="1194911"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项目结束后复盘报告</a:t>
            </a:r>
          </a:p>
        </p:txBody>
      </p:sp>
      <p:sp>
        <p:nvSpPr>
          <p:cNvPr id="72" name="TextBox 72"/>
          <p:cNvSpPr txBox="1"/>
          <p:nvPr/>
        </p:nvSpPr>
        <p:spPr>
          <a:xfrm>
            <a:off x="9726859" y="4276249"/>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05</a:t>
            </a:r>
          </a:p>
        </p:txBody>
      </p:sp>
      <p:sp>
        <p:nvSpPr>
          <p:cNvPr id="73" name="TextBox 73"/>
          <p:cNvSpPr txBox="1"/>
          <p:nvPr/>
        </p:nvSpPr>
        <p:spPr>
          <a:xfrm>
            <a:off x="6640759" y="4276249"/>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06</a:t>
            </a:r>
          </a:p>
        </p:txBody>
      </p:sp>
      <p:sp>
        <p:nvSpPr>
          <p:cNvPr id="74" name="TextBox 74"/>
          <p:cNvSpPr txBox="1"/>
          <p:nvPr/>
        </p:nvSpPr>
        <p:spPr>
          <a:xfrm>
            <a:off x="4164259" y="4276249"/>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07</a:t>
            </a:r>
          </a:p>
        </p:txBody>
      </p:sp>
      <p:sp>
        <p:nvSpPr>
          <p:cNvPr id="75" name="TextBox 75"/>
          <p:cNvSpPr txBox="1"/>
          <p:nvPr/>
        </p:nvSpPr>
        <p:spPr>
          <a:xfrm>
            <a:off x="1687759" y="4276249"/>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08</a:t>
            </a:r>
          </a:p>
        </p:txBody>
      </p:sp>
      <p:sp>
        <p:nvSpPr>
          <p:cNvPr id="76" name="TextBox 76"/>
          <p:cNvSpPr txBox="1"/>
          <p:nvPr/>
        </p:nvSpPr>
        <p:spPr>
          <a:xfrm>
            <a:off x="1611559" y="2199799"/>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01</a:t>
            </a:r>
          </a:p>
        </p:txBody>
      </p:sp>
      <p:sp>
        <p:nvSpPr>
          <p:cNvPr id="77" name="TextBox 77"/>
          <p:cNvSpPr txBox="1"/>
          <p:nvPr/>
        </p:nvSpPr>
        <p:spPr>
          <a:xfrm>
            <a:off x="4088059" y="2037874"/>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02</a:t>
            </a:r>
          </a:p>
        </p:txBody>
      </p:sp>
      <p:sp>
        <p:nvSpPr>
          <p:cNvPr id="78" name="TextBox 78"/>
          <p:cNvSpPr txBox="1"/>
          <p:nvPr/>
        </p:nvSpPr>
        <p:spPr>
          <a:xfrm>
            <a:off x="6564559" y="2037874"/>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03</a:t>
            </a:r>
          </a:p>
        </p:txBody>
      </p:sp>
      <p:sp>
        <p:nvSpPr>
          <p:cNvPr id="79" name="TextBox 79"/>
          <p:cNvSpPr txBox="1"/>
          <p:nvPr/>
        </p:nvSpPr>
        <p:spPr>
          <a:xfrm>
            <a:off x="9726859" y="2037874"/>
            <a:ext cx="167783" cy="198120"/>
          </a:xfrm>
          <a:prstGeom prst="rect">
            <a:avLst/>
          </a:prstGeom>
          <a:noFill/>
          <a:ln>
            <a:noFill/>
          </a:ln>
        </p:spPr>
        <p:txBody>
          <a:bodyPr wrap="none" lIns="0" tIns="0" rIns="0" bIns="0" anchor="t" anchorCtr="0">
            <a:spAutoFit/>
          </a:bodyPr>
          <a:lstStyle/>
          <a:p>
            <a:pPr algn="ctr"/>
            <a:r>
              <a:rPr lang="en-US" sz="975" dirty="0">
                <a:solidFill>
                  <a:srgbClr val="FFFFFF">
                    <a:alphaMod val="50000"/>
                  </a:srgbClr>
                </a:solidFill>
                <a:latin typeface="Arial"/>
                <a:ea typeface="Arial"/>
                <a:cs typeface="Arial"/>
              </a:rPr>
              <a:t>04</a:t>
            </a:r>
          </a:p>
        </p:txBody>
      </p:sp>
      <p:sp>
        <p:nvSpPr>
          <p:cNvPr id="80" name="TextBox 80"/>
          <p:cNvSpPr txBox="1"/>
          <p:nvPr/>
        </p:nvSpPr>
        <p:spPr>
          <a:xfrm>
            <a:off x="3642562" y="5743099"/>
            <a:ext cx="4906875"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注：第3环节（个人授权）为法律合规前置要件，任何查验行为须在授权后方可执行。</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第三章 · 技术与业务实现</a:t>
            </a:r>
          </a:p>
        </p:txBody>
      </p:sp>
      <p:sp>
        <p:nvSpPr>
          <p:cNvPr id="4" name="TextBox 4"/>
          <p:cNvSpPr txBox="1"/>
          <p:nvPr/>
        </p:nvSpPr>
        <p:spPr>
          <a:xfrm>
            <a:off x="525780" y="1183005"/>
            <a:ext cx="5640038"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功能模块：六大核心模块构成最小闭环平台</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3681412" y="1688306"/>
            <a:ext cx="4829175"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自建重点在题库规则、核验逻辑、授权审计；通用考试能力轻量集成即可</a:t>
            </a:r>
          </a:p>
        </p:txBody>
      </p:sp>
      <p:sp>
        <p:nvSpPr>
          <p:cNvPr id="7" name="Rectangle 7"/>
          <p:cNvSpPr/>
          <p:nvPr/>
        </p:nvSpPr>
        <p:spPr>
          <a:xfrm>
            <a:off x="552450" y="1952625"/>
            <a:ext cx="3571875" cy="2047875"/>
          </a:xfrm>
          <a:prstGeom prst="roundRect">
            <a:avLst>
              <a:gd name="adj" fmla="val 1860"/>
            </a:avLst>
          </a:prstGeom>
          <a:solidFill>
            <a:srgbClr val="F0F4F8"/>
          </a:solidFill>
          <a:ln>
            <a:noFill/>
          </a:ln>
        </p:spPr>
      </p:sp>
      <p:sp>
        <p:nvSpPr>
          <p:cNvPr id="8" name="Rectangle 8"/>
          <p:cNvSpPr/>
          <p:nvPr/>
        </p:nvSpPr>
        <p:spPr>
          <a:xfrm>
            <a:off x="552450" y="1952625"/>
            <a:ext cx="3571875" cy="47625"/>
          </a:xfrm>
          <a:prstGeom prst="roundRect">
            <a:avLst>
              <a:gd name="adj" fmla="val 40000"/>
            </a:avLst>
          </a:prstGeom>
          <a:solidFill>
            <a:srgbClr val="003A70"/>
          </a:solidFill>
          <a:ln>
            <a:noFill/>
          </a:ln>
        </p:spPr>
      </p:sp>
      <p:grpSp>
        <p:nvGrpSpPr>
          <p:cNvPr id="13" name="Group 13"/>
          <p:cNvGrpSpPr/>
          <p:nvPr/>
        </p:nvGrpSpPr>
        <p:grpSpPr>
          <a:xfrm>
            <a:off x="742950" y="2164556"/>
            <a:ext cx="342900" cy="300038"/>
            <a:chOff x="742950" y="2164556"/>
            <a:chExt cx="342900" cy="300038"/>
          </a:xfrm>
        </p:grpSpPr>
        <p:sp>
          <p:nvSpPr>
            <p:cNvPr id="9" name="Freeform 9"/>
            <p:cNvSpPr/>
            <p:nvPr/>
          </p:nvSpPr>
          <p:spPr>
            <a:xfrm>
              <a:off x="807244" y="2164556"/>
              <a:ext cx="107156" cy="107156"/>
            </a:xfrm>
            <a:custGeom>
              <a:avLst/>
              <a:gdLst/>
              <a:ahLst/>
              <a:cxnLst/>
              <a:rect l="l" t="t" r="r" b="b"/>
              <a:pathLst>
                <a:path w="107156" h="107156">
                  <a:moveTo>
                    <a:pt x="107156" y="53578"/>
                  </a:moveTo>
                  <a:cubicBezTo>
                    <a:pt x="107156" y="83168"/>
                    <a:pt x="83168" y="107156"/>
                    <a:pt x="53578" y="107156"/>
                  </a:cubicBezTo>
                  <a:cubicBezTo>
                    <a:pt x="23988" y="107156"/>
                    <a:pt x="0" y="83168"/>
                    <a:pt x="0" y="53578"/>
                  </a:cubicBezTo>
                  <a:cubicBezTo>
                    <a:pt x="0" y="23988"/>
                    <a:pt x="23988" y="0"/>
                    <a:pt x="53578" y="0"/>
                  </a:cubicBezTo>
                  <a:cubicBezTo>
                    <a:pt x="83168" y="0"/>
                    <a:pt x="107156" y="23988"/>
                    <a:pt x="107156" y="53578"/>
                  </a:cubicBezTo>
                  <a:close/>
                </a:path>
              </a:pathLst>
            </a:custGeom>
            <a:solidFill>
              <a:srgbClr val="003A70"/>
            </a:solidFill>
            <a:ln>
              <a:noFill/>
            </a:ln>
          </p:spPr>
        </p:sp>
        <p:sp>
          <p:nvSpPr>
            <p:cNvPr id="10" name="Freeform 10"/>
            <p:cNvSpPr/>
            <p:nvPr/>
          </p:nvSpPr>
          <p:spPr>
            <a:xfrm>
              <a:off x="742950" y="2314575"/>
              <a:ext cx="171450" cy="150019"/>
            </a:xfrm>
            <a:custGeom>
              <a:avLst/>
              <a:gdLst/>
              <a:ahLst/>
              <a:cxnLst/>
              <a:rect l="l" t="t" r="r" b="b"/>
              <a:pathLst>
                <a:path w="171450" h="150019">
                  <a:moveTo>
                    <a:pt x="64294" y="0"/>
                  </a:moveTo>
                  <a:cubicBezTo>
                    <a:pt x="28785" y="0"/>
                    <a:pt x="0" y="28785"/>
                    <a:pt x="0" y="64294"/>
                  </a:cubicBezTo>
                  <a:lnTo>
                    <a:pt x="0" y="150019"/>
                  </a:lnTo>
                  <a:lnTo>
                    <a:pt x="171450" y="150019"/>
                  </a:lnTo>
                  <a:lnTo>
                    <a:pt x="171450" y="0"/>
                  </a:lnTo>
                  <a:lnTo>
                    <a:pt x="64294" y="0"/>
                  </a:lnTo>
                  <a:close/>
                </a:path>
              </a:pathLst>
            </a:custGeom>
            <a:solidFill>
              <a:srgbClr val="003A70"/>
            </a:solidFill>
            <a:ln>
              <a:noFill/>
            </a:ln>
          </p:spPr>
        </p:sp>
        <p:sp>
          <p:nvSpPr>
            <p:cNvPr id="11" name="Freeform 11"/>
            <p:cNvSpPr/>
            <p:nvPr/>
          </p:nvSpPr>
          <p:spPr>
            <a:xfrm>
              <a:off x="957262" y="2314575"/>
              <a:ext cx="128588" cy="150019"/>
            </a:xfrm>
            <a:custGeom>
              <a:avLst/>
              <a:gdLst/>
              <a:ahLst/>
              <a:cxnLst/>
              <a:rect l="l" t="t" r="r" b="b"/>
              <a:pathLst>
                <a:path w="128588" h="150019">
                  <a:moveTo>
                    <a:pt x="64294" y="0"/>
                  </a:moveTo>
                  <a:lnTo>
                    <a:pt x="0" y="0"/>
                  </a:lnTo>
                  <a:lnTo>
                    <a:pt x="0" y="150019"/>
                  </a:lnTo>
                  <a:lnTo>
                    <a:pt x="128588" y="150019"/>
                  </a:lnTo>
                  <a:lnTo>
                    <a:pt x="128588" y="64294"/>
                  </a:lnTo>
                  <a:cubicBezTo>
                    <a:pt x="128588" y="28785"/>
                    <a:pt x="99803" y="0"/>
                    <a:pt x="64294" y="0"/>
                  </a:cubicBezTo>
                  <a:close/>
                </a:path>
              </a:pathLst>
            </a:custGeom>
            <a:solidFill>
              <a:srgbClr val="003A70"/>
            </a:solidFill>
            <a:ln>
              <a:noFill/>
            </a:ln>
          </p:spPr>
        </p:sp>
        <p:sp>
          <p:nvSpPr>
            <p:cNvPr id="12" name="Freeform 12"/>
            <p:cNvSpPr/>
            <p:nvPr/>
          </p:nvSpPr>
          <p:spPr>
            <a:xfrm>
              <a:off x="957262" y="2185988"/>
              <a:ext cx="85725" cy="85725"/>
            </a:xfrm>
            <a:custGeom>
              <a:avLst/>
              <a:gdLst/>
              <a:ahLst/>
              <a:cxnLst/>
              <a:rect l="l" t="t" r="r" b="b"/>
              <a:pathLst>
                <a:path w="85725" h="85725">
                  <a:moveTo>
                    <a:pt x="42862" y="85725"/>
                  </a:moveTo>
                  <a:cubicBezTo>
                    <a:pt x="66535" y="85725"/>
                    <a:pt x="85725" y="66535"/>
                    <a:pt x="85725" y="42862"/>
                  </a:cubicBezTo>
                  <a:cubicBezTo>
                    <a:pt x="85725" y="19190"/>
                    <a:pt x="66535" y="0"/>
                    <a:pt x="42862" y="0"/>
                  </a:cubicBezTo>
                  <a:cubicBezTo>
                    <a:pt x="19190" y="0"/>
                    <a:pt x="0" y="19190"/>
                    <a:pt x="0" y="42862"/>
                  </a:cubicBezTo>
                  <a:cubicBezTo>
                    <a:pt x="0" y="66535"/>
                    <a:pt x="19190" y="85725"/>
                    <a:pt x="42862" y="85725"/>
                  </a:cubicBezTo>
                  <a:close/>
                </a:path>
              </a:pathLst>
            </a:custGeom>
            <a:solidFill>
              <a:srgbClr val="003A70"/>
            </a:solidFill>
            <a:ln>
              <a:noFill/>
            </a:ln>
          </p:spPr>
        </p:sp>
      </p:grpSp>
      <p:sp>
        <p:nvSpPr>
          <p:cNvPr id="14" name="TextBox 14"/>
          <p:cNvSpPr txBox="1"/>
          <p:nvPr/>
        </p:nvSpPr>
        <p:spPr>
          <a:xfrm>
            <a:off x="1202055" y="2225992"/>
            <a:ext cx="1357455" cy="274320"/>
          </a:xfrm>
          <a:prstGeom prst="rect">
            <a:avLst/>
          </a:prstGeom>
          <a:noFill/>
          <a:ln>
            <a:noFill/>
          </a:ln>
        </p:spPr>
        <p:txBody>
          <a:bodyPr wrap="none" lIns="0" tIns="0" rIns="0" bIns="0" anchor="t" anchorCtr="0">
            <a:spAutoFit/>
          </a:bodyPr>
          <a:lstStyle/>
          <a:p>
            <a:pPr algn="l"/>
            <a:r>
              <a:rPr lang="zh-CN" sz="1350" b="1" dirty="0">
                <a:solidFill>
                  <a:srgbClr val="003A70"/>
                </a:solidFill>
                <a:latin typeface="Arial"/>
                <a:ea typeface="SimHei"/>
                <a:cs typeface="Arial"/>
              </a:rPr>
              <a:t>人员与项目管理</a:t>
            </a:r>
          </a:p>
        </p:txBody>
      </p:sp>
      <p:sp>
        <p:nvSpPr>
          <p:cNvPr id="15" name="TextBox 15"/>
          <p:cNvSpPr txBox="1"/>
          <p:nvPr/>
        </p:nvSpPr>
        <p:spPr>
          <a:xfrm>
            <a:off x="1206818" y="2466499"/>
            <a:ext cx="1194911"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基础台账与异常预警</a:t>
            </a:r>
          </a:p>
        </p:txBody>
      </p:sp>
      <p:sp>
        <p:nvSpPr>
          <p:cNvPr id="16" name="Line 16"/>
          <p:cNvSpPr/>
          <p:nvPr/>
        </p:nvSpPr>
        <p:spPr>
          <a:xfrm>
            <a:off x="742950" y="2667000"/>
            <a:ext cx="3190875" cy="9525"/>
          </a:xfrm>
          <a:custGeom>
            <a:avLst/>
            <a:gdLst/>
            <a:ahLst/>
            <a:cxnLst/>
            <a:rect l="l" t="t" r="r" b="b"/>
            <a:pathLst>
              <a:path w="3190875" h="9525">
                <a:moveTo>
                  <a:pt x="0" y="0"/>
                </a:moveTo>
                <a:lnTo>
                  <a:pt x="3190875" y="0"/>
                </a:lnTo>
              </a:path>
            </a:pathLst>
          </a:custGeom>
          <a:noFill/>
          <a:ln w="9525">
            <a:solidFill>
              <a:srgbClr val="CBD5E0"/>
            </a:solidFill>
          </a:ln>
        </p:spPr>
      </p:sp>
      <p:sp>
        <p:nvSpPr>
          <p:cNvPr id="17" name="TextBox 17"/>
          <p:cNvSpPr txBox="1"/>
          <p:nvPr/>
        </p:nvSpPr>
        <p:spPr>
          <a:xfrm>
            <a:off x="728662" y="2793206"/>
            <a:ext cx="1435894"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项目建档与岗位配置</a:t>
            </a:r>
            <a:r>
              <a:rPr lang="zh-CN" sz="1125" dirty="0">
                <a:solidFill>
                  <a:srgbClr val="1A1A2E"/>
                </a:solidFill>
                <a:latin typeface="Arial"/>
                <a:ea typeface="Microsoft YaHei"/>
                <a:cs typeface="Arial"/>
              </a:rPr>
              <a:t>· 人员清单批量导入</a:t>
            </a:r>
            <a:r>
              <a:rPr lang="zh-CN" sz="1125" dirty="0">
                <a:solidFill>
                  <a:srgbClr val="1A1A2E"/>
                </a:solidFill>
                <a:latin typeface="Arial"/>
                <a:ea typeface="Microsoft YaHei"/>
                <a:cs typeface="Arial"/>
              </a:rPr>
              <a:t>· 异常人员自动标注</a:t>
            </a:r>
            <a:r>
              <a:rPr lang="zh-CN" sz="1125" dirty="0">
                <a:solidFill>
                  <a:srgbClr val="1A1A2E"/>
                </a:solidFill>
                <a:latin typeface="Arial"/>
                <a:ea typeface="Microsoft YaHei"/>
                <a:cs typeface="Arial"/>
              </a:rPr>
              <a:t>· 人员档案持久化存储</a:t>
            </a:r>
          </a:p>
        </p:txBody>
      </p:sp>
      <p:sp>
        <p:nvSpPr>
          <p:cNvPr id="18" name="Rectangle 18"/>
          <p:cNvSpPr/>
          <p:nvPr/>
        </p:nvSpPr>
        <p:spPr>
          <a:xfrm>
            <a:off x="4314825" y="1952625"/>
            <a:ext cx="3562350" cy="2047875"/>
          </a:xfrm>
          <a:prstGeom prst="roundRect">
            <a:avLst>
              <a:gd name="adj" fmla="val 1860"/>
            </a:avLst>
          </a:prstGeom>
          <a:solidFill>
            <a:srgbClr val="F0F4F8"/>
          </a:solidFill>
          <a:ln>
            <a:noFill/>
          </a:ln>
        </p:spPr>
      </p:sp>
      <p:sp>
        <p:nvSpPr>
          <p:cNvPr id="19" name="Rectangle 19"/>
          <p:cNvSpPr/>
          <p:nvPr/>
        </p:nvSpPr>
        <p:spPr>
          <a:xfrm>
            <a:off x="4314825" y="1952625"/>
            <a:ext cx="3562350" cy="47625"/>
          </a:xfrm>
          <a:prstGeom prst="roundRect">
            <a:avLst>
              <a:gd name="adj" fmla="val 40000"/>
            </a:avLst>
          </a:prstGeom>
          <a:solidFill>
            <a:srgbClr val="C53030"/>
          </a:solidFill>
          <a:ln>
            <a:noFill/>
          </a:ln>
        </p:spPr>
      </p:sp>
      <p:sp>
        <p:nvSpPr>
          <p:cNvPr id="20" name="Freeform 20"/>
          <p:cNvSpPr/>
          <p:nvPr/>
        </p:nvSpPr>
        <p:spPr>
          <a:xfrm>
            <a:off x="4548188" y="2143125"/>
            <a:ext cx="257175" cy="342900"/>
          </a:xfrm>
          <a:custGeom>
            <a:avLst/>
            <a:gdLst/>
            <a:ahLst/>
            <a:cxnLst/>
            <a:rect l="l" t="t" r="r" b="b"/>
            <a:pathLst>
              <a:path w="257175" h="342900">
                <a:moveTo>
                  <a:pt x="42862" y="128588"/>
                </a:moveTo>
                <a:lnTo>
                  <a:pt x="42862" y="85725"/>
                </a:lnTo>
                <a:cubicBezTo>
                  <a:pt x="42862" y="38380"/>
                  <a:pt x="81243" y="0"/>
                  <a:pt x="128588" y="0"/>
                </a:cubicBezTo>
                <a:cubicBezTo>
                  <a:pt x="175931" y="0"/>
                  <a:pt x="214312" y="38380"/>
                  <a:pt x="214312" y="85725"/>
                </a:cubicBezTo>
                <a:lnTo>
                  <a:pt x="214312" y="128588"/>
                </a:lnTo>
                <a:lnTo>
                  <a:pt x="257175" y="128588"/>
                </a:lnTo>
                <a:lnTo>
                  <a:pt x="257175" y="342900"/>
                </a:lnTo>
                <a:lnTo>
                  <a:pt x="0" y="342900"/>
                </a:lnTo>
                <a:lnTo>
                  <a:pt x="0" y="128588"/>
                </a:lnTo>
                <a:lnTo>
                  <a:pt x="42862" y="128588"/>
                </a:lnTo>
                <a:close/>
                <a:moveTo>
                  <a:pt x="85725" y="85725"/>
                </a:moveTo>
                <a:cubicBezTo>
                  <a:pt x="85725" y="62053"/>
                  <a:pt x="104915" y="42862"/>
                  <a:pt x="128588" y="42862"/>
                </a:cubicBezTo>
                <a:cubicBezTo>
                  <a:pt x="152260" y="42862"/>
                  <a:pt x="171450" y="62053"/>
                  <a:pt x="171450" y="85725"/>
                </a:cubicBezTo>
                <a:lnTo>
                  <a:pt x="171450" y="128588"/>
                </a:lnTo>
                <a:lnTo>
                  <a:pt x="85725" y="128588"/>
                </a:lnTo>
                <a:lnTo>
                  <a:pt x="85725" y="85725"/>
                </a:lnTo>
                <a:close/>
                <a:moveTo>
                  <a:pt x="107156" y="278606"/>
                </a:moveTo>
                <a:lnTo>
                  <a:pt x="107156" y="192881"/>
                </a:lnTo>
                <a:lnTo>
                  <a:pt x="150019" y="192881"/>
                </a:lnTo>
                <a:lnTo>
                  <a:pt x="150019" y="278606"/>
                </a:lnTo>
                <a:lnTo>
                  <a:pt x="107156" y="278606"/>
                </a:lnTo>
                <a:close/>
              </a:path>
            </a:pathLst>
          </a:custGeom>
          <a:solidFill>
            <a:srgbClr val="C53030"/>
          </a:solidFill>
          <a:ln>
            <a:noFill/>
          </a:ln>
        </p:spPr>
      </p:sp>
      <p:sp>
        <p:nvSpPr>
          <p:cNvPr id="21" name="TextBox 21"/>
          <p:cNvSpPr txBox="1"/>
          <p:nvPr/>
        </p:nvSpPr>
        <p:spPr>
          <a:xfrm>
            <a:off x="4964430" y="2225992"/>
            <a:ext cx="1357455" cy="274320"/>
          </a:xfrm>
          <a:prstGeom prst="rect">
            <a:avLst/>
          </a:prstGeom>
          <a:noFill/>
          <a:ln>
            <a:noFill/>
          </a:ln>
        </p:spPr>
        <p:txBody>
          <a:bodyPr wrap="none" lIns="0" tIns="0" rIns="0" bIns="0" anchor="t" anchorCtr="0">
            <a:spAutoFit/>
          </a:bodyPr>
          <a:lstStyle/>
          <a:p>
            <a:pPr algn="l"/>
            <a:r>
              <a:rPr lang="zh-CN" sz="1350" b="1" dirty="0">
                <a:solidFill>
                  <a:srgbClr val="C53030"/>
                </a:solidFill>
                <a:latin typeface="Arial"/>
                <a:ea typeface="SimHei"/>
                <a:cs typeface="Arial"/>
              </a:rPr>
              <a:t>授权与合规管理</a:t>
            </a:r>
          </a:p>
        </p:txBody>
      </p:sp>
      <p:sp>
        <p:nvSpPr>
          <p:cNvPr id="22" name="TextBox 22"/>
          <p:cNvSpPr txBox="1"/>
          <p:nvPr/>
        </p:nvSpPr>
        <p:spPr>
          <a:xfrm>
            <a:off x="4969192" y="2466499"/>
            <a:ext cx="1324928"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合规前置，留痕可追溯</a:t>
            </a:r>
          </a:p>
        </p:txBody>
      </p:sp>
      <p:sp>
        <p:nvSpPr>
          <p:cNvPr id="23" name="Line 23"/>
          <p:cNvSpPr/>
          <p:nvPr/>
        </p:nvSpPr>
        <p:spPr>
          <a:xfrm>
            <a:off x="4505325" y="2667000"/>
            <a:ext cx="3181350" cy="9525"/>
          </a:xfrm>
          <a:custGeom>
            <a:avLst/>
            <a:gdLst/>
            <a:ahLst/>
            <a:cxnLst/>
            <a:rect l="l" t="t" r="r" b="b"/>
            <a:pathLst>
              <a:path w="3181350" h="9525">
                <a:moveTo>
                  <a:pt x="0" y="0"/>
                </a:moveTo>
                <a:lnTo>
                  <a:pt x="3181350" y="0"/>
                </a:lnTo>
              </a:path>
            </a:pathLst>
          </a:custGeom>
          <a:noFill/>
          <a:ln w="9525">
            <a:solidFill>
              <a:srgbClr val="CBD5E0"/>
            </a:solidFill>
          </a:ln>
        </p:spPr>
      </p:sp>
      <p:sp>
        <p:nvSpPr>
          <p:cNvPr id="24" name="TextBox 24"/>
          <p:cNvSpPr txBox="1"/>
          <p:nvPr/>
        </p:nvSpPr>
        <p:spPr>
          <a:xfrm>
            <a:off x="4491038" y="2793206"/>
            <a:ext cx="1435894"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个人授权书线上签署</a:t>
            </a:r>
            <a:r>
              <a:rPr lang="zh-CN" sz="1125" dirty="0">
                <a:solidFill>
                  <a:srgbClr val="1A1A2E"/>
                </a:solidFill>
                <a:latin typeface="Arial"/>
                <a:ea typeface="Microsoft YaHei"/>
                <a:cs typeface="Arial"/>
              </a:rPr>
              <a:t>· 每次查询记录留痕</a:t>
            </a:r>
            <a:r>
              <a:rPr lang="zh-CN" sz="1125" dirty="0">
                <a:solidFill>
                  <a:srgbClr val="1A1A2E"/>
                </a:solidFill>
                <a:latin typeface="Arial"/>
                <a:ea typeface="Microsoft YaHei"/>
                <a:cs typeface="Arial"/>
              </a:rPr>
              <a:t>· 授权范围与用途限定</a:t>
            </a:r>
            <a:r>
              <a:rPr lang="zh-CN" sz="1125" dirty="0">
                <a:solidFill>
                  <a:srgbClr val="1A1A2E"/>
                </a:solidFill>
                <a:latin typeface="Arial"/>
                <a:ea typeface="Microsoft YaHei"/>
                <a:cs typeface="Arial"/>
              </a:rPr>
              <a:t>· 授权撤回与申诉更正</a:t>
            </a:r>
          </a:p>
        </p:txBody>
      </p:sp>
      <p:sp>
        <p:nvSpPr>
          <p:cNvPr id="25" name="Rectangle 25"/>
          <p:cNvSpPr/>
          <p:nvPr/>
        </p:nvSpPr>
        <p:spPr>
          <a:xfrm>
            <a:off x="8067675" y="1952625"/>
            <a:ext cx="3571875" cy="2047875"/>
          </a:xfrm>
          <a:prstGeom prst="roundRect">
            <a:avLst>
              <a:gd name="adj" fmla="val 1860"/>
            </a:avLst>
          </a:prstGeom>
          <a:solidFill>
            <a:srgbClr val="F0F4F8"/>
          </a:solidFill>
          <a:ln>
            <a:noFill/>
          </a:ln>
        </p:spPr>
      </p:sp>
      <p:sp>
        <p:nvSpPr>
          <p:cNvPr id="26" name="Rectangle 26"/>
          <p:cNvSpPr/>
          <p:nvPr/>
        </p:nvSpPr>
        <p:spPr>
          <a:xfrm>
            <a:off x="8067675" y="1952625"/>
            <a:ext cx="3571875" cy="47625"/>
          </a:xfrm>
          <a:prstGeom prst="roundRect">
            <a:avLst>
              <a:gd name="adj" fmla="val 40000"/>
            </a:avLst>
          </a:prstGeom>
          <a:solidFill>
            <a:srgbClr val="0077CC"/>
          </a:solidFill>
          <a:ln>
            <a:noFill/>
          </a:ln>
        </p:spPr>
      </p:sp>
      <p:grpSp>
        <p:nvGrpSpPr>
          <p:cNvPr id="29" name="Group 29"/>
          <p:cNvGrpSpPr/>
          <p:nvPr/>
        </p:nvGrpSpPr>
        <p:grpSpPr>
          <a:xfrm>
            <a:off x="8301038" y="2143125"/>
            <a:ext cx="257175" cy="342900"/>
            <a:chOff x="8301038" y="2143125"/>
            <a:chExt cx="257175" cy="342900"/>
          </a:xfrm>
        </p:grpSpPr>
        <p:sp>
          <p:nvSpPr>
            <p:cNvPr id="27" name="Freeform 27"/>
            <p:cNvSpPr/>
            <p:nvPr/>
          </p:nvSpPr>
          <p:spPr>
            <a:xfrm>
              <a:off x="8301038" y="2143125"/>
              <a:ext cx="257175" cy="342900"/>
            </a:xfrm>
            <a:custGeom>
              <a:avLst/>
              <a:gdLst/>
              <a:ahLst/>
              <a:cxnLst/>
              <a:rect l="l" t="t" r="r" b="b"/>
              <a:pathLst>
                <a:path w="257175" h="342900">
                  <a:moveTo>
                    <a:pt x="107156" y="0"/>
                  </a:moveTo>
                  <a:lnTo>
                    <a:pt x="0" y="0"/>
                  </a:lnTo>
                  <a:lnTo>
                    <a:pt x="0" y="342900"/>
                  </a:lnTo>
                  <a:lnTo>
                    <a:pt x="257175" y="342900"/>
                  </a:lnTo>
                  <a:lnTo>
                    <a:pt x="257175" y="150019"/>
                  </a:lnTo>
                  <a:lnTo>
                    <a:pt x="107156" y="150019"/>
                  </a:lnTo>
                  <a:lnTo>
                    <a:pt x="107156" y="0"/>
                  </a:lnTo>
                  <a:close/>
                </a:path>
              </a:pathLst>
            </a:custGeom>
            <a:solidFill>
              <a:srgbClr val="0077CC"/>
            </a:solidFill>
            <a:ln>
              <a:noFill/>
            </a:ln>
          </p:spPr>
        </p:sp>
        <p:sp>
          <p:nvSpPr>
            <p:cNvPr id="28" name="Freeform 28"/>
            <p:cNvSpPr/>
            <p:nvPr/>
          </p:nvSpPr>
          <p:spPr>
            <a:xfrm>
              <a:off x="8451056" y="2143125"/>
              <a:ext cx="107156" cy="107156"/>
            </a:xfrm>
            <a:custGeom>
              <a:avLst/>
              <a:gdLst/>
              <a:ahLst/>
              <a:cxnLst/>
              <a:rect l="l" t="t" r="r" b="b"/>
              <a:pathLst>
                <a:path w="107156" h="107156">
                  <a:moveTo>
                    <a:pt x="0" y="0"/>
                  </a:moveTo>
                  <a:lnTo>
                    <a:pt x="0" y="107156"/>
                  </a:lnTo>
                  <a:lnTo>
                    <a:pt x="107156" y="107156"/>
                  </a:lnTo>
                  <a:lnTo>
                    <a:pt x="0" y="0"/>
                  </a:lnTo>
                  <a:close/>
                </a:path>
              </a:pathLst>
            </a:custGeom>
            <a:solidFill>
              <a:srgbClr val="0077CC"/>
            </a:solidFill>
            <a:ln>
              <a:noFill/>
            </a:ln>
          </p:spPr>
        </p:sp>
      </p:grpSp>
      <p:sp>
        <p:nvSpPr>
          <p:cNvPr id="30" name="TextBox 30"/>
          <p:cNvSpPr txBox="1"/>
          <p:nvPr/>
        </p:nvSpPr>
        <p:spPr>
          <a:xfrm>
            <a:off x="8717280" y="2225992"/>
            <a:ext cx="790384" cy="274320"/>
          </a:xfrm>
          <a:prstGeom prst="rect">
            <a:avLst/>
          </a:prstGeom>
          <a:noFill/>
          <a:ln>
            <a:noFill/>
          </a:ln>
        </p:spPr>
        <p:txBody>
          <a:bodyPr wrap="none" lIns="0" tIns="0" rIns="0" bIns="0" anchor="t" anchorCtr="0">
            <a:spAutoFit/>
          </a:bodyPr>
          <a:lstStyle/>
          <a:p>
            <a:pPr algn="l"/>
            <a:r>
              <a:rPr lang="zh-CN" sz="1350" b="1" dirty="0">
                <a:solidFill>
                  <a:srgbClr val="0077CC"/>
                </a:solidFill>
                <a:latin typeface="Arial"/>
                <a:ea typeface="SimHei"/>
                <a:cs typeface="Arial"/>
              </a:rPr>
              <a:t>训考服务</a:t>
            </a:r>
          </a:p>
        </p:txBody>
      </p:sp>
      <p:sp>
        <p:nvSpPr>
          <p:cNvPr id="31" name="TextBox 31"/>
          <p:cNvSpPr txBox="1"/>
          <p:nvPr/>
        </p:nvSpPr>
        <p:spPr>
          <a:xfrm>
            <a:off x="8722042" y="2466499"/>
            <a:ext cx="1064895"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行业题库权威背书</a:t>
            </a:r>
          </a:p>
        </p:txBody>
      </p:sp>
      <p:sp>
        <p:nvSpPr>
          <p:cNvPr id="32" name="Line 32"/>
          <p:cNvSpPr/>
          <p:nvPr/>
        </p:nvSpPr>
        <p:spPr>
          <a:xfrm>
            <a:off x="8258175" y="2667000"/>
            <a:ext cx="3190875" cy="9525"/>
          </a:xfrm>
          <a:custGeom>
            <a:avLst/>
            <a:gdLst/>
            <a:ahLst/>
            <a:cxnLst/>
            <a:rect l="l" t="t" r="r" b="b"/>
            <a:pathLst>
              <a:path w="3190875" h="9525">
                <a:moveTo>
                  <a:pt x="0" y="0"/>
                </a:moveTo>
                <a:lnTo>
                  <a:pt x="3190875" y="0"/>
                </a:lnTo>
              </a:path>
            </a:pathLst>
          </a:custGeom>
          <a:noFill/>
          <a:ln w="9525">
            <a:solidFill>
              <a:srgbClr val="CBD5E0"/>
            </a:solidFill>
          </a:ln>
        </p:spPr>
      </p:sp>
      <p:sp>
        <p:nvSpPr>
          <p:cNvPr id="33" name="TextBox 33"/>
          <p:cNvSpPr txBox="1"/>
          <p:nvPr/>
        </p:nvSpPr>
        <p:spPr>
          <a:xfrm>
            <a:off x="8243888" y="2793206"/>
            <a:ext cx="1578769"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共享题库（行业安规）</a:t>
            </a:r>
            <a:r>
              <a:rPr lang="zh-CN" sz="1125" dirty="0">
                <a:solidFill>
                  <a:srgbClr val="1A1A2E"/>
                </a:solidFill>
                <a:latin typeface="Arial"/>
                <a:ea typeface="Microsoft YaHei"/>
                <a:cs typeface="Arial"/>
              </a:rPr>
              <a:t>· 项目专项题库定制</a:t>
            </a:r>
            <a:r>
              <a:rPr lang="zh-CN" sz="1125" dirty="0">
                <a:solidFill>
                  <a:srgbClr val="1A1A2E"/>
                </a:solidFill>
                <a:latin typeface="Arial"/>
                <a:ea typeface="Microsoft YaHei"/>
                <a:cs typeface="Arial"/>
              </a:rPr>
              <a:t>· 在线考试与成绩归档</a:t>
            </a:r>
            <a:r>
              <a:rPr lang="zh-CN" sz="1125" dirty="0">
                <a:solidFill>
                  <a:srgbClr val="1A1A2E"/>
                </a:solidFill>
                <a:latin typeface="Arial"/>
                <a:ea typeface="Microsoft YaHei"/>
                <a:cs typeface="Arial"/>
              </a:rPr>
              <a:t>· 学习记录可追溯</a:t>
            </a:r>
          </a:p>
        </p:txBody>
      </p:sp>
      <p:sp>
        <p:nvSpPr>
          <p:cNvPr id="34" name="Rectangle 34"/>
          <p:cNvSpPr/>
          <p:nvPr/>
        </p:nvSpPr>
        <p:spPr>
          <a:xfrm>
            <a:off x="552450" y="4191000"/>
            <a:ext cx="3571875" cy="2047875"/>
          </a:xfrm>
          <a:prstGeom prst="roundRect">
            <a:avLst>
              <a:gd name="adj" fmla="val 1860"/>
            </a:avLst>
          </a:prstGeom>
          <a:solidFill>
            <a:srgbClr val="F0F4F8"/>
          </a:solidFill>
          <a:ln>
            <a:noFill/>
          </a:ln>
        </p:spPr>
      </p:sp>
      <p:sp>
        <p:nvSpPr>
          <p:cNvPr id="35" name="Rectangle 35"/>
          <p:cNvSpPr/>
          <p:nvPr/>
        </p:nvSpPr>
        <p:spPr>
          <a:xfrm>
            <a:off x="552450" y="4191000"/>
            <a:ext cx="3571875" cy="47625"/>
          </a:xfrm>
          <a:prstGeom prst="roundRect">
            <a:avLst>
              <a:gd name="adj" fmla="val 40000"/>
            </a:avLst>
          </a:prstGeom>
          <a:solidFill>
            <a:srgbClr val="4A90D9"/>
          </a:solidFill>
          <a:ln>
            <a:noFill/>
          </a:ln>
        </p:spPr>
      </p:sp>
      <p:sp>
        <p:nvSpPr>
          <p:cNvPr id="36" name="Freeform 36"/>
          <p:cNvSpPr/>
          <p:nvPr/>
        </p:nvSpPr>
        <p:spPr>
          <a:xfrm>
            <a:off x="742950" y="4381500"/>
            <a:ext cx="342900" cy="342900"/>
          </a:xfrm>
          <a:custGeom>
            <a:avLst/>
            <a:gdLst/>
            <a:ahLst/>
            <a:cxnLst/>
            <a:rect l="l" t="t" r="r" b="b"/>
            <a:pathLst>
              <a:path w="342900" h="342900">
                <a:moveTo>
                  <a:pt x="342900" y="171450"/>
                </a:moveTo>
                <a:cubicBezTo>
                  <a:pt x="342900" y="147456"/>
                  <a:pt x="331634" y="126092"/>
                  <a:pt x="314103" y="112362"/>
                </a:cubicBezTo>
                <a:cubicBezTo>
                  <a:pt x="316790" y="90257"/>
                  <a:pt x="309652" y="67184"/>
                  <a:pt x="292684" y="50218"/>
                </a:cubicBezTo>
                <a:cubicBezTo>
                  <a:pt x="275717" y="33251"/>
                  <a:pt x="252644" y="26111"/>
                  <a:pt x="230540" y="28799"/>
                </a:cubicBezTo>
                <a:cubicBezTo>
                  <a:pt x="216809" y="11267"/>
                  <a:pt x="195445" y="0"/>
                  <a:pt x="171450" y="0"/>
                </a:cubicBezTo>
                <a:cubicBezTo>
                  <a:pt x="147456" y="0"/>
                  <a:pt x="126092" y="11266"/>
                  <a:pt x="112362" y="28798"/>
                </a:cubicBezTo>
                <a:cubicBezTo>
                  <a:pt x="90257" y="26110"/>
                  <a:pt x="67184" y="33249"/>
                  <a:pt x="50217" y="50216"/>
                </a:cubicBezTo>
                <a:cubicBezTo>
                  <a:pt x="33250" y="67183"/>
                  <a:pt x="26111" y="90256"/>
                  <a:pt x="28798" y="112361"/>
                </a:cubicBezTo>
                <a:cubicBezTo>
                  <a:pt x="11267" y="126092"/>
                  <a:pt x="0" y="147455"/>
                  <a:pt x="0" y="171450"/>
                </a:cubicBezTo>
                <a:cubicBezTo>
                  <a:pt x="0" y="195444"/>
                  <a:pt x="11266" y="216807"/>
                  <a:pt x="28798" y="230538"/>
                </a:cubicBezTo>
                <a:cubicBezTo>
                  <a:pt x="26110" y="252644"/>
                  <a:pt x="33249" y="275717"/>
                  <a:pt x="50216" y="292682"/>
                </a:cubicBezTo>
                <a:cubicBezTo>
                  <a:pt x="67183" y="309649"/>
                  <a:pt x="90256" y="316790"/>
                  <a:pt x="112361" y="314101"/>
                </a:cubicBezTo>
                <a:cubicBezTo>
                  <a:pt x="126092" y="331634"/>
                  <a:pt x="147455" y="342900"/>
                  <a:pt x="171450" y="342900"/>
                </a:cubicBezTo>
                <a:cubicBezTo>
                  <a:pt x="195444" y="342900"/>
                  <a:pt x="216807" y="331634"/>
                  <a:pt x="230538" y="314103"/>
                </a:cubicBezTo>
                <a:cubicBezTo>
                  <a:pt x="252642" y="316790"/>
                  <a:pt x="275715" y="309652"/>
                  <a:pt x="292682" y="292684"/>
                </a:cubicBezTo>
                <a:cubicBezTo>
                  <a:pt x="309649" y="275717"/>
                  <a:pt x="316788" y="252644"/>
                  <a:pt x="314101" y="230540"/>
                </a:cubicBezTo>
                <a:cubicBezTo>
                  <a:pt x="331634" y="216809"/>
                  <a:pt x="342900" y="195445"/>
                  <a:pt x="342900" y="171450"/>
                </a:cubicBezTo>
                <a:close/>
              </a:path>
            </a:pathLst>
          </a:custGeom>
          <a:solidFill>
            <a:srgbClr val="4A90D9"/>
          </a:solidFill>
          <a:ln>
            <a:noFill/>
          </a:ln>
        </p:spPr>
      </p:sp>
      <p:sp>
        <p:nvSpPr>
          <p:cNvPr id="37" name="TextBox 37"/>
          <p:cNvSpPr txBox="1"/>
          <p:nvPr/>
        </p:nvSpPr>
        <p:spPr>
          <a:xfrm>
            <a:off x="1202055" y="4464368"/>
            <a:ext cx="790384" cy="274320"/>
          </a:xfrm>
          <a:prstGeom prst="rect">
            <a:avLst/>
          </a:prstGeom>
          <a:noFill/>
          <a:ln>
            <a:noFill/>
          </a:ln>
        </p:spPr>
        <p:txBody>
          <a:bodyPr wrap="none" lIns="0" tIns="0" rIns="0" bIns="0" anchor="t" anchorCtr="0">
            <a:spAutoFit/>
          </a:bodyPr>
          <a:lstStyle/>
          <a:p>
            <a:pPr algn="l"/>
            <a:r>
              <a:rPr lang="zh-CN" sz="1350" b="1" dirty="0">
                <a:solidFill>
                  <a:srgbClr val="4A90D9"/>
                </a:solidFill>
                <a:latin typeface="Arial"/>
                <a:ea typeface="SimHei"/>
                <a:cs typeface="Arial"/>
              </a:rPr>
              <a:t>证照核验</a:t>
            </a:r>
          </a:p>
        </p:txBody>
      </p:sp>
      <p:sp>
        <p:nvSpPr>
          <p:cNvPr id="38" name="TextBox 38"/>
          <p:cNvSpPr txBox="1"/>
          <p:nvPr/>
        </p:nvSpPr>
        <p:spPr>
          <a:xfrm>
            <a:off x="1206818" y="4704874"/>
            <a:ext cx="1454944"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权威渠道接入，杜绝伪造</a:t>
            </a:r>
          </a:p>
        </p:txBody>
      </p:sp>
      <p:sp>
        <p:nvSpPr>
          <p:cNvPr id="39" name="Line 39"/>
          <p:cNvSpPr/>
          <p:nvPr/>
        </p:nvSpPr>
        <p:spPr>
          <a:xfrm>
            <a:off x="742950" y="4905375"/>
            <a:ext cx="3190875" cy="9525"/>
          </a:xfrm>
          <a:custGeom>
            <a:avLst/>
            <a:gdLst/>
            <a:ahLst/>
            <a:cxnLst/>
            <a:rect l="l" t="t" r="r" b="b"/>
            <a:pathLst>
              <a:path w="3190875" h="9525">
                <a:moveTo>
                  <a:pt x="0" y="0"/>
                </a:moveTo>
                <a:lnTo>
                  <a:pt x="3190875" y="0"/>
                </a:lnTo>
              </a:path>
            </a:pathLst>
          </a:custGeom>
          <a:noFill/>
          <a:ln w="9525">
            <a:solidFill>
              <a:srgbClr val="CBD5E0"/>
            </a:solidFill>
          </a:ln>
        </p:spPr>
      </p:sp>
      <p:sp>
        <p:nvSpPr>
          <p:cNvPr id="40" name="TextBox 40"/>
          <p:cNvSpPr txBox="1"/>
          <p:nvPr/>
        </p:nvSpPr>
        <p:spPr>
          <a:xfrm>
            <a:off x="728662" y="5031581"/>
            <a:ext cx="1578769"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特种作业证真实性核验</a:t>
            </a:r>
            <a:r>
              <a:rPr lang="zh-CN" sz="1125" dirty="0">
                <a:solidFill>
                  <a:srgbClr val="1A1A2E"/>
                </a:solidFill>
                <a:latin typeface="Arial"/>
                <a:ea typeface="Microsoft YaHei"/>
                <a:cs typeface="Arial"/>
              </a:rPr>
              <a:t>· 证照有效期自动核查</a:t>
            </a:r>
            <a:r>
              <a:rPr lang="zh-CN" sz="1125" dirty="0">
                <a:solidFill>
                  <a:srgbClr val="1A1A2E"/>
                </a:solidFill>
                <a:latin typeface="Arial"/>
                <a:ea typeface="Microsoft YaHei"/>
                <a:cs typeface="Arial"/>
              </a:rPr>
              <a:t>· 到期前预警提醒</a:t>
            </a:r>
            <a:r>
              <a:rPr lang="zh-CN" sz="1125" dirty="0">
                <a:solidFill>
                  <a:srgbClr val="1A1A2E"/>
                </a:solidFill>
                <a:latin typeface="Arial"/>
                <a:ea typeface="Microsoft YaHei"/>
                <a:cs typeface="Arial"/>
              </a:rPr>
              <a:t>· 核验来源与时间留存</a:t>
            </a:r>
          </a:p>
        </p:txBody>
      </p:sp>
      <p:sp>
        <p:nvSpPr>
          <p:cNvPr id="41" name="Rectangle 41"/>
          <p:cNvSpPr/>
          <p:nvPr/>
        </p:nvSpPr>
        <p:spPr>
          <a:xfrm>
            <a:off x="4314825" y="4191000"/>
            <a:ext cx="3562350" cy="2047875"/>
          </a:xfrm>
          <a:prstGeom prst="roundRect">
            <a:avLst>
              <a:gd name="adj" fmla="val 1860"/>
            </a:avLst>
          </a:prstGeom>
          <a:solidFill>
            <a:srgbClr val="F0F4F8"/>
          </a:solidFill>
          <a:ln>
            <a:noFill/>
          </a:ln>
        </p:spPr>
      </p:sp>
      <p:sp>
        <p:nvSpPr>
          <p:cNvPr id="42" name="Rectangle 42"/>
          <p:cNvSpPr/>
          <p:nvPr/>
        </p:nvSpPr>
        <p:spPr>
          <a:xfrm>
            <a:off x="4314825" y="4191000"/>
            <a:ext cx="3562350" cy="47625"/>
          </a:xfrm>
          <a:prstGeom prst="roundRect">
            <a:avLst>
              <a:gd name="adj" fmla="val 40000"/>
            </a:avLst>
          </a:prstGeom>
          <a:solidFill>
            <a:srgbClr val="2D7D46"/>
          </a:solidFill>
          <a:ln>
            <a:noFill/>
          </a:ln>
        </p:spPr>
      </p:sp>
      <p:sp>
        <p:nvSpPr>
          <p:cNvPr id="43" name="Freeform 43"/>
          <p:cNvSpPr/>
          <p:nvPr/>
        </p:nvSpPr>
        <p:spPr>
          <a:xfrm>
            <a:off x="4512222" y="4381500"/>
            <a:ext cx="329107" cy="342900"/>
          </a:xfrm>
          <a:custGeom>
            <a:avLst/>
            <a:gdLst/>
            <a:ahLst/>
            <a:cxnLst/>
            <a:rect l="l" t="t" r="r" b="b"/>
            <a:pathLst>
              <a:path w="329107" h="342900">
                <a:moveTo>
                  <a:pt x="132407" y="0"/>
                </a:moveTo>
                <a:lnTo>
                  <a:pt x="196700" y="0"/>
                </a:lnTo>
                <a:lnTo>
                  <a:pt x="209428" y="50910"/>
                </a:lnTo>
                <a:cubicBezTo>
                  <a:pt x="223009" y="55968"/>
                  <a:pt x="235506" y="63255"/>
                  <a:pt x="246470" y="72328"/>
                </a:cubicBezTo>
                <a:lnTo>
                  <a:pt x="296960" y="57885"/>
                </a:lnTo>
                <a:lnTo>
                  <a:pt x="329107" y="113565"/>
                </a:lnTo>
                <a:lnTo>
                  <a:pt x="291368" y="150054"/>
                </a:lnTo>
                <a:cubicBezTo>
                  <a:pt x="292534" y="157013"/>
                  <a:pt x="293141" y="164161"/>
                  <a:pt x="293141" y="171450"/>
                </a:cubicBezTo>
                <a:cubicBezTo>
                  <a:pt x="293141" y="178739"/>
                  <a:pt x="292534" y="185887"/>
                  <a:pt x="291368" y="192846"/>
                </a:cubicBezTo>
                <a:lnTo>
                  <a:pt x="329107" y="229336"/>
                </a:lnTo>
                <a:lnTo>
                  <a:pt x="296960" y="285014"/>
                </a:lnTo>
                <a:lnTo>
                  <a:pt x="246470" y="270572"/>
                </a:lnTo>
                <a:cubicBezTo>
                  <a:pt x="235506" y="279644"/>
                  <a:pt x="223009" y="286932"/>
                  <a:pt x="209428" y="291990"/>
                </a:cubicBezTo>
                <a:lnTo>
                  <a:pt x="196700" y="342900"/>
                </a:lnTo>
                <a:lnTo>
                  <a:pt x="132407" y="342900"/>
                </a:lnTo>
                <a:lnTo>
                  <a:pt x="119679" y="291990"/>
                </a:lnTo>
                <a:cubicBezTo>
                  <a:pt x="106098" y="286932"/>
                  <a:pt x="93602" y="279644"/>
                  <a:pt x="82636" y="270572"/>
                </a:cubicBezTo>
                <a:lnTo>
                  <a:pt x="32147" y="285014"/>
                </a:lnTo>
                <a:lnTo>
                  <a:pt x="0" y="229336"/>
                </a:lnTo>
                <a:lnTo>
                  <a:pt x="37738" y="192846"/>
                </a:lnTo>
                <a:cubicBezTo>
                  <a:pt x="36572" y="185887"/>
                  <a:pt x="35966" y="178739"/>
                  <a:pt x="35966" y="171450"/>
                </a:cubicBezTo>
                <a:cubicBezTo>
                  <a:pt x="35966" y="164161"/>
                  <a:pt x="36572" y="157013"/>
                  <a:pt x="37738" y="150054"/>
                </a:cubicBezTo>
                <a:lnTo>
                  <a:pt x="0" y="113565"/>
                </a:lnTo>
                <a:lnTo>
                  <a:pt x="32147" y="57885"/>
                </a:lnTo>
                <a:lnTo>
                  <a:pt x="82636" y="72328"/>
                </a:lnTo>
                <a:cubicBezTo>
                  <a:pt x="93602" y="63255"/>
                  <a:pt x="106098" y="55968"/>
                  <a:pt x="119679" y="50910"/>
                </a:cubicBezTo>
                <a:lnTo>
                  <a:pt x="132407" y="0"/>
                </a:lnTo>
                <a:close/>
                <a:moveTo>
                  <a:pt x="164553" y="214312"/>
                </a:moveTo>
                <a:cubicBezTo>
                  <a:pt x="188226" y="214312"/>
                  <a:pt x="207416" y="195122"/>
                  <a:pt x="207416" y="171450"/>
                </a:cubicBezTo>
                <a:cubicBezTo>
                  <a:pt x="207416" y="147778"/>
                  <a:pt x="188226" y="128588"/>
                  <a:pt x="164553" y="128588"/>
                </a:cubicBezTo>
                <a:cubicBezTo>
                  <a:pt x="140881" y="128588"/>
                  <a:pt x="121691" y="147778"/>
                  <a:pt x="121691" y="171450"/>
                </a:cubicBezTo>
                <a:cubicBezTo>
                  <a:pt x="121691" y="195122"/>
                  <a:pt x="140881" y="214312"/>
                  <a:pt x="164553" y="214312"/>
                </a:cubicBezTo>
                <a:close/>
              </a:path>
            </a:pathLst>
          </a:custGeom>
          <a:solidFill>
            <a:srgbClr val="2D7D46"/>
          </a:solidFill>
          <a:ln>
            <a:noFill/>
          </a:ln>
        </p:spPr>
      </p:sp>
      <p:sp>
        <p:nvSpPr>
          <p:cNvPr id="44" name="TextBox 44"/>
          <p:cNvSpPr txBox="1"/>
          <p:nvPr/>
        </p:nvSpPr>
        <p:spPr>
          <a:xfrm>
            <a:off x="4964430" y="4464368"/>
            <a:ext cx="1168432" cy="274320"/>
          </a:xfrm>
          <a:prstGeom prst="rect">
            <a:avLst/>
          </a:prstGeom>
          <a:noFill/>
          <a:ln>
            <a:noFill/>
          </a:ln>
        </p:spPr>
        <p:txBody>
          <a:bodyPr wrap="none" lIns="0" tIns="0" rIns="0" bIns="0" anchor="t" anchorCtr="0">
            <a:spAutoFit/>
          </a:bodyPr>
          <a:lstStyle/>
          <a:p>
            <a:pPr algn="l"/>
            <a:r>
              <a:rPr lang="zh-CN" sz="1350" b="1" dirty="0">
                <a:solidFill>
                  <a:srgbClr val="2D7D46"/>
                </a:solidFill>
                <a:latin typeface="Arial"/>
                <a:ea typeface="SimHei"/>
                <a:cs typeface="Arial"/>
              </a:rPr>
              <a:t>准入规则引擎</a:t>
            </a:r>
          </a:p>
        </p:txBody>
      </p:sp>
      <p:sp>
        <p:nvSpPr>
          <p:cNvPr id="45" name="TextBox 45"/>
          <p:cNvSpPr txBox="1"/>
          <p:nvPr/>
        </p:nvSpPr>
        <p:spPr>
          <a:xfrm>
            <a:off x="4969192" y="4704874"/>
            <a:ext cx="1324928"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自动判断，结论可解释</a:t>
            </a:r>
          </a:p>
        </p:txBody>
      </p:sp>
      <p:sp>
        <p:nvSpPr>
          <p:cNvPr id="46" name="Line 46"/>
          <p:cNvSpPr/>
          <p:nvPr/>
        </p:nvSpPr>
        <p:spPr>
          <a:xfrm>
            <a:off x="4505325" y="4905375"/>
            <a:ext cx="3181350" cy="9525"/>
          </a:xfrm>
          <a:custGeom>
            <a:avLst/>
            <a:gdLst/>
            <a:ahLst/>
            <a:cxnLst/>
            <a:rect l="l" t="t" r="r" b="b"/>
            <a:pathLst>
              <a:path w="3181350" h="9525">
                <a:moveTo>
                  <a:pt x="0" y="0"/>
                </a:moveTo>
                <a:lnTo>
                  <a:pt x="3181350" y="0"/>
                </a:lnTo>
              </a:path>
            </a:pathLst>
          </a:custGeom>
          <a:noFill/>
          <a:ln w="9525">
            <a:solidFill>
              <a:srgbClr val="CBD5E0"/>
            </a:solidFill>
          </a:ln>
        </p:spPr>
      </p:sp>
      <p:sp>
        <p:nvSpPr>
          <p:cNvPr id="47" name="TextBox 47"/>
          <p:cNvSpPr txBox="1"/>
          <p:nvPr/>
        </p:nvSpPr>
        <p:spPr>
          <a:xfrm>
            <a:off x="4491038" y="5031581"/>
            <a:ext cx="1800225"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按岗位配置准入条件</a:t>
            </a:r>
            <a:r>
              <a:rPr lang="zh-CN" sz="1125" dirty="0">
                <a:solidFill>
                  <a:srgbClr val="1A1A2E"/>
                </a:solidFill>
                <a:latin typeface="Arial"/>
                <a:ea typeface="Microsoft YaHei"/>
                <a:cs typeface="Arial"/>
              </a:rPr>
              <a:t>· 自动生成通过/待整改结论</a:t>
            </a:r>
            <a:r>
              <a:rPr lang="zh-CN" sz="1125" dirty="0">
                <a:solidFill>
                  <a:srgbClr val="1A1A2E"/>
                </a:solidFill>
                <a:latin typeface="Arial"/>
                <a:ea typeface="Microsoft YaHei"/>
                <a:cs typeface="Arial"/>
              </a:rPr>
              <a:t>· 依据摘要附于结论</a:t>
            </a:r>
            <a:r>
              <a:rPr lang="zh-CN" sz="1125" dirty="0">
                <a:solidFill>
                  <a:srgbClr val="1A1A2E"/>
                </a:solidFill>
                <a:latin typeface="Arial"/>
                <a:ea typeface="Microsoft YaHei"/>
                <a:cs typeface="Arial"/>
              </a:rPr>
              <a:t>· 规则版本留痕管理</a:t>
            </a:r>
          </a:p>
        </p:txBody>
      </p:sp>
      <p:sp>
        <p:nvSpPr>
          <p:cNvPr id="48" name="Rectangle 48"/>
          <p:cNvSpPr/>
          <p:nvPr/>
        </p:nvSpPr>
        <p:spPr>
          <a:xfrm>
            <a:off x="8067675" y="4191000"/>
            <a:ext cx="3571875" cy="2047875"/>
          </a:xfrm>
          <a:prstGeom prst="roundRect">
            <a:avLst>
              <a:gd name="adj" fmla="val 1860"/>
            </a:avLst>
          </a:prstGeom>
          <a:solidFill>
            <a:srgbClr val="F0F4F8"/>
          </a:solidFill>
          <a:ln>
            <a:noFill/>
          </a:ln>
        </p:spPr>
      </p:sp>
      <p:sp>
        <p:nvSpPr>
          <p:cNvPr id="49" name="Rectangle 49"/>
          <p:cNvSpPr/>
          <p:nvPr/>
        </p:nvSpPr>
        <p:spPr>
          <a:xfrm>
            <a:off x="8067675" y="4191000"/>
            <a:ext cx="3571875" cy="47625"/>
          </a:xfrm>
          <a:prstGeom prst="roundRect">
            <a:avLst>
              <a:gd name="adj" fmla="val 40000"/>
            </a:avLst>
          </a:prstGeom>
          <a:solidFill>
            <a:srgbClr val="1A1A2E"/>
          </a:solidFill>
          <a:ln>
            <a:noFill/>
          </a:ln>
        </p:spPr>
      </p:sp>
      <p:grpSp>
        <p:nvGrpSpPr>
          <p:cNvPr id="53" name="Group 53"/>
          <p:cNvGrpSpPr/>
          <p:nvPr/>
        </p:nvGrpSpPr>
        <p:grpSpPr>
          <a:xfrm>
            <a:off x="8258175" y="4402931"/>
            <a:ext cx="342900" cy="300038"/>
            <a:chOff x="8258175" y="4402931"/>
            <a:chExt cx="342900" cy="300038"/>
          </a:xfrm>
        </p:grpSpPr>
        <p:sp>
          <p:nvSpPr>
            <p:cNvPr id="50" name="Freeform 50"/>
            <p:cNvSpPr/>
            <p:nvPr/>
          </p:nvSpPr>
          <p:spPr>
            <a:xfrm>
              <a:off x="8515350" y="4402931"/>
              <a:ext cx="85725" cy="300038"/>
            </a:xfrm>
            <a:custGeom>
              <a:avLst/>
              <a:gdLst/>
              <a:ahLst/>
              <a:cxnLst/>
              <a:rect l="l" t="t" r="r" b="b"/>
              <a:pathLst>
                <a:path w="85725" h="300038">
                  <a:moveTo>
                    <a:pt x="85725" y="0"/>
                  </a:moveTo>
                  <a:lnTo>
                    <a:pt x="0" y="0"/>
                  </a:lnTo>
                  <a:lnTo>
                    <a:pt x="0" y="300038"/>
                  </a:lnTo>
                  <a:lnTo>
                    <a:pt x="85725" y="300038"/>
                  </a:lnTo>
                  <a:lnTo>
                    <a:pt x="85725" y="0"/>
                  </a:lnTo>
                  <a:close/>
                </a:path>
              </a:pathLst>
            </a:custGeom>
            <a:solidFill>
              <a:srgbClr val="1A1A2E"/>
            </a:solidFill>
            <a:ln>
              <a:noFill/>
            </a:ln>
          </p:spPr>
        </p:sp>
        <p:sp>
          <p:nvSpPr>
            <p:cNvPr id="51" name="Freeform 51"/>
            <p:cNvSpPr/>
            <p:nvPr/>
          </p:nvSpPr>
          <p:spPr>
            <a:xfrm>
              <a:off x="8386762" y="4488656"/>
              <a:ext cx="85725" cy="214312"/>
            </a:xfrm>
            <a:custGeom>
              <a:avLst/>
              <a:gdLst/>
              <a:ahLst/>
              <a:cxnLst/>
              <a:rect l="l" t="t" r="r" b="b"/>
              <a:pathLst>
                <a:path w="85725" h="214312">
                  <a:moveTo>
                    <a:pt x="0" y="0"/>
                  </a:moveTo>
                  <a:lnTo>
                    <a:pt x="85725" y="0"/>
                  </a:lnTo>
                  <a:lnTo>
                    <a:pt x="85725" y="214312"/>
                  </a:lnTo>
                  <a:lnTo>
                    <a:pt x="0" y="214312"/>
                  </a:lnTo>
                  <a:lnTo>
                    <a:pt x="0" y="0"/>
                  </a:lnTo>
                  <a:close/>
                </a:path>
              </a:pathLst>
            </a:custGeom>
            <a:solidFill>
              <a:srgbClr val="1A1A2E"/>
            </a:solidFill>
            <a:ln>
              <a:noFill/>
            </a:ln>
          </p:spPr>
        </p:sp>
        <p:sp>
          <p:nvSpPr>
            <p:cNvPr id="52" name="Freeform 52"/>
            <p:cNvSpPr/>
            <p:nvPr/>
          </p:nvSpPr>
          <p:spPr>
            <a:xfrm>
              <a:off x="8258175" y="4574381"/>
              <a:ext cx="85725" cy="128588"/>
            </a:xfrm>
            <a:custGeom>
              <a:avLst/>
              <a:gdLst/>
              <a:ahLst/>
              <a:cxnLst/>
              <a:rect l="l" t="t" r="r" b="b"/>
              <a:pathLst>
                <a:path w="85725" h="128588">
                  <a:moveTo>
                    <a:pt x="0" y="0"/>
                  </a:moveTo>
                  <a:lnTo>
                    <a:pt x="85725" y="0"/>
                  </a:lnTo>
                  <a:lnTo>
                    <a:pt x="85725" y="128588"/>
                  </a:lnTo>
                  <a:lnTo>
                    <a:pt x="0" y="128588"/>
                  </a:lnTo>
                  <a:lnTo>
                    <a:pt x="0" y="0"/>
                  </a:lnTo>
                  <a:close/>
                </a:path>
              </a:pathLst>
            </a:custGeom>
            <a:solidFill>
              <a:srgbClr val="1A1A2E"/>
            </a:solidFill>
            <a:ln>
              <a:noFill/>
            </a:ln>
          </p:spPr>
        </p:sp>
      </p:grpSp>
      <p:sp>
        <p:nvSpPr>
          <p:cNvPr id="54" name="TextBox 54"/>
          <p:cNvSpPr txBox="1"/>
          <p:nvPr/>
        </p:nvSpPr>
        <p:spPr>
          <a:xfrm>
            <a:off x="8717280" y="4464368"/>
            <a:ext cx="1357455" cy="274320"/>
          </a:xfrm>
          <a:prstGeom prst="rect">
            <a:avLst/>
          </a:prstGeom>
          <a:noFill/>
          <a:ln>
            <a:noFill/>
          </a:ln>
        </p:spPr>
        <p:txBody>
          <a:bodyPr wrap="none" lIns="0" tIns="0" rIns="0" bIns="0" anchor="t" anchorCtr="0">
            <a:spAutoFit/>
          </a:bodyPr>
          <a:lstStyle/>
          <a:p>
            <a:pPr algn="l"/>
            <a:r>
              <a:rPr lang="zh-CN" sz="1350" b="1" dirty="0">
                <a:solidFill>
                  <a:srgbClr val="1A1A2E"/>
                </a:solidFill>
                <a:latin typeface="Arial"/>
                <a:ea typeface="SimHei"/>
                <a:cs typeface="Arial"/>
              </a:rPr>
              <a:t>结果报告与看板</a:t>
            </a:r>
          </a:p>
        </p:txBody>
      </p:sp>
      <p:sp>
        <p:nvSpPr>
          <p:cNvPr id="55" name="TextBox 55"/>
          <p:cNvSpPr txBox="1"/>
          <p:nvPr/>
        </p:nvSpPr>
        <p:spPr>
          <a:xfrm>
            <a:off x="8722042" y="4704874"/>
            <a:ext cx="1194911"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管理可视，审计可导</a:t>
            </a:r>
          </a:p>
        </p:txBody>
      </p:sp>
      <p:sp>
        <p:nvSpPr>
          <p:cNvPr id="56" name="Line 56"/>
          <p:cNvSpPr/>
          <p:nvPr/>
        </p:nvSpPr>
        <p:spPr>
          <a:xfrm>
            <a:off x="8258175" y="4905375"/>
            <a:ext cx="3190875" cy="9525"/>
          </a:xfrm>
          <a:custGeom>
            <a:avLst/>
            <a:gdLst/>
            <a:ahLst/>
            <a:cxnLst/>
            <a:rect l="l" t="t" r="r" b="b"/>
            <a:pathLst>
              <a:path w="3190875" h="9525">
                <a:moveTo>
                  <a:pt x="0" y="0"/>
                </a:moveTo>
                <a:lnTo>
                  <a:pt x="3190875" y="0"/>
                </a:lnTo>
              </a:path>
            </a:pathLst>
          </a:custGeom>
          <a:noFill/>
          <a:ln w="9525">
            <a:solidFill>
              <a:srgbClr val="CBD5E0"/>
            </a:solidFill>
          </a:ln>
        </p:spPr>
      </p:sp>
      <p:sp>
        <p:nvSpPr>
          <p:cNvPr id="57" name="TextBox 57"/>
          <p:cNvSpPr txBox="1"/>
          <p:nvPr/>
        </p:nvSpPr>
        <p:spPr>
          <a:xfrm>
            <a:off x="8243888" y="5031581"/>
            <a:ext cx="1435894" cy="914400"/>
          </a:xfrm>
          <a:prstGeom prst="rect">
            <a:avLst/>
          </a:prstGeom>
          <a:noFill/>
          <a:ln>
            <a:noFill/>
          </a:ln>
        </p:spPr>
        <p:txBody>
          <a:bodyPr wrap="square" lIns="0" tIns="0" rIns="0" bIns="0" anchor="t" anchorCtr="0"/>
          <a:lstStyle/>
          <a:p>
            <a:pPr algn="l">
              <a:lnSpc>
                <a:spcPts val="1800"/>
              </a:lnSpc>
            </a:pPr>
            <a:r>
              <a:rPr lang="zh-CN" sz="1125" dirty="0">
                <a:solidFill>
                  <a:srgbClr val="1A1A2E"/>
                </a:solidFill>
                <a:latin typeface="Arial"/>
                <a:ea typeface="Microsoft YaHei"/>
                <a:cs typeface="Arial"/>
              </a:rPr>
              <a:t>· 个人核验报告下载</a:t>
            </a:r>
            <a:r>
              <a:rPr lang="zh-CN" sz="1125" dirty="0">
                <a:solidFill>
                  <a:srgbClr val="1A1A2E"/>
                </a:solidFill>
                <a:latin typeface="Arial"/>
                <a:ea typeface="Microsoft YaHei"/>
                <a:cs typeface="Arial"/>
              </a:rPr>
              <a:t>· 项目通过率看板</a:t>
            </a:r>
            <a:r>
              <a:rPr lang="zh-CN" sz="1125" dirty="0">
                <a:solidFill>
                  <a:srgbClr val="1A1A2E"/>
                </a:solidFill>
                <a:latin typeface="Arial"/>
                <a:ea typeface="Microsoft YaHei"/>
                <a:cs typeface="Arial"/>
              </a:rPr>
              <a:t>· 异常清单与整改追踪</a:t>
            </a:r>
            <a:r>
              <a:rPr lang="zh-CN" sz="1125" dirty="0">
                <a:solidFill>
                  <a:srgbClr val="1A1A2E"/>
                </a:solidFill>
                <a:latin typeface="Arial"/>
                <a:ea typeface="Microsoft YaHei"/>
                <a:cs typeface="Arial"/>
              </a:rPr>
              <a:t>· 审计台账导出</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第三章 · 技术与业务实现</a:t>
            </a:r>
          </a:p>
        </p:txBody>
      </p:sp>
      <p:sp>
        <p:nvSpPr>
          <p:cNvPr id="4" name="TextBox 4"/>
          <p:cNvSpPr txBox="1"/>
          <p:nvPr/>
        </p:nvSpPr>
        <p:spPr>
          <a:xfrm>
            <a:off x="525780" y="1183005"/>
            <a:ext cx="7757103"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技术架构：接入层·授权层·核验层·输出层·安全层五层设计</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66875"/>
            <a:ext cx="11087100" cy="838200"/>
          </a:xfrm>
          <a:prstGeom prst="roundRect">
            <a:avLst>
              <a:gd name="adj" fmla="val 3409"/>
            </a:avLst>
          </a:prstGeom>
          <a:solidFill>
            <a:srgbClr val="003A70"/>
          </a:solidFill>
          <a:ln>
            <a:noFill/>
          </a:ln>
        </p:spPr>
      </p:sp>
      <p:sp>
        <p:nvSpPr>
          <p:cNvPr id="7" name="Rectangle 7"/>
          <p:cNvSpPr/>
          <p:nvPr/>
        </p:nvSpPr>
        <p:spPr>
          <a:xfrm>
            <a:off x="552450" y="1666875"/>
            <a:ext cx="1333500" cy="838200"/>
          </a:xfrm>
          <a:prstGeom prst="roundRect">
            <a:avLst>
              <a:gd name="adj" fmla="val 3409"/>
            </a:avLst>
          </a:prstGeom>
          <a:solidFill>
            <a:srgbClr val="003A70">
              <a:alpha val="40000"/>
            </a:srgbClr>
          </a:solidFill>
          <a:ln>
            <a:noFill/>
          </a:ln>
        </p:spPr>
      </p:sp>
      <p:sp>
        <p:nvSpPr>
          <p:cNvPr id="8" name="Line 8"/>
          <p:cNvSpPr/>
          <p:nvPr/>
        </p:nvSpPr>
        <p:spPr>
          <a:xfrm>
            <a:off x="1885950" y="1666875"/>
            <a:ext cx="9525" cy="838200"/>
          </a:xfrm>
          <a:custGeom>
            <a:avLst/>
            <a:gdLst/>
            <a:ahLst/>
            <a:cxnLst/>
            <a:rect l="l" t="t" r="r" b="b"/>
            <a:pathLst>
              <a:path w="9525" h="838200">
                <a:moveTo>
                  <a:pt x="0" y="0"/>
                </a:moveTo>
                <a:lnTo>
                  <a:pt x="0" y="838200"/>
                </a:lnTo>
              </a:path>
            </a:pathLst>
          </a:custGeom>
          <a:noFill/>
          <a:ln w="9525">
            <a:solidFill>
              <a:srgbClr val="FFFFFF">
                <a:alpha val="30000"/>
              </a:srgbClr>
            </a:solidFill>
          </a:ln>
        </p:spPr>
      </p:sp>
      <p:sp>
        <p:nvSpPr>
          <p:cNvPr id="9" name="TextBox 9"/>
          <p:cNvSpPr txBox="1"/>
          <p:nvPr/>
        </p:nvSpPr>
        <p:spPr>
          <a:xfrm>
            <a:off x="968633" y="185975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接入层</a:t>
            </a:r>
          </a:p>
        </p:txBody>
      </p:sp>
      <p:sp>
        <p:nvSpPr>
          <p:cNvPr id="10" name="TextBox 10"/>
          <p:cNvSpPr txBox="1"/>
          <p:nvPr/>
        </p:nvSpPr>
        <p:spPr>
          <a:xfrm>
            <a:off x="1009745" y="2112645"/>
            <a:ext cx="41891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Access</a:t>
            </a:r>
          </a:p>
        </p:txBody>
      </p:sp>
      <p:sp>
        <p:nvSpPr>
          <p:cNvPr id="11" name="Rectangle 11"/>
          <p:cNvSpPr/>
          <p:nvPr/>
        </p:nvSpPr>
        <p:spPr>
          <a:xfrm>
            <a:off x="2019300" y="1781175"/>
            <a:ext cx="2171700" cy="609600"/>
          </a:xfrm>
          <a:prstGeom prst="roundRect">
            <a:avLst>
              <a:gd name="adj" fmla="val 3125"/>
            </a:avLst>
          </a:prstGeom>
          <a:solidFill>
            <a:srgbClr val="FFFFFF">
              <a:alpha val="12000"/>
            </a:srgbClr>
          </a:solidFill>
          <a:ln>
            <a:noFill/>
          </a:ln>
        </p:spPr>
      </p:sp>
      <p:sp>
        <p:nvSpPr>
          <p:cNvPr id="12" name="TextBox 12"/>
          <p:cNvSpPr txBox="1"/>
          <p:nvPr/>
        </p:nvSpPr>
        <p:spPr>
          <a:xfrm>
            <a:off x="2741771" y="1905952"/>
            <a:ext cx="726758"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企业管理端</a:t>
            </a:r>
          </a:p>
        </p:txBody>
      </p:sp>
      <p:sp>
        <p:nvSpPr>
          <p:cNvPr id="13" name="TextBox 13"/>
          <p:cNvSpPr txBox="1"/>
          <p:nvPr/>
        </p:nvSpPr>
        <p:spPr>
          <a:xfrm>
            <a:off x="2814685" y="2150745"/>
            <a:ext cx="58093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Web / App</a:t>
            </a:r>
          </a:p>
        </p:txBody>
      </p:sp>
      <p:sp>
        <p:nvSpPr>
          <p:cNvPr id="14" name="Rectangle 14"/>
          <p:cNvSpPr/>
          <p:nvPr/>
        </p:nvSpPr>
        <p:spPr>
          <a:xfrm>
            <a:off x="4324350" y="1781175"/>
            <a:ext cx="2171700" cy="609600"/>
          </a:xfrm>
          <a:prstGeom prst="roundRect">
            <a:avLst>
              <a:gd name="adj" fmla="val 3125"/>
            </a:avLst>
          </a:prstGeom>
          <a:solidFill>
            <a:srgbClr val="FFFFFF">
              <a:alpha val="12000"/>
            </a:srgbClr>
          </a:solidFill>
          <a:ln>
            <a:noFill/>
          </a:ln>
        </p:spPr>
      </p:sp>
      <p:sp>
        <p:nvSpPr>
          <p:cNvPr id="15" name="TextBox 15"/>
          <p:cNvSpPr txBox="1"/>
          <p:nvPr/>
        </p:nvSpPr>
        <p:spPr>
          <a:xfrm>
            <a:off x="5116830" y="1905952"/>
            <a:ext cx="586740"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承包商端</a:t>
            </a:r>
          </a:p>
        </p:txBody>
      </p:sp>
      <p:sp>
        <p:nvSpPr>
          <p:cNvPr id="16" name="TextBox 16"/>
          <p:cNvSpPr txBox="1"/>
          <p:nvPr/>
        </p:nvSpPr>
        <p:spPr>
          <a:xfrm>
            <a:off x="5038725" y="2150745"/>
            <a:ext cx="742950"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人员清单导入</a:t>
            </a:r>
          </a:p>
        </p:txBody>
      </p:sp>
      <p:sp>
        <p:nvSpPr>
          <p:cNvPr id="17" name="Rectangle 17"/>
          <p:cNvSpPr/>
          <p:nvPr/>
        </p:nvSpPr>
        <p:spPr>
          <a:xfrm>
            <a:off x="6629400" y="1781175"/>
            <a:ext cx="2171700" cy="609600"/>
          </a:xfrm>
          <a:prstGeom prst="roundRect">
            <a:avLst>
              <a:gd name="adj" fmla="val 3125"/>
            </a:avLst>
          </a:prstGeom>
          <a:solidFill>
            <a:srgbClr val="FFFFFF">
              <a:alpha val="12000"/>
            </a:srgbClr>
          </a:solidFill>
          <a:ln>
            <a:noFill/>
          </a:ln>
        </p:spPr>
      </p:sp>
      <p:sp>
        <p:nvSpPr>
          <p:cNvPr id="18" name="TextBox 18"/>
          <p:cNvSpPr txBox="1"/>
          <p:nvPr/>
        </p:nvSpPr>
        <p:spPr>
          <a:xfrm>
            <a:off x="7351871" y="1905952"/>
            <a:ext cx="726758"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个人授权端</a:t>
            </a:r>
          </a:p>
        </p:txBody>
      </p:sp>
      <p:sp>
        <p:nvSpPr>
          <p:cNvPr id="19" name="TextBox 19"/>
          <p:cNvSpPr txBox="1"/>
          <p:nvPr/>
        </p:nvSpPr>
        <p:spPr>
          <a:xfrm>
            <a:off x="7268766" y="2150745"/>
            <a:ext cx="892969"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H5 / 微信小程序</a:t>
            </a:r>
          </a:p>
        </p:txBody>
      </p:sp>
      <p:sp>
        <p:nvSpPr>
          <p:cNvPr id="20" name="Rectangle 20"/>
          <p:cNvSpPr/>
          <p:nvPr/>
        </p:nvSpPr>
        <p:spPr>
          <a:xfrm>
            <a:off x="8934450" y="1781175"/>
            <a:ext cx="2590800" cy="609600"/>
          </a:xfrm>
          <a:prstGeom prst="roundRect">
            <a:avLst>
              <a:gd name="adj" fmla="val 3125"/>
            </a:avLst>
          </a:prstGeom>
          <a:solidFill>
            <a:srgbClr val="FFFFFF">
              <a:alpha val="12000"/>
            </a:srgbClr>
          </a:solidFill>
          <a:ln>
            <a:noFill/>
          </a:ln>
        </p:spPr>
      </p:sp>
      <p:sp>
        <p:nvSpPr>
          <p:cNvPr id="21" name="TextBox 21"/>
          <p:cNvSpPr txBox="1"/>
          <p:nvPr/>
        </p:nvSpPr>
        <p:spPr>
          <a:xfrm>
            <a:off x="9838468" y="1905952"/>
            <a:ext cx="782764"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API接口网关</a:t>
            </a:r>
          </a:p>
        </p:txBody>
      </p:sp>
      <p:sp>
        <p:nvSpPr>
          <p:cNvPr id="22" name="TextBox 22"/>
          <p:cNvSpPr txBox="1"/>
          <p:nvPr/>
        </p:nvSpPr>
        <p:spPr>
          <a:xfrm>
            <a:off x="9858375" y="2150745"/>
            <a:ext cx="742950"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对接企业系统</a:t>
            </a:r>
          </a:p>
        </p:txBody>
      </p:sp>
      <p:sp>
        <p:nvSpPr>
          <p:cNvPr id="23" name="Rectangle 23"/>
          <p:cNvSpPr/>
          <p:nvPr/>
        </p:nvSpPr>
        <p:spPr>
          <a:xfrm>
            <a:off x="552450" y="2581275"/>
            <a:ext cx="11087100" cy="838200"/>
          </a:xfrm>
          <a:prstGeom prst="roundRect">
            <a:avLst>
              <a:gd name="adj" fmla="val 3409"/>
            </a:avLst>
          </a:prstGeom>
          <a:solidFill>
            <a:srgbClr val="003A70">
              <a:alpha val="80000"/>
            </a:srgbClr>
          </a:solidFill>
          <a:ln>
            <a:noFill/>
          </a:ln>
        </p:spPr>
      </p:sp>
      <p:sp>
        <p:nvSpPr>
          <p:cNvPr id="24" name="Rectangle 24"/>
          <p:cNvSpPr/>
          <p:nvPr/>
        </p:nvSpPr>
        <p:spPr>
          <a:xfrm>
            <a:off x="552450" y="2581275"/>
            <a:ext cx="1333500" cy="838200"/>
          </a:xfrm>
          <a:prstGeom prst="roundRect">
            <a:avLst>
              <a:gd name="adj" fmla="val 3409"/>
            </a:avLst>
          </a:prstGeom>
          <a:solidFill>
            <a:srgbClr val="003A70">
              <a:alpha val="30000"/>
            </a:srgbClr>
          </a:solidFill>
          <a:ln>
            <a:noFill/>
          </a:ln>
        </p:spPr>
      </p:sp>
      <p:sp>
        <p:nvSpPr>
          <p:cNvPr id="25" name="Line 25"/>
          <p:cNvSpPr/>
          <p:nvPr/>
        </p:nvSpPr>
        <p:spPr>
          <a:xfrm>
            <a:off x="1885950" y="2581275"/>
            <a:ext cx="9525" cy="838200"/>
          </a:xfrm>
          <a:custGeom>
            <a:avLst/>
            <a:gdLst/>
            <a:ahLst/>
            <a:cxnLst/>
            <a:rect l="l" t="t" r="r" b="b"/>
            <a:pathLst>
              <a:path w="9525" h="838200">
                <a:moveTo>
                  <a:pt x="0" y="0"/>
                </a:moveTo>
                <a:lnTo>
                  <a:pt x="0" y="838200"/>
                </a:lnTo>
              </a:path>
            </a:pathLst>
          </a:custGeom>
          <a:noFill/>
          <a:ln w="9525">
            <a:solidFill>
              <a:srgbClr val="FFFFFF">
                <a:alpha val="30000"/>
              </a:srgbClr>
            </a:solidFill>
          </a:ln>
        </p:spPr>
      </p:sp>
      <p:sp>
        <p:nvSpPr>
          <p:cNvPr id="26" name="TextBox 26"/>
          <p:cNvSpPr txBox="1"/>
          <p:nvPr/>
        </p:nvSpPr>
        <p:spPr>
          <a:xfrm>
            <a:off x="968633" y="277415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授权层</a:t>
            </a:r>
          </a:p>
        </p:txBody>
      </p:sp>
      <p:sp>
        <p:nvSpPr>
          <p:cNvPr id="27" name="TextBox 27"/>
          <p:cNvSpPr txBox="1"/>
          <p:nvPr/>
        </p:nvSpPr>
        <p:spPr>
          <a:xfrm>
            <a:off x="1075754" y="3027045"/>
            <a:ext cx="286893"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Auth</a:t>
            </a:r>
          </a:p>
        </p:txBody>
      </p:sp>
      <p:sp>
        <p:nvSpPr>
          <p:cNvPr id="28" name="Rectangle 28"/>
          <p:cNvSpPr/>
          <p:nvPr/>
        </p:nvSpPr>
        <p:spPr>
          <a:xfrm>
            <a:off x="2019300" y="2695575"/>
            <a:ext cx="2571750" cy="609600"/>
          </a:xfrm>
          <a:prstGeom prst="roundRect">
            <a:avLst>
              <a:gd name="adj" fmla="val 3125"/>
            </a:avLst>
          </a:prstGeom>
          <a:solidFill>
            <a:srgbClr val="FFFFFF">
              <a:alpha val="10000"/>
            </a:srgbClr>
          </a:solidFill>
          <a:ln>
            <a:noFill/>
          </a:ln>
        </p:spPr>
      </p:sp>
      <p:sp>
        <p:nvSpPr>
          <p:cNvPr id="29" name="TextBox 29"/>
          <p:cNvSpPr txBox="1"/>
          <p:nvPr/>
        </p:nvSpPr>
        <p:spPr>
          <a:xfrm>
            <a:off x="2871788" y="28203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个人授权管理</a:t>
            </a:r>
          </a:p>
        </p:txBody>
      </p:sp>
      <p:sp>
        <p:nvSpPr>
          <p:cNvPr id="30" name="TextBox 30"/>
          <p:cNvSpPr txBox="1"/>
          <p:nvPr/>
        </p:nvSpPr>
        <p:spPr>
          <a:xfrm>
            <a:off x="2795683" y="3065145"/>
            <a:ext cx="1018984"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签署 / 撤回 / 记录</a:t>
            </a:r>
          </a:p>
        </p:txBody>
      </p:sp>
      <p:sp>
        <p:nvSpPr>
          <p:cNvPr id="31" name="Rectangle 31"/>
          <p:cNvSpPr/>
          <p:nvPr/>
        </p:nvSpPr>
        <p:spPr>
          <a:xfrm>
            <a:off x="4724400" y="2695575"/>
            <a:ext cx="2571750" cy="609600"/>
          </a:xfrm>
          <a:prstGeom prst="roundRect">
            <a:avLst>
              <a:gd name="adj" fmla="val 3125"/>
            </a:avLst>
          </a:prstGeom>
          <a:solidFill>
            <a:srgbClr val="FFFFFF">
              <a:alpha val="10000"/>
            </a:srgbClr>
          </a:solidFill>
          <a:ln>
            <a:noFill/>
          </a:ln>
        </p:spPr>
      </p:sp>
      <p:sp>
        <p:nvSpPr>
          <p:cNvPr id="32" name="TextBox 32"/>
          <p:cNvSpPr txBox="1"/>
          <p:nvPr/>
        </p:nvSpPr>
        <p:spPr>
          <a:xfrm>
            <a:off x="5576888" y="28203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企业委托管理</a:t>
            </a:r>
          </a:p>
        </p:txBody>
      </p:sp>
      <p:sp>
        <p:nvSpPr>
          <p:cNvPr id="33" name="TextBox 33"/>
          <p:cNvSpPr txBox="1"/>
          <p:nvPr/>
        </p:nvSpPr>
        <p:spPr>
          <a:xfrm>
            <a:off x="5449776" y="3065145"/>
            <a:ext cx="1120997"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用途限定 / 期限管理</a:t>
            </a:r>
          </a:p>
        </p:txBody>
      </p:sp>
      <p:sp>
        <p:nvSpPr>
          <p:cNvPr id="34" name="Rectangle 34"/>
          <p:cNvSpPr/>
          <p:nvPr/>
        </p:nvSpPr>
        <p:spPr>
          <a:xfrm>
            <a:off x="7429500" y="2695575"/>
            <a:ext cx="4095750" cy="609600"/>
          </a:xfrm>
          <a:prstGeom prst="roundRect">
            <a:avLst>
              <a:gd name="adj" fmla="val 3125"/>
            </a:avLst>
          </a:prstGeom>
          <a:solidFill>
            <a:srgbClr val="FFFFFF">
              <a:alpha val="10000"/>
            </a:srgbClr>
          </a:solidFill>
          <a:ln>
            <a:noFill/>
          </a:ln>
        </p:spPr>
      </p:sp>
      <p:sp>
        <p:nvSpPr>
          <p:cNvPr id="35" name="TextBox 35"/>
          <p:cNvSpPr txBox="1"/>
          <p:nvPr/>
        </p:nvSpPr>
        <p:spPr>
          <a:xfrm>
            <a:off x="9043988" y="28203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合规审计日志</a:t>
            </a:r>
          </a:p>
        </p:txBody>
      </p:sp>
      <p:sp>
        <p:nvSpPr>
          <p:cNvPr id="36" name="TextBox 36"/>
          <p:cNvSpPr txBox="1"/>
          <p:nvPr/>
        </p:nvSpPr>
        <p:spPr>
          <a:xfrm>
            <a:off x="8676846" y="3065145"/>
            <a:ext cx="1601057"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每次查询留痕 / 标准授权文本</a:t>
            </a:r>
          </a:p>
        </p:txBody>
      </p:sp>
      <p:sp>
        <p:nvSpPr>
          <p:cNvPr id="37" name="Rectangle 37"/>
          <p:cNvSpPr/>
          <p:nvPr/>
        </p:nvSpPr>
        <p:spPr>
          <a:xfrm>
            <a:off x="552450" y="3495675"/>
            <a:ext cx="11087100" cy="838200"/>
          </a:xfrm>
          <a:prstGeom prst="roundRect">
            <a:avLst>
              <a:gd name="adj" fmla="val 3409"/>
            </a:avLst>
          </a:prstGeom>
          <a:solidFill>
            <a:srgbClr val="0077CC"/>
          </a:solidFill>
          <a:ln>
            <a:noFill/>
          </a:ln>
        </p:spPr>
      </p:sp>
      <p:sp>
        <p:nvSpPr>
          <p:cNvPr id="38" name="Rectangle 38"/>
          <p:cNvSpPr/>
          <p:nvPr/>
        </p:nvSpPr>
        <p:spPr>
          <a:xfrm>
            <a:off x="552450" y="3495675"/>
            <a:ext cx="1333500" cy="838200"/>
          </a:xfrm>
          <a:prstGeom prst="roundRect">
            <a:avLst>
              <a:gd name="adj" fmla="val 3409"/>
            </a:avLst>
          </a:prstGeom>
          <a:solidFill>
            <a:srgbClr val="003A70"/>
          </a:solidFill>
          <a:ln>
            <a:noFill/>
          </a:ln>
        </p:spPr>
      </p:sp>
      <p:sp>
        <p:nvSpPr>
          <p:cNvPr id="39" name="Line 39"/>
          <p:cNvSpPr/>
          <p:nvPr/>
        </p:nvSpPr>
        <p:spPr>
          <a:xfrm>
            <a:off x="1885950" y="3495675"/>
            <a:ext cx="9525" cy="838200"/>
          </a:xfrm>
          <a:custGeom>
            <a:avLst/>
            <a:gdLst/>
            <a:ahLst/>
            <a:cxnLst/>
            <a:rect l="l" t="t" r="r" b="b"/>
            <a:pathLst>
              <a:path w="9525" h="838200">
                <a:moveTo>
                  <a:pt x="0" y="0"/>
                </a:moveTo>
                <a:lnTo>
                  <a:pt x="0" y="838200"/>
                </a:lnTo>
              </a:path>
            </a:pathLst>
          </a:custGeom>
          <a:noFill/>
          <a:ln w="9525">
            <a:solidFill>
              <a:srgbClr val="FFFFFF">
                <a:alpha val="30000"/>
              </a:srgbClr>
            </a:solidFill>
          </a:ln>
        </p:spPr>
      </p:sp>
      <p:sp>
        <p:nvSpPr>
          <p:cNvPr id="40" name="TextBox 40"/>
          <p:cNvSpPr txBox="1"/>
          <p:nvPr/>
        </p:nvSpPr>
        <p:spPr>
          <a:xfrm>
            <a:off x="968633" y="368855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核验层</a:t>
            </a:r>
          </a:p>
        </p:txBody>
      </p:sp>
      <p:sp>
        <p:nvSpPr>
          <p:cNvPr id="41" name="TextBox 41"/>
          <p:cNvSpPr txBox="1"/>
          <p:nvPr/>
        </p:nvSpPr>
        <p:spPr>
          <a:xfrm>
            <a:off x="856726" y="3941445"/>
            <a:ext cx="724948"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Verification</a:t>
            </a:r>
          </a:p>
        </p:txBody>
      </p:sp>
      <p:sp>
        <p:nvSpPr>
          <p:cNvPr id="42" name="Rectangle 42"/>
          <p:cNvSpPr/>
          <p:nvPr/>
        </p:nvSpPr>
        <p:spPr>
          <a:xfrm>
            <a:off x="2019300" y="3609975"/>
            <a:ext cx="2171700" cy="609600"/>
          </a:xfrm>
          <a:prstGeom prst="roundRect">
            <a:avLst>
              <a:gd name="adj" fmla="val 3125"/>
            </a:avLst>
          </a:prstGeom>
          <a:solidFill>
            <a:srgbClr val="003A70">
              <a:alpha val="30000"/>
            </a:srgbClr>
          </a:solidFill>
          <a:ln>
            <a:noFill/>
          </a:ln>
        </p:spPr>
      </p:sp>
      <p:sp>
        <p:nvSpPr>
          <p:cNvPr id="43" name="TextBox 43"/>
          <p:cNvSpPr txBox="1"/>
          <p:nvPr/>
        </p:nvSpPr>
        <p:spPr>
          <a:xfrm>
            <a:off x="2671762" y="37347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训考结果核验</a:t>
            </a:r>
          </a:p>
        </p:txBody>
      </p:sp>
      <p:sp>
        <p:nvSpPr>
          <p:cNvPr id="44" name="TextBox 44"/>
          <p:cNvSpPr txBox="1"/>
          <p:nvPr/>
        </p:nvSpPr>
        <p:spPr>
          <a:xfrm>
            <a:off x="2664666" y="3979545"/>
            <a:ext cx="880967"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成绩 / 培训状态</a:t>
            </a:r>
          </a:p>
        </p:txBody>
      </p:sp>
      <p:sp>
        <p:nvSpPr>
          <p:cNvPr id="45" name="Rectangle 45"/>
          <p:cNvSpPr/>
          <p:nvPr/>
        </p:nvSpPr>
        <p:spPr>
          <a:xfrm>
            <a:off x="4324350" y="3609975"/>
            <a:ext cx="2171700" cy="609600"/>
          </a:xfrm>
          <a:prstGeom prst="roundRect">
            <a:avLst>
              <a:gd name="adj" fmla="val 3125"/>
            </a:avLst>
          </a:prstGeom>
          <a:solidFill>
            <a:srgbClr val="003A70">
              <a:alpha val="30000"/>
            </a:srgbClr>
          </a:solidFill>
          <a:ln>
            <a:noFill/>
          </a:ln>
        </p:spPr>
      </p:sp>
      <p:sp>
        <p:nvSpPr>
          <p:cNvPr id="46" name="TextBox 46"/>
          <p:cNvSpPr txBox="1"/>
          <p:nvPr/>
        </p:nvSpPr>
        <p:spPr>
          <a:xfrm>
            <a:off x="4906804" y="3734752"/>
            <a:ext cx="1006792"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证照有效性核验</a:t>
            </a:r>
          </a:p>
        </p:txBody>
      </p:sp>
      <p:sp>
        <p:nvSpPr>
          <p:cNvPr id="47" name="TextBox 47"/>
          <p:cNvSpPr txBox="1"/>
          <p:nvPr/>
        </p:nvSpPr>
        <p:spPr>
          <a:xfrm>
            <a:off x="5038725" y="3979545"/>
            <a:ext cx="742950"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权威渠道接入</a:t>
            </a:r>
          </a:p>
        </p:txBody>
      </p:sp>
      <p:sp>
        <p:nvSpPr>
          <p:cNvPr id="48" name="Rectangle 48"/>
          <p:cNvSpPr/>
          <p:nvPr/>
        </p:nvSpPr>
        <p:spPr>
          <a:xfrm>
            <a:off x="6629400" y="3609975"/>
            <a:ext cx="2171700" cy="609600"/>
          </a:xfrm>
          <a:prstGeom prst="roundRect">
            <a:avLst>
              <a:gd name="adj" fmla="val 3125"/>
            </a:avLst>
          </a:prstGeom>
          <a:solidFill>
            <a:srgbClr val="003A70">
              <a:alpha val="30000"/>
            </a:srgbClr>
          </a:solidFill>
          <a:ln>
            <a:noFill/>
          </a:ln>
        </p:spPr>
      </p:sp>
      <p:sp>
        <p:nvSpPr>
          <p:cNvPr id="49" name="TextBox 49"/>
          <p:cNvSpPr txBox="1"/>
          <p:nvPr/>
        </p:nvSpPr>
        <p:spPr>
          <a:xfrm>
            <a:off x="7281862" y="37347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准入规则引擎</a:t>
            </a:r>
          </a:p>
        </p:txBody>
      </p:sp>
      <p:sp>
        <p:nvSpPr>
          <p:cNvPr id="50" name="TextBox 50"/>
          <p:cNvSpPr txBox="1"/>
          <p:nvPr/>
        </p:nvSpPr>
        <p:spPr>
          <a:xfrm>
            <a:off x="7223760" y="3979545"/>
            <a:ext cx="982980"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多维条件综合判断</a:t>
            </a:r>
          </a:p>
        </p:txBody>
      </p:sp>
      <p:sp>
        <p:nvSpPr>
          <p:cNvPr id="51" name="Rectangle 51"/>
          <p:cNvSpPr/>
          <p:nvPr/>
        </p:nvSpPr>
        <p:spPr>
          <a:xfrm>
            <a:off x="8934450" y="3609975"/>
            <a:ext cx="2590800" cy="609600"/>
          </a:xfrm>
          <a:prstGeom prst="roundRect">
            <a:avLst>
              <a:gd name="adj" fmla="val 3125"/>
            </a:avLst>
          </a:prstGeom>
          <a:solidFill>
            <a:srgbClr val="003A70">
              <a:alpha val="30000"/>
            </a:srgbClr>
          </a:solidFill>
          <a:ln>
            <a:noFill/>
          </a:ln>
        </p:spPr>
      </p:sp>
      <p:sp>
        <p:nvSpPr>
          <p:cNvPr id="52" name="TextBox 52"/>
          <p:cNvSpPr txBox="1"/>
          <p:nvPr/>
        </p:nvSpPr>
        <p:spPr>
          <a:xfrm>
            <a:off x="9796462" y="37347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复训状态管理</a:t>
            </a:r>
          </a:p>
        </p:txBody>
      </p:sp>
      <p:sp>
        <p:nvSpPr>
          <p:cNvPr id="53" name="TextBox 53"/>
          <p:cNvSpPr txBox="1"/>
          <p:nvPr/>
        </p:nvSpPr>
        <p:spPr>
          <a:xfrm>
            <a:off x="9729359" y="3979545"/>
            <a:ext cx="1000982"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有效期 / 到期提醒</a:t>
            </a:r>
          </a:p>
        </p:txBody>
      </p:sp>
      <p:sp>
        <p:nvSpPr>
          <p:cNvPr id="54" name="Rectangle 54"/>
          <p:cNvSpPr/>
          <p:nvPr/>
        </p:nvSpPr>
        <p:spPr>
          <a:xfrm>
            <a:off x="552450" y="4410075"/>
            <a:ext cx="11087100" cy="838200"/>
          </a:xfrm>
          <a:prstGeom prst="roundRect">
            <a:avLst>
              <a:gd name="adj" fmla="val 3409"/>
            </a:avLst>
          </a:prstGeom>
          <a:solidFill>
            <a:srgbClr val="4A90D9"/>
          </a:solidFill>
          <a:ln>
            <a:noFill/>
          </a:ln>
        </p:spPr>
      </p:sp>
      <p:sp>
        <p:nvSpPr>
          <p:cNvPr id="55" name="Rectangle 55"/>
          <p:cNvSpPr/>
          <p:nvPr/>
        </p:nvSpPr>
        <p:spPr>
          <a:xfrm>
            <a:off x="552450" y="4410075"/>
            <a:ext cx="1333500" cy="838200"/>
          </a:xfrm>
          <a:prstGeom prst="roundRect">
            <a:avLst>
              <a:gd name="adj" fmla="val 3409"/>
            </a:avLst>
          </a:prstGeom>
          <a:solidFill>
            <a:srgbClr val="003A70">
              <a:alpha val="40000"/>
            </a:srgbClr>
          </a:solidFill>
          <a:ln>
            <a:noFill/>
          </a:ln>
        </p:spPr>
      </p:sp>
      <p:sp>
        <p:nvSpPr>
          <p:cNvPr id="56" name="Line 56"/>
          <p:cNvSpPr/>
          <p:nvPr/>
        </p:nvSpPr>
        <p:spPr>
          <a:xfrm>
            <a:off x="1885950" y="4410075"/>
            <a:ext cx="9525" cy="838200"/>
          </a:xfrm>
          <a:custGeom>
            <a:avLst/>
            <a:gdLst/>
            <a:ahLst/>
            <a:cxnLst/>
            <a:rect l="l" t="t" r="r" b="b"/>
            <a:pathLst>
              <a:path w="9525" h="838200">
                <a:moveTo>
                  <a:pt x="0" y="0"/>
                </a:moveTo>
                <a:lnTo>
                  <a:pt x="0" y="838200"/>
                </a:lnTo>
              </a:path>
            </a:pathLst>
          </a:custGeom>
          <a:noFill/>
          <a:ln w="9525">
            <a:solidFill>
              <a:srgbClr val="FFFFFF">
                <a:alpha val="30000"/>
              </a:srgbClr>
            </a:solidFill>
          </a:ln>
        </p:spPr>
      </p:sp>
      <p:sp>
        <p:nvSpPr>
          <p:cNvPr id="57" name="TextBox 57"/>
          <p:cNvSpPr txBox="1"/>
          <p:nvPr/>
        </p:nvSpPr>
        <p:spPr>
          <a:xfrm>
            <a:off x="968633" y="460295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输出层</a:t>
            </a:r>
          </a:p>
        </p:txBody>
      </p:sp>
      <p:sp>
        <p:nvSpPr>
          <p:cNvPr id="58" name="TextBox 58"/>
          <p:cNvSpPr txBox="1"/>
          <p:nvPr/>
        </p:nvSpPr>
        <p:spPr>
          <a:xfrm>
            <a:off x="997744" y="4855845"/>
            <a:ext cx="442913"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Output</a:t>
            </a:r>
          </a:p>
        </p:txBody>
      </p:sp>
      <p:sp>
        <p:nvSpPr>
          <p:cNvPr id="59" name="Rectangle 59"/>
          <p:cNvSpPr/>
          <p:nvPr/>
        </p:nvSpPr>
        <p:spPr>
          <a:xfrm>
            <a:off x="2019300" y="4524375"/>
            <a:ext cx="2171700" cy="609600"/>
          </a:xfrm>
          <a:prstGeom prst="roundRect">
            <a:avLst>
              <a:gd name="adj" fmla="val 3125"/>
            </a:avLst>
          </a:prstGeom>
          <a:solidFill>
            <a:srgbClr val="FFFFFF">
              <a:alpha val="12000"/>
            </a:srgbClr>
          </a:solidFill>
          <a:ln>
            <a:noFill/>
          </a:ln>
        </p:spPr>
      </p:sp>
      <p:sp>
        <p:nvSpPr>
          <p:cNvPr id="60" name="TextBox 60"/>
          <p:cNvSpPr txBox="1"/>
          <p:nvPr/>
        </p:nvSpPr>
        <p:spPr>
          <a:xfrm>
            <a:off x="2671762" y="46491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个人核验报告</a:t>
            </a:r>
          </a:p>
        </p:txBody>
      </p:sp>
      <p:sp>
        <p:nvSpPr>
          <p:cNvPr id="61" name="TextBox 61"/>
          <p:cNvSpPr txBox="1"/>
          <p:nvPr/>
        </p:nvSpPr>
        <p:spPr>
          <a:xfrm>
            <a:off x="2685669" y="4893945"/>
            <a:ext cx="838962"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PDF / 接口返回</a:t>
            </a:r>
          </a:p>
        </p:txBody>
      </p:sp>
      <p:sp>
        <p:nvSpPr>
          <p:cNvPr id="62" name="Rectangle 62"/>
          <p:cNvSpPr/>
          <p:nvPr/>
        </p:nvSpPr>
        <p:spPr>
          <a:xfrm>
            <a:off x="4324350" y="4524375"/>
            <a:ext cx="2171700" cy="609600"/>
          </a:xfrm>
          <a:prstGeom prst="roundRect">
            <a:avLst>
              <a:gd name="adj" fmla="val 3125"/>
            </a:avLst>
          </a:prstGeom>
          <a:solidFill>
            <a:srgbClr val="FFFFFF">
              <a:alpha val="12000"/>
            </a:srgbClr>
          </a:solidFill>
          <a:ln>
            <a:noFill/>
          </a:ln>
        </p:spPr>
      </p:sp>
      <p:sp>
        <p:nvSpPr>
          <p:cNvPr id="63" name="TextBox 63"/>
          <p:cNvSpPr txBox="1"/>
          <p:nvPr/>
        </p:nvSpPr>
        <p:spPr>
          <a:xfrm>
            <a:off x="4906804" y="4649152"/>
            <a:ext cx="1006792"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项目通过率看板</a:t>
            </a:r>
          </a:p>
        </p:txBody>
      </p:sp>
      <p:sp>
        <p:nvSpPr>
          <p:cNvPr id="64" name="TextBox 64"/>
          <p:cNvSpPr txBox="1"/>
          <p:nvPr/>
        </p:nvSpPr>
        <p:spPr>
          <a:xfrm>
            <a:off x="5098732" y="4893945"/>
            <a:ext cx="622935"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管理驾驶舱</a:t>
            </a:r>
          </a:p>
        </p:txBody>
      </p:sp>
      <p:sp>
        <p:nvSpPr>
          <p:cNvPr id="65" name="Rectangle 65"/>
          <p:cNvSpPr/>
          <p:nvPr/>
        </p:nvSpPr>
        <p:spPr>
          <a:xfrm>
            <a:off x="6629400" y="4524375"/>
            <a:ext cx="2171700" cy="609600"/>
          </a:xfrm>
          <a:prstGeom prst="roundRect">
            <a:avLst>
              <a:gd name="adj" fmla="val 3125"/>
            </a:avLst>
          </a:prstGeom>
          <a:solidFill>
            <a:srgbClr val="FFFFFF">
              <a:alpha val="12000"/>
            </a:srgbClr>
          </a:solidFill>
          <a:ln>
            <a:noFill/>
          </a:ln>
        </p:spPr>
      </p:sp>
      <p:sp>
        <p:nvSpPr>
          <p:cNvPr id="66" name="TextBox 66"/>
          <p:cNvSpPr txBox="1"/>
          <p:nvPr/>
        </p:nvSpPr>
        <p:spPr>
          <a:xfrm>
            <a:off x="7281862" y="46491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异常清单告警</a:t>
            </a:r>
          </a:p>
        </p:txBody>
      </p:sp>
      <p:sp>
        <p:nvSpPr>
          <p:cNvPr id="67" name="TextBox 67"/>
          <p:cNvSpPr txBox="1"/>
          <p:nvPr/>
        </p:nvSpPr>
        <p:spPr>
          <a:xfrm>
            <a:off x="7214759" y="4893945"/>
            <a:ext cx="1000982"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不合格 / 整改追踪</a:t>
            </a:r>
          </a:p>
        </p:txBody>
      </p:sp>
      <p:sp>
        <p:nvSpPr>
          <p:cNvPr id="68" name="Rectangle 68"/>
          <p:cNvSpPr/>
          <p:nvPr/>
        </p:nvSpPr>
        <p:spPr>
          <a:xfrm>
            <a:off x="8934450" y="4524375"/>
            <a:ext cx="2590800" cy="609600"/>
          </a:xfrm>
          <a:prstGeom prst="roundRect">
            <a:avLst>
              <a:gd name="adj" fmla="val 3125"/>
            </a:avLst>
          </a:prstGeom>
          <a:solidFill>
            <a:srgbClr val="FFFFFF">
              <a:alpha val="12000"/>
            </a:srgbClr>
          </a:solidFill>
          <a:ln>
            <a:noFill/>
          </a:ln>
        </p:spPr>
      </p:sp>
      <p:sp>
        <p:nvSpPr>
          <p:cNvPr id="69" name="TextBox 69"/>
          <p:cNvSpPr txBox="1"/>
          <p:nvPr/>
        </p:nvSpPr>
        <p:spPr>
          <a:xfrm>
            <a:off x="9796462" y="4649152"/>
            <a:ext cx="866775" cy="213360"/>
          </a:xfrm>
          <a:prstGeom prst="rect">
            <a:avLst/>
          </a:prstGeom>
          <a:noFill/>
          <a:ln>
            <a:noFill/>
          </a:ln>
        </p:spPr>
        <p:txBody>
          <a:bodyPr wrap="none" lIns="0" tIns="0" rIns="0" bIns="0" anchor="t" anchorCtr="0">
            <a:spAutoFit/>
          </a:bodyPr>
          <a:lstStyle/>
          <a:p>
            <a:pPr algn="ctr"/>
            <a:r>
              <a:rPr lang="zh-CN" sz="1050" dirty="0">
                <a:solidFill>
                  <a:srgbClr val="FFFFFF"/>
                </a:solidFill>
                <a:latin typeface="Arial"/>
                <a:ea typeface="Microsoft YaHei"/>
                <a:cs typeface="Arial"/>
              </a:rPr>
              <a:t>审计台账导出</a:t>
            </a:r>
          </a:p>
        </p:txBody>
      </p:sp>
      <p:sp>
        <p:nvSpPr>
          <p:cNvPr id="70" name="TextBox 70"/>
          <p:cNvSpPr txBox="1"/>
          <p:nvPr/>
        </p:nvSpPr>
        <p:spPr>
          <a:xfrm>
            <a:off x="9978390" y="4893945"/>
            <a:ext cx="502920"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合规存档</a:t>
            </a:r>
          </a:p>
        </p:txBody>
      </p:sp>
      <p:sp>
        <p:nvSpPr>
          <p:cNvPr id="71" name="Rectangle 71"/>
          <p:cNvSpPr/>
          <p:nvPr/>
        </p:nvSpPr>
        <p:spPr>
          <a:xfrm>
            <a:off x="552450" y="5324475"/>
            <a:ext cx="11087100" cy="838200"/>
          </a:xfrm>
          <a:prstGeom prst="roundRect">
            <a:avLst>
              <a:gd name="adj" fmla="val 3409"/>
            </a:avLst>
          </a:prstGeom>
          <a:solidFill>
            <a:srgbClr val="1A1A2E"/>
          </a:solidFill>
          <a:ln>
            <a:noFill/>
          </a:ln>
        </p:spPr>
      </p:sp>
      <p:sp>
        <p:nvSpPr>
          <p:cNvPr id="72" name="Rectangle 72"/>
          <p:cNvSpPr/>
          <p:nvPr/>
        </p:nvSpPr>
        <p:spPr>
          <a:xfrm>
            <a:off x="552450" y="5324475"/>
            <a:ext cx="1333500" cy="838200"/>
          </a:xfrm>
          <a:prstGeom prst="roundRect">
            <a:avLst>
              <a:gd name="adj" fmla="val 3409"/>
            </a:avLst>
          </a:prstGeom>
          <a:solidFill>
            <a:srgbClr val="003A70">
              <a:alpha val="50000"/>
            </a:srgbClr>
          </a:solidFill>
          <a:ln>
            <a:noFill/>
          </a:ln>
        </p:spPr>
      </p:sp>
      <p:sp>
        <p:nvSpPr>
          <p:cNvPr id="73" name="Line 73"/>
          <p:cNvSpPr/>
          <p:nvPr/>
        </p:nvSpPr>
        <p:spPr>
          <a:xfrm>
            <a:off x="1885950" y="5324475"/>
            <a:ext cx="9525" cy="838200"/>
          </a:xfrm>
          <a:custGeom>
            <a:avLst/>
            <a:gdLst/>
            <a:ahLst/>
            <a:cxnLst/>
            <a:rect l="l" t="t" r="r" b="b"/>
            <a:pathLst>
              <a:path w="9525" h="838200">
                <a:moveTo>
                  <a:pt x="0" y="0"/>
                </a:moveTo>
                <a:lnTo>
                  <a:pt x="0" y="838200"/>
                </a:lnTo>
              </a:path>
            </a:pathLst>
          </a:custGeom>
          <a:noFill/>
          <a:ln w="9525">
            <a:solidFill>
              <a:srgbClr val="FFFFFF">
                <a:alpha val="30000"/>
              </a:srgbClr>
            </a:solidFill>
          </a:ln>
        </p:spPr>
      </p:sp>
      <p:sp>
        <p:nvSpPr>
          <p:cNvPr id="74" name="TextBox 74"/>
          <p:cNvSpPr txBox="1"/>
          <p:nvPr/>
        </p:nvSpPr>
        <p:spPr>
          <a:xfrm>
            <a:off x="968633" y="5517356"/>
            <a:ext cx="50113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安全层</a:t>
            </a:r>
          </a:p>
        </p:txBody>
      </p:sp>
      <p:sp>
        <p:nvSpPr>
          <p:cNvPr id="75" name="TextBox 75"/>
          <p:cNvSpPr txBox="1"/>
          <p:nvPr/>
        </p:nvSpPr>
        <p:spPr>
          <a:xfrm>
            <a:off x="958739" y="5770245"/>
            <a:ext cx="520922"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Security</a:t>
            </a:r>
          </a:p>
        </p:txBody>
      </p:sp>
      <p:sp>
        <p:nvSpPr>
          <p:cNvPr id="76" name="Rectangle 76"/>
          <p:cNvSpPr/>
          <p:nvPr/>
        </p:nvSpPr>
        <p:spPr>
          <a:xfrm>
            <a:off x="2019300" y="5438775"/>
            <a:ext cx="1666875" cy="609600"/>
          </a:xfrm>
          <a:prstGeom prst="roundRect">
            <a:avLst>
              <a:gd name="adj" fmla="val 3125"/>
            </a:avLst>
          </a:prstGeom>
          <a:solidFill>
            <a:srgbClr val="FFFFFF">
              <a:alpha val="7000"/>
            </a:srgbClr>
          </a:solidFill>
          <a:ln>
            <a:noFill/>
          </a:ln>
        </p:spPr>
      </p:sp>
      <p:sp>
        <p:nvSpPr>
          <p:cNvPr id="77" name="TextBox 77"/>
          <p:cNvSpPr txBox="1"/>
          <p:nvPr/>
        </p:nvSpPr>
        <p:spPr>
          <a:xfrm>
            <a:off x="2575560" y="5571649"/>
            <a:ext cx="544830"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身份认证</a:t>
            </a:r>
          </a:p>
        </p:txBody>
      </p:sp>
      <p:sp>
        <p:nvSpPr>
          <p:cNvPr id="78" name="TextBox 78"/>
          <p:cNvSpPr txBox="1"/>
          <p:nvPr/>
        </p:nvSpPr>
        <p:spPr>
          <a:xfrm>
            <a:off x="2596515" y="5808345"/>
            <a:ext cx="50292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权限控制</a:t>
            </a:r>
          </a:p>
        </p:txBody>
      </p:sp>
      <p:sp>
        <p:nvSpPr>
          <p:cNvPr id="79" name="Rectangle 79"/>
          <p:cNvSpPr/>
          <p:nvPr/>
        </p:nvSpPr>
        <p:spPr>
          <a:xfrm>
            <a:off x="3810000" y="5438775"/>
            <a:ext cx="1666875" cy="609600"/>
          </a:xfrm>
          <a:prstGeom prst="roundRect">
            <a:avLst>
              <a:gd name="adj" fmla="val 3125"/>
            </a:avLst>
          </a:prstGeom>
          <a:solidFill>
            <a:srgbClr val="FFFFFF">
              <a:alpha val="7000"/>
            </a:srgbClr>
          </a:solidFill>
          <a:ln>
            <a:noFill/>
          </a:ln>
        </p:spPr>
      </p:sp>
      <p:sp>
        <p:nvSpPr>
          <p:cNvPr id="80" name="TextBox 80"/>
          <p:cNvSpPr txBox="1"/>
          <p:nvPr/>
        </p:nvSpPr>
        <p:spPr>
          <a:xfrm>
            <a:off x="4366260" y="5571649"/>
            <a:ext cx="544830"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数据脱敏</a:t>
            </a:r>
          </a:p>
        </p:txBody>
      </p:sp>
      <p:sp>
        <p:nvSpPr>
          <p:cNvPr id="81" name="TextBox 81"/>
          <p:cNvSpPr txBox="1"/>
          <p:nvPr/>
        </p:nvSpPr>
        <p:spPr>
          <a:xfrm>
            <a:off x="4387215" y="5808345"/>
            <a:ext cx="50292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分级保护</a:t>
            </a:r>
          </a:p>
        </p:txBody>
      </p:sp>
      <p:sp>
        <p:nvSpPr>
          <p:cNvPr id="82" name="Rectangle 82"/>
          <p:cNvSpPr/>
          <p:nvPr/>
        </p:nvSpPr>
        <p:spPr>
          <a:xfrm>
            <a:off x="5600700" y="5438775"/>
            <a:ext cx="1666875" cy="609600"/>
          </a:xfrm>
          <a:prstGeom prst="roundRect">
            <a:avLst>
              <a:gd name="adj" fmla="val 3125"/>
            </a:avLst>
          </a:prstGeom>
          <a:solidFill>
            <a:srgbClr val="FFFFFF">
              <a:alpha val="7000"/>
            </a:srgbClr>
          </a:solidFill>
          <a:ln>
            <a:noFill/>
          </a:ln>
        </p:spPr>
      </p:sp>
      <p:sp>
        <p:nvSpPr>
          <p:cNvPr id="83" name="TextBox 83"/>
          <p:cNvSpPr txBox="1"/>
          <p:nvPr/>
        </p:nvSpPr>
        <p:spPr>
          <a:xfrm>
            <a:off x="6156960" y="5571649"/>
            <a:ext cx="544830"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操作审计</a:t>
            </a:r>
          </a:p>
        </p:txBody>
      </p:sp>
      <p:sp>
        <p:nvSpPr>
          <p:cNvPr id="84" name="TextBox 84"/>
          <p:cNvSpPr txBox="1"/>
          <p:nvPr/>
        </p:nvSpPr>
        <p:spPr>
          <a:xfrm>
            <a:off x="6117908" y="5808345"/>
            <a:ext cx="622935"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日志全记录</a:t>
            </a:r>
          </a:p>
        </p:txBody>
      </p:sp>
      <p:sp>
        <p:nvSpPr>
          <p:cNvPr id="85" name="Rectangle 85"/>
          <p:cNvSpPr/>
          <p:nvPr/>
        </p:nvSpPr>
        <p:spPr>
          <a:xfrm>
            <a:off x="7391400" y="5438775"/>
            <a:ext cx="1666875" cy="609600"/>
          </a:xfrm>
          <a:prstGeom prst="roundRect">
            <a:avLst>
              <a:gd name="adj" fmla="val 3125"/>
            </a:avLst>
          </a:prstGeom>
          <a:solidFill>
            <a:srgbClr val="FFFFFF">
              <a:alpha val="7000"/>
            </a:srgbClr>
          </a:solidFill>
          <a:ln>
            <a:noFill/>
          </a:ln>
        </p:spPr>
      </p:sp>
      <p:sp>
        <p:nvSpPr>
          <p:cNvPr id="86" name="TextBox 86"/>
          <p:cNvSpPr txBox="1"/>
          <p:nvPr/>
        </p:nvSpPr>
        <p:spPr>
          <a:xfrm>
            <a:off x="7947660" y="5571649"/>
            <a:ext cx="544830"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异常监测</a:t>
            </a:r>
          </a:p>
        </p:txBody>
      </p:sp>
      <p:sp>
        <p:nvSpPr>
          <p:cNvPr id="87" name="TextBox 87"/>
          <p:cNvSpPr txBox="1"/>
          <p:nvPr/>
        </p:nvSpPr>
        <p:spPr>
          <a:xfrm>
            <a:off x="7968615" y="5808345"/>
            <a:ext cx="50292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实时告警</a:t>
            </a:r>
          </a:p>
        </p:txBody>
      </p:sp>
      <p:sp>
        <p:nvSpPr>
          <p:cNvPr id="88" name="Rectangle 88"/>
          <p:cNvSpPr/>
          <p:nvPr/>
        </p:nvSpPr>
        <p:spPr>
          <a:xfrm>
            <a:off x="9182100" y="5438775"/>
            <a:ext cx="2343150" cy="609600"/>
          </a:xfrm>
          <a:prstGeom prst="roundRect">
            <a:avLst>
              <a:gd name="adj" fmla="val 3125"/>
            </a:avLst>
          </a:prstGeom>
          <a:solidFill>
            <a:srgbClr val="FFFFFF">
              <a:alpha val="7000"/>
            </a:srgbClr>
          </a:solidFill>
          <a:ln>
            <a:noFill/>
          </a:ln>
        </p:spPr>
      </p:sp>
      <p:sp>
        <p:nvSpPr>
          <p:cNvPr id="89" name="TextBox 89"/>
          <p:cNvSpPr txBox="1"/>
          <p:nvPr/>
        </p:nvSpPr>
        <p:spPr>
          <a:xfrm>
            <a:off x="9821228" y="5571649"/>
            <a:ext cx="1064895"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数据生命周期管理</a:t>
            </a:r>
          </a:p>
        </p:txBody>
      </p:sp>
      <p:sp>
        <p:nvSpPr>
          <p:cNvPr id="90" name="TextBox 90"/>
          <p:cNvSpPr txBox="1"/>
          <p:nvPr/>
        </p:nvSpPr>
        <p:spPr>
          <a:xfrm>
            <a:off x="9982200" y="5808345"/>
            <a:ext cx="74295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留存销毁合规</a:t>
            </a:r>
          </a:p>
        </p:txBody>
      </p:sp>
      <p:sp>
        <p:nvSpPr>
          <p:cNvPr id="91" name="TextBox 91"/>
          <p:cNvSpPr txBox="1"/>
          <p:nvPr/>
        </p:nvSpPr>
        <p:spPr>
          <a:xfrm>
            <a:off x="3897297" y="6303645"/>
            <a:ext cx="4397407"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核心自建：授权层 + 核验层 · 轻量集成：接入层通用考试能力 + 证照查验权威渠道</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第三章 · 技术与业务实现</a:t>
            </a:r>
          </a:p>
        </p:txBody>
      </p:sp>
      <p:sp>
        <p:nvSpPr>
          <p:cNvPr id="4" name="TextBox 4"/>
          <p:cNvSpPr txBox="1"/>
          <p:nvPr/>
        </p:nvSpPr>
        <p:spPr>
          <a:xfrm>
            <a:off x="525780" y="1183005"/>
            <a:ext cx="6522149"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数据字段设计：最小必要原则，七类数据严格管控</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00200"/>
            <a:ext cx="11087100" cy="266700"/>
          </a:xfrm>
          <a:prstGeom prst="rect">
            <a:avLst/>
          </a:prstGeom>
          <a:solidFill>
            <a:srgbClr val="003A70">
              <a:alpha val="5000"/>
            </a:srgbClr>
          </a:solidFill>
          <a:ln>
            <a:noFill/>
          </a:ln>
        </p:spPr>
      </p:sp>
      <p:sp>
        <p:nvSpPr>
          <p:cNvPr id="7" name="TextBox 7"/>
          <p:cNvSpPr txBox="1"/>
          <p:nvPr/>
        </p:nvSpPr>
        <p:spPr>
          <a:xfrm>
            <a:off x="3530846" y="1667828"/>
            <a:ext cx="5130308" cy="213360"/>
          </a:xfrm>
          <a:prstGeom prst="rect">
            <a:avLst/>
          </a:prstGeom>
          <a:noFill/>
          <a:ln>
            <a:noFill/>
          </a:ln>
        </p:spPr>
        <p:txBody>
          <a:bodyPr wrap="none" lIns="0" tIns="0" rIns="0" bIns="0" anchor="t" anchorCtr="0">
            <a:spAutoFit/>
          </a:bodyPr>
          <a:lstStyle/>
          <a:p>
            <a:pPr algn="ctr"/>
            <a:r>
              <a:rPr lang="zh-CN" sz="1050" dirty="0">
                <a:solidFill>
                  <a:srgbClr val="003A70"/>
                </a:solidFill>
                <a:latin typeface="Arial"/>
                <a:ea typeface="Microsoft YaHei"/>
                <a:cs typeface="Arial"/>
              </a:rPr>
              <a:t>核心原则：最小必要 · 敏感字段脱敏分级 · 结果输出而非明细开放 · 全程授权留痕</a:t>
            </a:r>
          </a:p>
        </p:txBody>
      </p:sp>
      <p:sp>
        <p:nvSpPr>
          <p:cNvPr id="8" name="Rectangle 8"/>
          <p:cNvSpPr/>
          <p:nvPr/>
        </p:nvSpPr>
        <p:spPr>
          <a:xfrm>
            <a:off x="552450" y="1866900"/>
            <a:ext cx="11087100" cy="323850"/>
          </a:xfrm>
          <a:prstGeom prst="rect">
            <a:avLst/>
          </a:prstGeom>
          <a:solidFill>
            <a:srgbClr val="003A70"/>
          </a:solidFill>
          <a:ln>
            <a:noFill/>
          </a:ln>
        </p:spPr>
      </p:sp>
      <p:sp>
        <p:nvSpPr>
          <p:cNvPr id="9" name="TextBox 9"/>
          <p:cNvSpPr txBox="1"/>
          <p:nvPr/>
        </p:nvSpPr>
        <p:spPr>
          <a:xfrm>
            <a:off x="113061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数据类别</a:t>
            </a:r>
          </a:p>
        </p:txBody>
      </p:sp>
      <p:sp>
        <p:nvSpPr>
          <p:cNvPr id="10" name="TextBox 10"/>
          <p:cNvSpPr txBox="1"/>
          <p:nvPr/>
        </p:nvSpPr>
        <p:spPr>
          <a:xfrm>
            <a:off x="2940368" y="1971199"/>
            <a:ext cx="1116902"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核心字段（示例）</a:t>
            </a:r>
          </a:p>
        </p:txBody>
      </p:sp>
      <p:sp>
        <p:nvSpPr>
          <p:cNvPr id="11" name="TextBox 11"/>
          <p:cNvSpPr txBox="1"/>
          <p:nvPr/>
        </p:nvSpPr>
        <p:spPr>
          <a:xfrm>
            <a:off x="684561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使用目的</a:t>
            </a:r>
          </a:p>
        </p:txBody>
      </p:sp>
      <p:sp>
        <p:nvSpPr>
          <p:cNvPr id="12" name="TextBox 12"/>
          <p:cNvSpPr txBox="1"/>
          <p:nvPr/>
        </p:nvSpPr>
        <p:spPr>
          <a:xfrm>
            <a:off x="9607868" y="1971199"/>
            <a:ext cx="570833"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SimHei"/>
                <a:cs typeface="Arial"/>
              </a:rPr>
              <a:t>输出方式</a:t>
            </a:r>
          </a:p>
        </p:txBody>
      </p:sp>
      <p:sp>
        <p:nvSpPr>
          <p:cNvPr id="13" name="Line 13"/>
          <p:cNvSpPr/>
          <p:nvPr/>
        </p:nvSpPr>
        <p:spPr>
          <a:xfrm>
            <a:off x="2362200" y="1866900"/>
            <a:ext cx="9525" cy="4419600"/>
          </a:xfrm>
          <a:custGeom>
            <a:avLst/>
            <a:gdLst/>
            <a:ahLst/>
            <a:cxnLst/>
            <a:rect l="l" t="t" r="r" b="b"/>
            <a:pathLst>
              <a:path w="9525" h="4419600">
                <a:moveTo>
                  <a:pt x="0" y="0"/>
                </a:moveTo>
                <a:lnTo>
                  <a:pt x="0" y="4419600"/>
                </a:lnTo>
              </a:path>
            </a:pathLst>
          </a:custGeom>
          <a:noFill/>
          <a:ln w="7620">
            <a:solidFill>
              <a:srgbClr val="FFFFFF">
                <a:alpha val="40000"/>
              </a:srgbClr>
            </a:solidFill>
          </a:ln>
        </p:spPr>
      </p:sp>
      <p:sp>
        <p:nvSpPr>
          <p:cNvPr id="14" name="Line 14"/>
          <p:cNvSpPr/>
          <p:nvPr/>
        </p:nvSpPr>
        <p:spPr>
          <a:xfrm>
            <a:off x="6572250" y="1866900"/>
            <a:ext cx="9525" cy="4419600"/>
          </a:xfrm>
          <a:custGeom>
            <a:avLst/>
            <a:gdLst/>
            <a:ahLst/>
            <a:cxnLst/>
            <a:rect l="l" t="t" r="r" b="b"/>
            <a:pathLst>
              <a:path w="9525" h="4419600">
                <a:moveTo>
                  <a:pt x="0" y="0"/>
                </a:moveTo>
                <a:lnTo>
                  <a:pt x="0" y="4419600"/>
                </a:lnTo>
              </a:path>
            </a:pathLst>
          </a:custGeom>
          <a:noFill/>
          <a:ln w="7620">
            <a:solidFill>
              <a:srgbClr val="FFFFFF">
                <a:alpha val="40000"/>
              </a:srgbClr>
            </a:solidFill>
          </a:ln>
        </p:spPr>
      </p:sp>
      <p:sp>
        <p:nvSpPr>
          <p:cNvPr id="15" name="Line 15"/>
          <p:cNvSpPr/>
          <p:nvPr/>
        </p:nvSpPr>
        <p:spPr>
          <a:xfrm>
            <a:off x="9334500" y="1866900"/>
            <a:ext cx="9525" cy="4419600"/>
          </a:xfrm>
          <a:custGeom>
            <a:avLst/>
            <a:gdLst/>
            <a:ahLst/>
            <a:cxnLst/>
            <a:rect l="l" t="t" r="r" b="b"/>
            <a:pathLst>
              <a:path w="9525" h="4419600">
                <a:moveTo>
                  <a:pt x="0" y="0"/>
                </a:moveTo>
                <a:lnTo>
                  <a:pt x="0" y="4419600"/>
                </a:lnTo>
              </a:path>
            </a:pathLst>
          </a:custGeom>
          <a:noFill/>
          <a:ln w="7620">
            <a:solidFill>
              <a:srgbClr val="FFFFFF">
                <a:alpha val="40000"/>
              </a:srgbClr>
            </a:solidFill>
          </a:ln>
        </p:spPr>
      </p:sp>
      <p:sp>
        <p:nvSpPr>
          <p:cNvPr id="16" name="Rectangle 16"/>
          <p:cNvSpPr/>
          <p:nvPr/>
        </p:nvSpPr>
        <p:spPr>
          <a:xfrm>
            <a:off x="552450" y="2190750"/>
            <a:ext cx="11087100" cy="571500"/>
          </a:xfrm>
          <a:prstGeom prst="rect">
            <a:avLst/>
          </a:prstGeom>
          <a:solidFill>
            <a:srgbClr val="F0F4F8"/>
          </a:solidFill>
          <a:ln>
            <a:noFill/>
          </a:ln>
        </p:spPr>
      </p:sp>
      <p:sp>
        <p:nvSpPr>
          <p:cNvPr id="17" name="TextBox 17"/>
          <p:cNvSpPr txBox="1"/>
          <p:nvPr/>
        </p:nvSpPr>
        <p:spPr>
          <a:xfrm>
            <a:off x="709612" y="2326481"/>
            <a:ext cx="658654" cy="228600"/>
          </a:xfrm>
          <a:prstGeom prst="rect">
            <a:avLst/>
          </a:prstGeom>
          <a:noFill/>
          <a:ln>
            <a:noFill/>
          </a:ln>
        </p:spPr>
        <p:txBody>
          <a:bodyPr wrap="none" lIns="0" tIns="0" rIns="0" bIns="0" anchor="t" anchorCtr="0">
            <a:spAutoFit/>
          </a:bodyPr>
          <a:lstStyle/>
          <a:p>
            <a:pPr algn="l"/>
            <a:r>
              <a:rPr lang="zh-CN" sz="1125" b="1" dirty="0">
                <a:solidFill>
                  <a:srgbClr val="003A70"/>
                </a:solidFill>
                <a:latin typeface="Arial"/>
                <a:ea typeface="SimHei"/>
                <a:cs typeface="Arial"/>
              </a:rPr>
              <a:t>项目数据</a:t>
            </a:r>
          </a:p>
        </p:txBody>
      </p:sp>
      <p:sp>
        <p:nvSpPr>
          <p:cNvPr id="18" name="TextBox 18"/>
          <p:cNvSpPr txBox="1"/>
          <p:nvPr/>
        </p:nvSpPr>
        <p:spPr>
          <a:xfrm>
            <a:off x="712470" y="25507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企业归属</a:t>
            </a:r>
          </a:p>
        </p:txBody>
      </p:sp>
      <p:sp>
        <p:nvSpPr>
          <p:cNvPr id="19" name="TextBox 19"/>
          <p:cNvSpPr txBox="1"/>
          <p:nvPr/>
        </p:nvSpPr>
        <p:spPr>
          <a:xfrm>
            <a:off x="2520315" y="2334578"/>
            <a:ext cx="212693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项目名称、项目类型、用工单位、</a:t>
            </a:r>
          </a:p>
        </p:txBody>
      </p:sp>
      <p:sp>
        <p:nvSpPr>
          <p:cNvPr id="20" name="TextBox 20"/>
          <p:cNvSpPr txBox="1"/>
          <p:nvPr/>
        </p:nvSpPr>
        <p:spPr>
          <a:xfrm>
            <a:off x="2520315" y="2534602"/>
            <a:ext cx="210593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承包商名称、准入规则ID、有效期</a:t>
            </a:r>
          </a:p>
        </p:txBody>
      </p:sp>
      <p:sp>
        <p:nvSpPr>
          <p:cNvPr id="21" name="TextBox 21"/>
          <p:cNvSpPr txBox="1"/>
          <p:nvPr/>
        </p:nvSpPr>
        <p:spPr>
          <a:xfrm>
            <a:off x="6711315" y="2334578"/>
            <a:ext cx="1846898"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核验场景定义、规则版本管理</a:t>
            </a:r>
          </a:p>
        </p:txBody>
      </p:sp>
      <p:sp>
        <p:nvSpPr>
          <p:cNvPr id="22" name="TextBox 22"/>
          <p:cNvSpPr txBox="1"/>
          <p:nvPr/>
        </p:nvSpPr>
        <p:spPr>
          <a:xfrm>
            <a:off x="9473565" y="2334578"/>
            <a:ext cx="86677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企业内部可见</a:t>
            </a:r>
          </a:p>
        </p:txBody>
      </p:sp>
      <p:sp>
        <p:nvSpPr>
          <p:cNvPr id="23" name="Line 23"/>
          <p:cNvSpPr/>
          <p:nvPr/>
        </p:nvSpPr>
        <p:spPr>
          <a:xfrm>
            <a:off x="552450" y="27622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24" name="Rectangle 24"/>
          <p:cNvSpPr/>
          <p:nvPr/>
        </p:nvSpPr>
        <p:spPr>
          <a:xfrm>
            <a:off x="552450" y="2762250"/>
            <a:ext cx="11087100" cy="571500"/>
          </a:xfrm>
          <a:prstGeom prst="rect">
            <a:avLst/>
          </a:prstGeom>
          <a:solidFill>
            <a:srgbClr val="FFFFFF"/>
          </a:solidFill>
          <a:ln>
            <a:noFill/>
          </a:ln>
        </p:spPr>
      </p:sp>
      <p:sp>
        <p:nvSpPr>
          <p:cNvPr id="25" name="Rectangle 25"/>
          <p:cNvSpPr/>
          <p:nvPr/>
        </p:nvSpPr>
        <p:spPr>
          <a:xfrm>
            <a:off x="552450" y="2762250"/>
            <a:ext cx="47625" cy="571500"/>
          </a:xfrm>
          <a:prstGeom prst="rect">
            <a:avLst/>
          </a:prstGeom>
          <a:solidFill>
            <a:srgbClr val="C53030"/>
          </a:solidFill>
          <a:ln>
            <a:noFill/>
          </a:ln>
        </p:spPr>
      </p:sp>
      <p:sp>
        <p:nvSpPr>
          <p:cNvPr id="26" name="TextBox 26"/>
          <p:cNvSpPr txBox="1"/>
          <p:nvPr/>
        </p:nvSpPr>
        <p:spPr>
          <a:xfrm>
            <a:off x="709612" y="2897981"/>
            <a:ext cx="973693" cy="228600"/>
          </a:xfrm>
          <a:prstGeom prst="rect">
            <a:avLst/>
          </a:prstGeom>
          <a:noFill/>
          <a:ln>
            <a:noFill/>
          </a:ln>
        </p:spPr>
        <p:txBody>
          <a:bodyPr wrap="none" lIns="0" tIns="0" rIns="0" bIns="0" anchor="t" anchorCtr="0">
            <a:spAutoFit/>
          </a:bodyPr>
          <a:lstStyle/>
          <a:p>
            <a:pPr algn="l"/>
            <a:r>
              <a:rPr lang="zh-CN" sz="1125" b="1" dirty="0">
                <a:solidFill>
                  <a:srgbClr val="C53030"/>
                </a:solidFill>
                <a:latin typeface="Arial"/>
                <a:ea typeface="SimHei"/>
                <a:cs typeface="Arial"/>
              </a:rPr>
              <a:t>人员基础数据</a:t>
            </a:r>
          </a:p>
        </p:txBody>
      </p:sp>
      <p:sp>
        <p:nvSpPr>
          <p:cNvPr id="27" name="TextBox 27"/>
          <p:cNvSpPr txBox="1"/>
          <p:nvPr/>
        </p:nvSpPr>
        <p:spPr>
          <a:xfrm>
            <a:off x="712470" y="3122295"/>
            <a:ext cx="688943"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敏感·需授权</a:t>
            </a:r>
          </a:p>
        </p:txBody>
      </p:sp>
      <p:sp>
        <p:nvSpPr>
          <p:cNvPr id="28" name="TextBox 28"/>
          <p:cNvSpPr txBox="1"/>
          <p:nvPr/>
        </p:nvSpPr>
        <p:spPr>
          <a:xfrm>
            <a:off x="2520315" y="2906078"/>
            <a:ext cx="254698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姓名（显示）、身份证号（脱敏存储）、</a:t>
            </a:r>
          </a:p>
        </p:txBody>
      </p:sp>
      <p:sp>
        <p:nvSpPr>
          <p:cNvPr id="29" name="TextBox 29"/>
          <p:cNvSpPr txBox="1"/>
          <p:nvPr/>
        </p:nvSpPr>
        <p:spPr>
          <a:xfrm>
            <a:off x="2520315" y="3106102"/>
            <a:ext cx="170688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手机号（脱敏）、岗位工种</a:t>
            </a:r>
          </a:p>
        </p:txBody>
      </p:sp>
      <p:sp>
        <p:nvSpPr>
          <p:cNvPr id="30" name="TextBox 30"/>
          <p:cNvSpPr txBox="1"/>
          <p:nvPr/>
        </p:nvSpPr>
        <p:spPr>
          <a:xfrm>
            <a:off x="6711315" y="2906078"/>
            <a:ext cx="156686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人员识别与岗位核验关联</a:t>
            </a:r>
          </a:p>
        </p:txBody>
      </p:sp>
      <p:sp>
        <p:nvSpPr>
          <p:cNvPr id="31" name="TextBox 31"/>
          <p:cNvSpPr txBox="1"/>
          <p:nvPr/>
        </p:nvSpPr>
        <p:spPr>
          <a:xfrm>
            <a:off x="9473565" y="2906078"/>
            <a:ext cx="1006792" cy="213360"/>
          </a:xfrm>
          <a:prstGeom prst="rect">
            <a:avLst/>
          </a:prstGeom>
          <a:noFill/>
          <a:ln>
            <a:noFill/>
          </a:ln>
        </p:spPr>
        <p:txBody>
          <a:bodyPr wrap="none" lIns="0" tIns="0" rIns="0" bIns="0" anchor="t" anchorCtr="0">
            <a:spAutoFit/>
          </a:bodyPr>
          <a:lstStyle/>
          <a:p>
            <a:pPr algn="l"/>
            <a:r>
              <a:rPr lang="zh-CN" sz="1050" dirty="0">
                <a:solidFill>
                  <a:srgbClr val="C53030"/>
                </a:solidFill>
                <a:latin typeface="Arial"/>
                <a:ea typeface="Microsoft YaHei"/>
                <a:cs typeface="Arial"/>
              </a:rPr>
              <a:t>脱敏后有限输出</a:t>
            </a:r>
          </a:p>
        </p:txBody>
      </p:sp>
      <p:sp>
        <p:nvSpPr>
          <p:cNvPr id="32" name="Line 32"/>
          <p:cNvSpPr/>
          <p:nvPr/>
        </p:nvSpPr>
        <p:spPr>
          <a:xfrm>
            <a:off x="552450" y="33337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33" name="Rectangle 33"/>
          <p:cNvSpPr/>
          <p:nvPr/>
        </p:nvSpPr>
        <p:spPr>
          <a:xfrm>
            <a:off x="552450" y="3333750"/>
            <a:ext cx="11087100" cy="571500"/>
          </a:xfrm>
          <a:prstGeom prst="rect">
            <a:avLst/>
          </a:prstGeom>
          <a:solidFill>
            <a:srgbClr val="F0F4F8"/>
          </a:solidFill>
          <a:ln>
            <a:noFill/>
          </a:ln>
        </p:spPr>
      </p:sp>
      <p:sp>
        <p:nvSpPr>
          <p:cNvPr id="34" name="TextBox 34"/>
          <p:cNvSpPr txBox="1"/>
          <p:nvPr/>
        </p:nvSpPr>
        <p:spPr>
          <a:xfrm>
            <a:off x="709612" y="3469481"/>
            <a:ext cx="658654" cy="228600"/>
          </a:xfrm>
          <a:prstGeom prst="rect">
            <a:avLst/>
          </a:prstGeom>
          <a:noFill/>
          <a:ln>
            <a:noFill/>
          </a:ln>
        </p:spPr>
        <p:txBody>
          <a:bodyPr wrap="none" lIns="0" tIns="0" rIns="0" bIns="0" anchor="t" anchorCtr="0">
            <a:spAutoFit/>
          </a:bodyPr>
          <a:lstStyle/>
          <a:p>
            <a:pPr algn="l"/>
            <a:r>
              <a:rPr lang="zh-CN" sz="1125" b="1" dirty="0">
                <a:solidFill>
                  <a:srgbClr val="4A90D9"/>
                </a:solidFill>
                <a:latin typeface="Arial"/>
                <a:ea typeface="SimHei"/>
                <a:cs typeface="Arial"/>
              </a:rPr>
              <a:t>授权数据</a:t>
            </a:r>
          </a:p>
        </p:txBody>
      </p:sp>
      <p:sp>
        <p:nvSpPr>
          <p:cNvPr id="35" name="TextBox 35"/>
          <p:cNvSpPr txBox="1"/>
          <p:nvPr/>
        </p:nvSpPr>
        <p:spPr>
          <a:xfrm>
            <a:off x="712470" y="36937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合规前提</a:t>
            </a:r>
          </a:p>
        </p:txBody>
      </p:sp>
      <p:sp>
        <p:nvSpPr>
          <p:cNvPr id="36" name="TextBox 36"/>
          <p:cNvSpPr txBox="1"/>
          <p:nvPr/>
        </p:nvSpPr>
        <p:spPr>
          <a:xfrm>
            <a:off x="2520315" y="3477578"/>
            <a:ext cx="212693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授权时间、授权范围、用途描述、</a:t>
            </a:r>
          </a:p>
        </p:txBody>
      </p:sp>
      <p:sp>
        <p:nvSpPr>
          <p:cNvPr id="37" name="TextBox 37"/>
          <p:cNvSpPr txBox="1"/>
          <p:nvPr/>
        </p:nvSpPr>
        <p:spPr>
          <a:xfrm>
            <a:off x="2520315" y="3677602"/>
            <a:ext cx="220394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授权状态（有效/撤回）、授权版本</a:t>
            </a:r>
          </a:p>
        </p:txBody>
      </p:sp>
      <p:sp>
        <p:nvSpPr>
          <p:cNvPr id="38" name="TextBox 38"/>
          <p:cNvSpPr txBox="1"/>
          <p:nvPr/>
        </p:nvSpPr>
        <p:spPr>
          <a:xfrm>
            <a:off x="6711315" y="3477578"/>
            <a:ext cx="156686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个人信息处理合法性证明</a:t>
            </a:r>
          </a:p>
        </p:txBody>
      </p:sp>
      <p:sp>
        <p:nvSpPr>
          <p:cNvPr id="39" name="TextBox 39"/>
          <p:cNvSpPr txBox="1"/>
          <p:nvPr/>
        </p:nvSpPr>
        <p:spPr>
          <a:xfrm>
            <a:off x="9473565" y="3477578"/>
            <a:ext cx="86677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内部审计留存</a:t>
            </a:r>
          </a:p>
        </p:txBody>
      </p:sp>
      <p:sp>
        <p:nvSpPr>
          <p:cNvPr id="40" name="Line 40"/>
          <p:cNvSpPr/>
          <p:nvPr/>
        </p:nvSpPr>
        <p:spPr>
          <a:xfrm>
            <a:off x="552450" y="39052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41" name="Rectangle 41"/>
          <p:cNvSpPr/>
          <p:nvPr/>
        </p:nvSpPr>
        <p:spPr>
          <a:xfrm>
            <a:off x="552450" y="3905250"/>
            <a:ext cx="11087100" cy="571500"/>
          </a:xfrm>
          <a:prstGeom prst="rect">
            <a:avLst/>
          </a:prstGeom>
          <a:solidFill>
            <a:srgbClr val="FFFFFF"/>
          </a:solidFill>
          <a:ln>
            <a:noFill/>
          </a:ln>
        </p:spPr>
      </p:sp>
      <p:sp>
        <p:nvSpPr>
          <p:cNvPr id="42" name="TextBox 42"/>
          <p:cNvSpPr txBox="1"/>
          <p:nvPr/>
        </p:nvSpPr>
        <p:spPr>
          <a:xfrm>
            <a:off x="709612" y="4040981"/>
            <a:ext cx="658654" cy="228600"/>
          </a:xfrm>
          <a:prstGeom prst="rect">
            <a:avLst/>
          </a:prstGeom>
          <a:noFill/>
          <a:ln>
            <a:noFill/>
          </a:ln>
        </p:spPr>
        <p:txBody>
          <a:bodyPr wrap="none" lIns="0" tIns="0" rIns="0" bIns="0" anchor="t" anchorCtr="0">
            <a:spAutoFit/>
          </a:bodyPr>
          <a:lstStyle/>
          <a:p>
            <a:pPr algn="l"/>
            <a:r>
              <a:rPr lang="zh-CN" sz="1125" b="1" dirty="0">
                <a:solidFill>
                  <a:srgbClr val="0077CC"/>
                </a:solidFill>
                <a:latin typeface="Arial"/>
                <a:ea typeface="SimHei"/>
                <a:cs typeface="Arial"/>
              </a:rPr>
              <a:t>训考数据</a:t>
            </a:r>
          </a:p>
        </p:txBody>
      </p:sp>
      <p:sp>
        <p:nvSpPr>
          <p:cNvPr id="43" name="TextBox 43"/>
          <p:cNvSpPr txBox="1"/>
          <p:nvPr/>
        </p:nvSpPr>
        <p:spPr>
          <a:xfrm>
            <a:off x="712470" y="42652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能力核心</a:t>
            </a:r>
          </a:p>
        </p:txBody>
      </p:sp>
      <p:sp>
        <p:nvSpPr>
          <p:cNvPr id="44" name="TextBox 44"/>
          <p:cNvSpPr txBox="1"/>
          <p:nvPr/>
        </p:nvSpPr>
        <p:spPr>
          <a:xfrm>
            <a:off x="2520315" y="4049078"/>
            <a:ext cx="1846898"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考试时间、考试类型、得分、</a:t>
            </a:r>
          </a:p>
        </p:txBody>
      </p:sp>
      <p:sp>
        <p:nvSpPr>
          <p:cNvPr id="45" name="TextBox 45"/>
          <p:cNvSpPr txBox="1"/>
          <p:nvPr/>
        </p:nvSpPr>
        <p:spPr>
          <a:xfrm>
            <a:off x="2520315" y="4249102"/>
            <a:ext cx="198691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通过状态、题库版本、培训课时</a:t>
            </a:r>
          </a:p>
        </p:txBody>
      </p:sp>
      <p:sp>
        <p:nvSpPr>
          <p:cNvPr id="46" name="TextBox 46"/>
          <p:cNvSpPr txBox="1"/>
          <p:nvPr/>
        </p:nvSpPr>
        <p:spPr>
          <a:xfrm>
            <a:off x="6711315" y="4049078"/>
            <a:ext cx="156686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能力水平验证与复训提醒</a:t>
            </a:r>
          </a:p>
        </p:txBody>
      </p:sp>
      <p:sp>
        <p:nvSpPr>
          <p:cNvPr id="47" name="TextBox 47"/>
          <p:cNvSpPr txBox="1"/>
          <p:nvPr/>
        </p:nvSpPr>
        <p:spPr>
          <a:xfrm>
            <a:off x="9473565" y="4049078"/>
            <a:ext cx="108380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通过/不通过结论</a:t>
            </a:r>
          </a:p>
        </p:txBody>
      </p:sp>
      <p:sp>
        <p:nvSpPr>
          <p:cNvPr id="48" name="Line 48"/>
          <p:cNvSpPr/>
          <p:nvPr/>
        </p:nvSpPr>
        <p:spPr>
          <a:xfrm>
            <a:off x="552450" y="44767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49" name="Rectangle 49"/>
          <p:cNvSpPr/>
          <p:nvPr/>
        </p:nvSpPr>
        <p:spPr>
          <a:xfrm>
            <a:off x="552450" y="4476750"/>
            <a:ext cx="11087100" cy="571500"/>
          </a:xfrm>
          <a:prstGeom prst="rect">
            <a:avLst/>
          </a:prstGeom>
          <a:solidFill>
            <a:srgbClr val="F0F4F8"/>
          </a:solidFill>
          <a:ln>
            <a:noFill/>
          </a:ln>
        </p:spPr>
      </p:sp>
      <p:sp>
        <p:nvSpPr>
          <p:cNvPr id="50" name="TextBox 50"/>
          <p:cNvSpPr txBox="1"/>
          <p:nvPr/>
        </p:nvSpPr>
        <p:spPr>
          <a:xfrm>
            <a:off x="709612" y="4612481"/>
            <a:ext cx="658654" cy="228600"/>
          </a:xfrm>
          <a:prstGeom prst="rect">
            <a:avLst/>
          </a:prstGeom>
          <a:noFill/>
          <a:ln>
            <a:noFill/>
          </a:ln>
        </p:spPr>
        <p:txBody>
          <a:bodyPr wrap="none" lIns="0" tIns="0" rIns="0" bIns="0" anchor="t" anchorCtr="0">
            <a:spAutoFit/>
          </a:bodyPr>
          <a:lstStyle/>
          <a:p>
            <a:pPr algn="l"/>
            <a:r>
              <a:rPr lang="zh-CN" sz="1125" b="1" dirty="0">
                <a:solidFill>
                  <a:srgbClr val="2D7D46"/>
                </a:solidFill>
                <a:latin typeface="Arial"/>
                <a:ea typeface="SimHei"/>
                <a:cs typeface="Arial"/>
              </a:rPr>
              <a:t>证照数据</a:t>
            </a:r>
          </a:p>
        </p:txBody>
      </p:sp>
      <p:sp>
        <p:nvSpPr>
          <p:cNvPr id="51" name="TextBox 51"/>
          <p:cNvSpPr txBox="1"/>
          <p:nvPr/>
        </p:nvSpPr>
        <p:spPr>
          <a:xfrm>
            <a:off x="712470" y="48367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权威来源</a:t>
            </a:r>
          </a:p>
        </p:txBody>
      </p:sp>
      <p:sp>
        <p:nvSpPr>
          <p:cNvPr id="52" name="TextBox 52"/>
          <p:cNvSpPr txBox="1"/>
          <p:nvPr/>
        </p:nvSpPr>
        <p:spPr>
          <a:xfrm>
            <a:off x="2520315" y="4620578"/>
            <a:ext cx="170688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证照类型、证号（脱敏）、</a:t>
            </a:r>
          </a:p>
        </p:txBody>
      </p:sp>
      <p:sp>
        <p:nvSpPr>
          <p:cNvPr id="53" name="TextBox 53"/>
          <p:cNvSpPr txBox="1"/>
          <p:nvPr/>
        </p:nvSpPr>
        <p:spPr>
          <a:xfrm>
            <a:off x="2520315" y="4820602"/>
            <a:ext cx="226695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有效期至、核验来源渠道、核验时间</a:t>
            </a:r>
          </a:p>
        </p:txBody>
      </p:sp>
      <p:sp>
        <p:nvSpPr>
          <p:cNvPr id="54" name="TextBox 54"/>
          <p:cNvSpPr txBox="1"/>
          <p:nvPr/>
        </p:nvSpPr>
        <p:spPr>
          <a:xfrm>
            <a:off x="6711315" y="4620578"/>
            <a:ext cx="156686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特种作业资质合规性核查</a:t>
            </a:r>
          </a:p>
        </p:txBody>
      </p:sp>
      <p:sp>
        <p:nvSpPr>
          <p:cNvPr id="55" name="TextBox 55"/>
          <p:cNvSpPr txBox="1"/>
          <p:nvPr/>
        </p:nvSpPr>
        <p:spPr>
          <a:xfrm>
            <a:off x="9473565" y="4620578"/>
            <a:ext cx="130082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有效/无效/到期结论</a:t>
            </a:r>
          </a:p>
        </p:txBody>
      </p:sp>
      <p:sp>
        <p:nvSpPr>
          <p:cNvPr id="56" name="Line 56"/>
          <p:cNvSpPr/>
          <p:nvPr/>
        </p:nvSpPr>
        <p:spPr>
          <a:xfrm>
            <a:off x="552450" y="50482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57" name="Rectangle 57"/>
          <p:cNvSpPr/>
          <p:nvPr/>
        </p:nvSpPr>
        <p:spPr>
          <a:xfrm>
            <a:off x="552450" y="5048250"/>
            <a:ext cx="11087100" cy="571500"/>
          </a:xfrm>
          <a:prstGeom prst="rect">
            <a:avLst/>
          </a:prstGeom>
          <a:solidFill>
            <a:srgbClr val="FFFFFF"/>
          </a:solidFill>
          <a:ln>
            <a:noFill/>
          </a:ln>
        </p:spPr>
      </p:sp>
      <p:sp>
        <p:nvSpPr>
          <p:cNvPr id="58" name="Rectangle 58"/>
          <p:cNvSpPr/>
          <p:nvPr/>
        </p:nvSpPr>
        <p:spPr>
          <a:xfrm>
            <a:off x="552450" y="5048250"/>
            <a:ext cx="47625" cy="571500"/>
          </a:xfrm>
          <a:prstGeom prst="rect">
            <a:avLst/>
          </a:prstGeom>
          <a:solidFill>
            <a:srgbClr val="0077CC"/>
          </a:solidFill>
          <a:ln>
            <a:noFill/>
          </a:ln>
        </p:spPr>
      </p:sp>
      <p:sp>
        <p:nvSpPr>
          <p:cNvPr id="59" name="TextBox 59"/>
          <p:cNvSpPr txBox="1"/>
          <p:nvPr/>
        </p:nvSpPr>
        <p:spPr>
          <a:xfrm>
            <a:off x="709612" y="5183981"/>
            <a:ext cx="658654" cy="228600"/>
          </a:xfrm>
          <a:prstGeom prst="rect">
            <a:avLst/>
          </a:prstGeom>
          <a:noFill/>
          <a:ln>
            <a:noFill/>
          </a:ln>
        </p:spPr>
        <p:txBody>
          <a:bodyPr wrap="none" lIns="0" tIns="0" rIns="0" bIns="0" anchor="t" anchorCtr="0">
            <a:spAutoFit/>
          </a:bodyPr>
          <a:lstStyle/>
          <a:p>
            <a:pPr algn="l"/>
            <a:r>
              <a:rPr lang="zh-CN" sz="1125" b="1" dirty="0">
                <a:solidFill>
                  <a:srgbClr val="0077CC"/>
                </a:solidFill>
                <a:latin typeface="Arial"/>
                <a:ea typeface="SimHei"/>
                <a:cs typeface="Arial"/>
              </a:rPr>
              <a:t>核验结果</a:t>
            </a:r>
          </a:p>
        </p:txBody>
      </p:sp>
      <p:sp>
        <p:nvSpPr>
          <p:cNvPr id="60" name="TextBox 60"/>
          <p:cNvSpPr txBox="1"/>
          <p:nvPr/>
        </p:nvSpPr>
        <p:spPr>
          <a:xfrm>
            <a:off x="712470" y="54082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核心输出</a:t>
            </a:r>
          </a:p>
        </p:txBody>
      </p:sp>
      <p:sp>
        <p:nvSpPr>
          <p:cNvPr id="61" name="TextBox 61"/>
          <p:cNvSpPr txBox="1"/>
          <p:nvPr/>
        </p:nvSpPr>
        <p:spPr>
          <a:xfrm>
            <a:off x="2520315" y="5192078"/>
            <a:ext cx="228095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综合结论（通过/待整改/不合格）、</a:t>
            </a:r>
          </a:p>
        </p:txBody>
      </p:sp>
      <p:sp>
        <p:nvSpPr>
          <p:cNvPr id="62" name="TextBox 62"/>
          <p:cNvSpPr txBox="1"/>
          <p:nvPr/>
        </p:nvSpPr>
        <p:spPr>
          <a:xfrm>
            <a:off x="2520315" y="5392102"/>
            <a:ext cx="182589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依据摘要、结论时间、报告ID</a:t>
            </a:r>
          </a:p>
        </p:txBody>
      </p:sp>
      <p:sp>
        <p:nvSpPr>
          <p:cNvPr id="63" name="TextBox 63"/>
          <p:cNvSpPr txBox="1"/>
          <p:nvPr/>
        </p:nvSpPr>
        <p:spPr>
          <a:xfrm>
            <a:off x="6711315" y="5192078"/>
            <a:ext cx="114681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企业准入决策依据</a:t>
            </a:r>
          </a:p>
        </p:txBody>
      </p:sp>
      <p:sp>
        <p:nvSpPr>
          <p:cNvPr id="64" name="TextBox 64"/>
          <p:cNvSpPr txBox="1"/>
          <p:nvPr/>
        </p:nvSpPr>
        <p:spPr>
          <a:xfrm>
            <a:off x="9473565" y="5192078"/>
            <a:ext cx="130783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核验报告 / 接口返回</a:t>
            </a:r>
          </a:p>
        </p:txBody>
      </p:sp>
      <p:sp>
        <p:nvSpPr>
          <p:cNvPr id="65" name="Line 65"/>
          <p:cNvSpPr/>
          <p:nvPr/>
        </p:nvSpPr>
        <p:spPr>
          <a:xfrm>
            <a:off x="552450" y="56197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66" name="Rectangle 66"/>
          <p:cNvSpPr/>
          <p:nvPr/>
        </p:nvSpPr>
        <p:spPr>
          <a:xfrm>
            <a:off x="552450" y="5619750"/>
            <a:ext cx="11087100" cy="571500"/>
          </a:xfrm>
          <a:prstGeom prst="rect">
            <a:avLst/>
          </a:prstGeom>
          <a:solidFill>
            <a:srgbClr val="F0F4F8"/>
          </a:solidFill>
          <a:ln>
            <a:noFill/>
          </a:ln>
        </p:spPr>
      </p:sp>
      <p:sp>
        <p:nvSpPr>
          <p:cNvPr id="67" name="TextBox 67"/>
          <p:cNvSpPr txBox="1"/>
          <p:nvPr/>
        </p:nvSpPr>
        <p:spPr>
          <a:xfrm>
            <a:off x="709612" y="5755481"/>
            <a:ext cx="658654"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a:ea typeface="SimHei"/>
                <a:cs typeface="Arial"/>
              </a:rPr>
              <a:t>审计数据</a:t>
            </a:r>
          </a:p>
        </p:txBody>
      </p:sp>
      <p:sp>
        <p:nvSpPr>
          <p:cNvPr id="68" name="TextBox 68"/>
          <p:cNvSpPr txBox="1"/>
          <p:nvPr/>
        </p:nvSpPr>
        <p:spPr>
          <a:xfrm>
            <a:off x="712470" y="5979795"/>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合规底座</a:t>
            </a:r>
          </a:p>
        </p:txBody>
      </p:sp>
      <p:sp>
        <p:nvSpPr>
          <p:cNvPr id="69" name="TextBox 69"/>
          <p:cNvSpPr txBox="1"/>
          <p:nvPr/>
        </p:nvSpPr>
        <p:spPr>
          <a:xfrm>
            <a:off x="2520315" y="5763578"/>
            <a:ext cx="198691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操作类型、操作人、操作时间、</a:t>
            </a:r>
          </a:p>
        </p:txBody>
      </p:sp>
      <p:sp>
        <p:nvSpPr>
          <p:cNvPr id="70" name="TextBox 70"/>
          <p:cNvSpPr txBox="1"/>
          <p:nvPr/>
        </p:nvSpPr>
        <p:spPr>
          <a:xfrm>
            <a:off x="2520315" y="5963602"/>
            <a:ext cx="1804892"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IP地址、查询依据（授权ID）</a:t>
            </a:r>
          </a:p>
        </p:txBody>
      </p:sp>
      <p:sp>
        <p:nvSpPr>
          <p:cNvPr id="71" name="TextBox 71"/>
          <p:cNvSpPr txBox="1"/>
          <p:nvPr/>
        </p:nvSpPr>
        <p:spPr>
          <a:xfrm>
            <a:off x="6711315" y="5763578"/>
            <a:ext cx="156686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数据处理合规证明与溯源</a:t>
            </a:r>
          </a:p>
        </p:txBody>
      </p:sp>
      <p:sp>
        <p:nvSpPr>
          <p:cNvPr id="72" name="TextBox 72"/>
          <p:cNvSpPr txBox="1"/>
          <p:nvPr/>
        </p:nvSpPr>
        <p:spPr>
          <a:xfrm>
            <a:off x="9473565" y="5763578"/>
            <a:ext cx="130783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内部留存 / 监管查阅</a:t>
            </a:r>
          </a:p>
        </p:txBody>
      </p:sp>
      <p:sp>
        <p:nvSpPr>
          <p:cNvPr id="73" name="Line 73"/>
          <p:cNvSpPr/>
          <p:nvPr/>
        </p:nvSpPr>
        <p:spPr>
          <a:xfrm>
            <a:off x="552450" y="6191250"/>
            <a:ext cx="11087100" cy="9525"/>
          </a:xfrm>
          <a:custGeom>
            <a:avLst/>
            <a:gdLst/>
            <a:ahLst/>
            <a:cxnLst/>
            <a:rect l="l" t="t" r="r" b="b"/>
            <a:pathLst>
              <a:path w="11087100" h="9525">
                <a:moveTo>
                  <a:pt x="0" y="0"/>
                </a:moveTo>
                <a:lnTo>
                  <a:pt x="11087100" y="0"/>
                </a:lnTo>
              </a:path>
            </a:pathLst>
          </a:custGeom>
          <a:noFill/>
          <a:ln w="7620">
            <a:solidFill>
              <a:srgbClr val="CBD5E0"/>
            </a:solidFill>
          </a:ln>
        </p:spPr>
      </p:sp>
      <p:sp>
        <p:nvSpPr>
          <p:cNvPr id="74" name="TextBox 74"/>
          <p:cNvSpPr txBox="1"/>
          <p:nvPr/>
        </p:nvSpPr>
        <p:spPr>
          <a:xfrm>
            <a:off x="541020" y="6303645"/>
            <a:ext cx="5063490" cy="182880"/>
          </a:xfrm>
          <a:prstGeom prst="rect">
            <a:avLst/>
          </a:prstGeom>
          <a:noFill/>
          <a:ln>
            <a:noFill/>
          </a:ln>
        </p:spPr>
        <p:txBody>
          <a:bodyPr wrap="none" lIns="0" tIns="0" rIns="0" bIns="0" anchor="t" anchorCtr="0">
            <a:spAutoFit/>
          </a:bodyPr>
          <a:lstStyle/>
          <a:p>
            <a:pPr algn="l"/>
            <a:r>
              <a:rPr lang="zh-CN" sz="900" dirty="0">
                <a:solidFill>
                  <a:srgbClr val="718096"/>
                </a:solidFill>
                <a:latin typeface="Arial"/>
                <a:ea typeface="Microsoft YaHei"/>
                <a:cs typeface="Arial"/>
              </a:rPr>
              <a:t>注：红色标注字段为个人敏感信息，须在授权有效期内处理，输出仅限脱敏结论，不开放明细。</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308941"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第三章 · 技术与业务实现</a:t>
            </a:r>
          </a:p>
        </p:txBody>
      </p:sp>
      <p:sp>
        <p:nvSpPr>
          <p:cNvPr id="4" name="TextBox 4"/>
          <p:cNvSpPr txBox="1"/>
          <p:nvPr/>
        </p:nvSpPr>
        <p:spPr>
          <a:xfrm>
            <a:off x="525780" y="1183005"/>
            <a:ext cx="8315773"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数据质量与规则治理：确保核验结果"可信赖、可追溯、可纠错"</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3831431" y="1688306"/>
            <a:ext cx="4529138"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四类治理机制共同保障企业敢于将核验结果用于真实的准入审批流程</a:t>
            </a:r>
          </a:p>
        </p:txBody>
      </p:sp>
      <p:sp>
        <p:nvSpPr>
          <p:cNvPr id="7" name="Rectangle 7"/>
          <p:cNvSpPr/>
          <p:nvPr/>
        </p:nvSpPr>
        <p:spPr>
          <a:xfrm>
            <a:off x="552450" y="1981200"/>
            <a:ext cx="5305425" cy="2190750"/>
          </a:xfrm>
          <a:prstGeom prst="roundRect">
            <a:avLst>
              <a:gd name="adj" fmla="val 1739"/>
            </a:avLst>
          </a:prstGeom>
          <a:solidFill>
            <a:srgbClr val="F0F4F8"/>
          </a:solidFill>
          <a:ln>
            <a:noFill/>
          </a:ln>
        </p:spPr>
      </p:sp>
      <p:sp>
        <p:nvSpPr>
          <p:cNvPr id="8" name="Rectangle 8"/>
          <p:cNvSpPr/>
          <p:nvPr/>
        </p:nvSpPr>
        <p:spPr>
          <a:xfrm>
            <a:off x="552450" y="1981200"/>
            <a:ext cx="5305425" cy="47625"/>
          </a:xfrm>
          <a:prstGeom prst="roundRect">
            <a:avLst>
              <a:gd name="adj" fmla="val 40000"/>
            </a:avLst>
          </a:prstGeom>
          <a:solidFill>
            <a:srgbClr val="003A70"/>
          </a:solidFill>
          <a:ln>
            <a:noFill/>
          </a:ln>
        </p:spPr>
      </p:sp>
      <p:grpSp>
        <p:nvGrpSpPr>
          <p:cNvPr id="11" name="Group 11"/>
          <p:cNvGrpSpPr/>
          <p:nvPr/>
        </p:nvGrpSpPr>
        <p:grpSpPr>
          <a:xfrm>
            <a:off x="809625" y="2171700"/>
            <a:ext cx="285750" cy="381000"/>
            <a:chOff x="809625" y="2171700"/>
            <a:chExt cx="285750" cy="381000"/>
          </a:xfrm>
        </p:grpSpPr>
        <p:sp>
          <p:nvSpPr>
            <p:cNvPr id="9" name="Freeform 9"/>
            <p:cNvSpPr/>
            <p:nvPr/>
          </p:nvSpPr>
          <p:spPr>
            <a:xfrm>
              <a:off x="809625" y="2171700"/>
              <a:ext cx="285750" cy="381000"/>
            </a:xfrm>
            <a:custGeom>
              <a:avLst/>
              <a:gdLst/>
              <a:ahLst/>
              <a:cxnLst/>
              <a:rect l="l" t="t" r="r" b="b"/>
              <a:pathLst>
                <a:path w="285750" h="381000">
                  <a:moveTo>
                    <a:pt x="119062" y="0"/>
                  </a:moveTo>
                  <a:lnTo>
                    <a:pt x="0" y="0"/>
                  </a:lnTo>
                  <a:lnTo>
                    <a:pt x="0" y="381000"/>
                  </a:lnTo>
                  <a:lnTo>
                    <a:pt x="285750" y="381000"/>
                  </a:lnTo>
                  <a:lnTo>
                    <a:pt x="285750" y="166688"/>
                  </a:lnTo>
                  <a:lnTo>
                    <a:pt x="119062" y="166688"/>
                  </a:lnTo>
                  <a:lnTo>
                    <a:pt x="119062" y="0"/>
                  </a:lnTo>
                  <a:close/>
                </a:path>
              </a:pathLst>
            </a:custGeom>
            <a:solidFill>
              <a:srgbClr val="003A70"/>
            </a:solidFill>
            <a:ln>
              <a:noFill/>
            </a:ln>
          </p:spPr>
        </p:sp>
        <p:sp>
          <p:nvSpPr>
            <p:cNvPr id="10" name="Freeform 10"/>
            <p:cNvSpPr/>
            <p:nvPr/>
          </p:nvSpPr>
          <p:spPr>
            <a:xfrm>
              <a:off x="976312" y="2171700"/>
              <a:ext cx="119062" cy="119062"/>
            </a:xfrm>
            <a:custGeom>
              <a:avLst/>
              <a:gdLst/>
              <a:ahLst/>
              <a:cxnLst/>
              <a:rect l="l" t="t" r="r" b="b"/>
              <a:pathLst>
                <a:path w="119062" h="119062">
                  <a:moveTo>
                    <a:pt x="0" y="0"/>
                  </a:moveTo>
                  <a:lnTo>
                    <a:pt x="0" y="119062"/>
                  </a:lnTo>
                  <a:lnTo>
                    <a:pt x="119062" y="119062"/>
                  </a:lnTo>
                  <a:lnTo>
                    <a:pt x="0" y="0"/>
                  </a:lnTo>
                  <a:close/>
                </a:path>
              </a:pathLst>
            </a:custGeom>
            <a:solidFill>
              <a:srgbClr val="003A70"/>
            </a:solidFill>
            <a:ln>
              <a:noFill/>
            </a:ln>
          </p:spPr>
        </p:sp>
      </p:grpSp>
      <p:sp>
        <p:nvSpPr>
          <p:cNvPr id="12" name="TextBox 12"/>
          <p:cNvSpPr txBox="1"/>
          <p:nvPr/>
        </p:nvSpPr>
        <p:spPr>
          <a:xfrm>
            <a:off x="1276350" y="2257425"/>
            <a:ext cx="1298258" cy="304800"/>
          </a:xfrm>
          <a:prstGeom prst="rect">
            <a:avLst/>
          </a:prstGeom>
          <a:noFill/>
          <a:ln>
            <a:noFill/>
          </a:ln>
        </p:spPr>
        <p:txBody>
          <a:bodyPr wrap="none" lIns="0" tIns="0" rIns="0" bIns="0" anchor="t" anchorCtr="0">
            <a:spAutoFit/>
          </a:bodyPr>
          <a:lstStyle/>
          <a:p>
            <a:pPr algn="l"/>
            <a:r>
              <a:rPr lang="zh-CN" sz="1500" b="1" dirty="0">
                <a:solidFill>
                  <a:srgbClr val="003A70"/>
                </a:solidFill>
                <a:latin typeface="Arial"/>
                <a:ea typeface="SimHei"/>
                <a:cs typeface="Arial"/>
              </a:rPr>
              <a:t>题库质量治理</a:t>
            </a:r>
          </a:p>
        </p:txBody>
      </p:sp>
      <p:sp>
        <p:nvSpPr>
          <p:cNvPr id="13" name="TextBox 13"/>
          <p:cNvSpPr txBox="1"/>
          <p:nvPr/>
        </p:nvSpPr>
        <p:spPr>
          <a:xfrm>
            <a:off x="1282065" y="2534602"/>
            <a:ext cx="1608868"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权威性 · 时效性 · 适用性</a:t>
            </a:r>
          </a:p>
        </p:txBody>
      </p:sp>
      <p:sp>
        <p:nvSpPr>
          <p:cNvPr id="14" name="Line 14"/>
          <p:cNvSpPr/>
          <p:nvPr/>
        </p:nvSpPr>
        <p:spPr>
          <a:xfrm>
            <a:off x="762000" y="2781300"/>
            <a:ext cx="4905375" cy="9525"/>
          </a:xfrm>
          <a:custGeom>
            <a:avLst/>
            <a:gdLst/>
            <a:ahLst/>
            <a:cxnLst/>
            <a:rect l="l" t="t" r="r" b="b"/>
            <a:pathLst>
              <a:path w="4905375" h="9525">
                <a:moveTo>
                  <a:pt x="0" y="0"/>
                </a:moveTo>
                <a:lnTo>
                  <a:pt x="4905375" y="0"/>
                </a:lnTo>
              </a:path>
            </a:pathLst>
          </a:custGeom>
          <a:noFill/>
          <a:ln w="9525">
            <a:solidFill>
              <a:srgbClr val="CBD5E0"/>
            </a:solidFill>
          </a:ln>
        </p:spPr>
      </p:sp>
      <p:sp>
        <p:nvSpPr>
          <p:cNvPr id="15" name="TextBox 15"/>
          <p:cNvSpPr txBox="1"/>
          <p:nvPr/>
        </p:nvSpPr>
        <p:spPr>
          <a:xfrm>
            <a:off x="746760" y="2899410"/>
            <a:ext cx="2011680" cy="12344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 电力安规专家团队审校，</a:t>
            </a:r>
            <a:r>
              <a:rPr lang="zh-CN" sz="1200" dirty="0">
                <a:solidFill>
                  <a:srgbClr val="1A1A2E"/>
                </a:solidFill>
                <a:latin typeface="Arial"/>
                <a:ea typeface="Microsoft YaHei"/>
                <a:cs typeface="Arial"/>
              </a:rPr>
              <a:t>每次安规修订同步更新</a:t>
            </a:r>
            <a:r>
              <a:rPr lang="zh-CN" sz="1200" dirty="0">
                <a:solidFill>
                  <a:srgbClr val="1A1A2E"/>
                </a:solidFill>
                <a:latin typeface="Arial"/>
                <a:ea typeface="Microsoft YaHei"/>
                <a:cs typeface="Arial"/>
              </a:rPr>
              <a:t>· 按岗位工种标注适用范围</a:t>
            </a:r>
            <a:r>
              <a:rPr lang="zh-CN" sz="1200" dirty="0">
                <a:solidFill>
                  <a:srgbClr val="1A1A2E"/>
                </a:solidFill>
                <a:latin typeface="Arial"/>
                <a:ea typeface="Microsoft YaHei"/>
                <a:cs typeface="Arial"/>
              </a:rPr>
              <a:t>· 题目版本管理，</a:t>
            </a:r>
            <a:r>
              <a:rPr lang="zh-CN" sz="1200" dirty="0">
                <a:solidFill>
                  <a:srgbClr val="1A1A2E"/>
                </a:solidFill>
                <a:latin typeface="Arial"/>
                <a:ea typeface="Microsoft YaHei"/>
                <a:cs typeface="Arial"/>
              </a:rPr>
              <a:t>历史考试记录保持版本一致性</a:t>
            </a:r>
          </a:p>
        </p:txBody>
      </p:sp>
      <p:sp>
        <p:nvSpPr>
          <p:cNvPr id="16" name="Rectangle 16"/>
          <p:cNvSpPr/>
          <p:nvPr/>
        </p:nvSpPr>
        <p:spPr>
          <a:xfrm>
            <a:off x="6334125" y="1981200"/>
            <a:ext cx="5305425" cy="2190750"/>
          </a:xfrm>
          <a:prstGeom prst="roundRect">
            <a:avLst>
              <a:gd name="adj" fmla="val 1739"/>
            </a:avLst>
          </a:prstGeom>
          <a:solidFill>
            <a:srgbClr val="F0F4F8"/>
          </a:solidFill>
          <a:ln>
            <a:noFill/>
          </a:ln>
        </p:spPr>
      </p:sp>
      <p:sp>
        <p:nvSpPr>
          <p:cNvPr id="17" name="Rectangle 17"/>
          <p:cNvSpPr/>
          <p:nvPr/>
        </p:nvSpPr>
        <p:spPr>
          <a:xfrm>
            <a:off x="6334125" y="1981200"/>
            <a:ext cx="5305425" cy="47625"/>
          </a:xfrm>
          <a:prstGeom prst="roundRect">
            <a:avLst>
              <a:gd name="adj" fmla="val 40000"/>
            </a:avLst>
          </a:prstGeom>
          <a:solidFill>
            <a:srgbClr val="C53030"/>
          </a:solidFill>
          <a:ln>
            <a:noFill/>
          </a:ln>
        </p:spPr>
      </p:sp>
      <p:sp>
        <p:nvSpPr>
          <p:cNvPr id="18" name="Freeform 18"/>
          <p:cNvSpPr/>
          <p:nvPr/>
        </p:nvSpPr>
        <p:spPr>
          <a:xfrm>
            <a:off x="6551338" y="2171700"/>
            <a:ext cx="365674" cy="381000"/>
          </a:xfrm>
          <a:custGeom>
            <a:avLst/>
            <a:gdLst/>
            <a:ahLst/>
            <a:cxnLst/>
            <a:rect l="l" t="t" r="r" b="b"/>
            <a:pathLst>
              <a:path w="365674" h="381000">
                <a:moveTo>
                  <a:pt x="147118" y="0"/>
                </a:moveTo>
                <a:lnTo>
                  <a:pt x="218556" y="0"/>
                </a:lnTo>
                <a:lnTo>
                  <a:pt x="232698" y="56566"/>
                </a:lnTo>
                <a:cubicBezTo>
                  <a:pt x="247788" y="62186"/>
                  <a:pt x="261673" y="70284"/>
                  <a:pt x="273855" y="80364"/>
                </a:cubicBezTo>
                <a:lnTo>
                  <a:pt x="329955" y="64317"/>
                </a:lnTo>
                <a:lnTo>
                  <a:pt x="365674" y="126183"/>
                </a:lnTo>
                <a:lnTo>
                  <a:pt x="323743" y="166727"/>
                </a:lnTo>
                <a:cubicBezTo>
                  <a:pt x="325038" y="174458"/>
                  <a:pt x="325712" y="182401"/>
                  <a:pt x="325712" y="190500"/>
                </a:cubicBezTo>
                <a:cubicBezTo>
                  <a:pt x="325712" y="198599"/>
                  <a:pt x="325038" y="206542"/>
                  <a:pt x="323743" y="214273"/>
                </a:cubicBezTo>
                <a:lnTo>
                  <a:pt x="365674" y="254818"/>
                </a:lnTo>
                <a:lnTo>
                  <a:pt x="329955" y="316682"/>
                </a:lnTo>
                <a:lnTo>
                  <a:pt x="273855" y="300635"/>
                </a:lnTo>
                <a:cubicBezTo>
                  <a:pt x="261673" y="310715"/>
                  <a:pt x="247788" y="318814"/>
                  <a:pt x="232698" y="324433"/>
                </a:cubicBezTo>
                <a:lnTo>
                  <a:pt x="218556" y="381000"/>
                </a:lnTo>
                <a:lnTo>
                  <a:pt x="147118" y="381000"/>
                </a:lnTo>
                <a:lnTo>
                  <a:pt x="132977" y="324433"/>
                </a:lnTo>
                <a:cubicBezTo>
                  <a:pt x="117886" y="318814"/>
                  <a:pt x="104002" y="310715"/>
                  <a:pt x="91818" y="300635"/>
                </a:cubicBezTo>
                <a:lnTo>
                  <a:pt x="35719" y="316682"/>
                </a:lnTo>
                <a:lnTo>
                  <a:pt x="0" y="254818"/>
                </a:lnTo>
                <a:lnTo>
                  <a:pt x="41931" y="214273"/>
                </a:lnTo>
                <a:cubicBezTo>
                  <a:pt x="40636" y="206542"/>
                  <a:pt x="39962" y="198599"/>
                  <a:pt x="39962" y="190500"/>
                </a:cubicBezTo>
                <a:cubicBezTo>
                  <a:pt x="39962" y="182401"/>
                  <a:pt x="40636" y="174458"/>
                  <a:pt x="41931" y="166727"/>
                </a:cubicBezTo>
                <a:lnTo>
                  <a:pt x="0" y="126183"/>
                </a:lnTo>
                <a:lnTo>
                  <a:pt x="35719" y="64317"/>
                </a:lnTo>
                <a:lnTo>
                  <a:pt x="91818" y="80364"/>
                </a:lnTo>
                <a:cubicBezTo>
                  <a:pt x="104002" y="70284"/>
                  <a:pt x="117886" y="62186"/>
                  <a:pt x="132977" y="56566"/>
                </a:cubicBezTo>
                <a:lnTo>
                  <a:pt x="147118" y="0"/>
                </a:lnTo>
                <a:close/>
                <a:moveTo>
                  <a:pt x="182837" y="238125"/>
                </a:moveTo>
                <a:cubicBezTo>
                  <a:pt x="209140" y="238125"/>
                  <a:pt x="230462" y="216803"/>
                  <a:pt x="230462" y="190500"/>
                </a:cubicBezTo>
                <a:cubicBezTo>
                  <a:pt x="230462" y="164197"/>
                  <a:pt x="209140" y="142875"/>
                  <a:pt x="182837" y="142875"/>
                </a:cubicBezTo>
                <a:cubicBezTo>
                  <a:pt x="156535" y="142875"/>
                  <a:pt x="135212" y="164197"/>
                  <a:pt x="135212" y="190500"/>
                </a:cubicBezTo>
                <a:cubicBezTo>
                  <a:pt x="135212" y="216803"/>
                  <a:pt x="156535" y="238125"/>
                  <a:pt x="182837" y="238125"/>
                </a:cubicBezTo>
                <a:close/>
              </a:path>
            </a:pathLst>
          </a:custGeom>
          <a:solidFill>
            <a:srgbClr val="C53030"/>
          </a:solidFill>
          <a:ln>
            <a:noFill/>
          </a:ln>
        </p:spPr>
      </p:sp>
      <p:sp>
        <p:nvSpPr>
          <p:cNvPr id="19" name="TextBox 19"/>
          <p:cNvSpPr txBox="1"/>
          <p:nvPr/>
        </p:nvSpPr>
        <p:spPr>
          <a:xfrm>
            <a:off x="7058025" y="2257425"/>
            <a:ext cx="1298258" cy="304800"/>
          </a:xfrm>
          <a:prstGeom prst="rect">
            <a:avLst/>
          </a:prstGeom>
          <a:noFill/>
          <a:ln>
            <a:noFill/>
          </a:ln>
        </p:spPr>
        <p:txBody>
          <a:bodyPr wrap="none" lIns="0" tIns="0" rIns="0" bIns="0" anchor="t" anchorCtr="0">
            <a:spAutoFit/>
          </a:bodyPr>
          <a:lstStyle/>
          <a:p>
            <a:pPr algn="l"/>
            <a:r>
              <a:rPr lang="zh-CN" sz="1500" b="1" dirty="0">
                <a:solidFill>
                  <a:srgbClr val="C53030"/>
                </a:solidFill>
                <a:latin typeface="Arial"/>
                <a:ea typeface="SimHei"/>
                <a:cs typeface="Arial"/>
              </a:rPr>
              <a:t>核验规则治理</a:t>
            </a:r>
          </a:p>
        </p:txBody>
      </p:sp>
      <p:sp>
        <p:nvSpPr>
          <p:cNvPr id="20" name="TextBox 20"/>
          <p:cNvSpPr txBox="1"/>
          <p:nvPr/>
        </p:nvSpPr>
        <p:spPr>
          <a:xfrm>
            <a:off x="7063740" y="2534602"/>
            <a:ext cx="1888903"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可追溯 · 企业确认 · 版本留痕</a:t>
            </a:r>
          </a:p>
        </p:txBody>
      </p:sp>
      <p:sp>
        <p:nvSpPr>
          <p:cNvPr id="21" name="Line 21"/>
          <p:cNvSpPr/>
          <p:nvPr/>
        </p:nvSpPr>
        <p:spPr>
          <a:xfrm>
            <a:off x="6543675" y="2781300"/>
            <a:ext cx="4905375" cy="9525"/>
          </a:xfrm>
          <a:custGeom>
            <a:avLst/>
            <a:gdLst/>
            <a:ahLst/>
            <a:cxnLst/>
            <a:rect l="l" t="t" r="r" b="b"/>
            <a:pathLst>
              <a:path w="4905375" h="9525">
                <a:moveTo>
                  <a:pt x="0" y="0"/>
                </a:moveTo>
                <a:lnTo>
                  <a:pt x="4905375" y="0"/>
                </a:lnTo>
              </a:path>
            </a:pathLst>
          </a:custGeom>
          <a:noFill/>
          <a:ln w="9525">
            <a:solidFill>
              <a:srgbClr val="CBD5E0"/>
            </a:solidFill>
          </a:ln>
        </p:spPr>
      </p:sp>
      <p:sp>
        <p:nvSpPr>
          <p:cNvPr id="22" name="TextBox 22"/>
          <p:cNvSpPr txBox="1"/>
          <p:nvPr/>
        </p:nvSpPr>
        <p:spPr>
          <a:xfrm>
            <a:off x="6528435" y="2899410"/>
            <a:ext cx="1859280" cy="12344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 准入规则由企业确认后</a:t>
            </a:r>
            <a:r>
              <a:rPr lang="zh-CN" sz="1200" dirty="0">
                <a:solidFill>
                  <a:srgbClr val="1A1A2E"/>
                </a:solidFill>
                <a:latin typeface="Arial"/>
                <a:ea typeface="Microsoft YaHei"/>
                <a:cs typeface="Arial"/>
              </a:rPr>
              <a:t>方可生效，双方留痕</a:t>
            </a:r>
            <a:r>
              <a:rPr lang="zh-CN" sz="1200" dirty="0">
                <a:solidFill>
                  <a:srgbClr val="1A1A2E"/>
                </a:solidFill>
                <a:latin typeface="Arial"/>
                <a:ea typeface="Microsoft YaHei"/>
                <a:cs typeface="Arial"/>
              </a:rPr>
              <a:t>· 规则修改须重新确认，</a:t>
            </a:r>
            <a:r>
              <a:rPr lang="zh-CN" sz="1200" dirty="0">
                <a:solidFill>
                  <a:srgbClr val="1A1A2E"/>
                </a:solidFill>
                <a:latin typeface="Arial"/>
                <a:ea typeface="Microsoft YaHei"/>
                <a:cs typeface="Arial"/>
              </a:rPr>
              <a:t>历史核验结论基于生效版本</a:t>
            </a:r>
            <a:r>
              <a:rPr lang="zh-CN" sz="1200" dirty="0">
                <a:solidFill>
                  <a:srgbClr val="1A1A2E"/>
                </a:solidFill>
                <a:latin typeface="Arial"/>
                <a:ea typeface="Microsoft YaHei"/>
                <a:cs typeface="Arial"/>
              </a:rPr>
              <a:t>· 支持人工复核申请</a:t>
            </a:r>
          </a:p>
        </p:txBody>
      </p:sp>
      <p:sp>
        <p:nvSpPr>
          <p:cNvPr id="23" name="Rectangle 23"/>
          <p:cNvSpPr/>
          <p:nvPr/>
        </p:nvSpPr>
        <p:spPr>
          <a:xfrm>
            <a:off x="552450" y="4362450"/>
            <a:ext cx="5305425" cy="2000250"/>
          </a:xfrm>
          <a:prstGeom prst="roundRect">
            <a:avLst>
              <a:gd name="adj" fmla="val 1905"/>
            </a:avLst>
          </a:prstGeom>
          <a:solidFill>
            <a:srgbClr val="F0F4F8"/>
          </a:solidFill>
          <a:ln>
            <a:noFill/>
          </a:ln>
        </p:spPr>
      </p:sp>
      <p:sp>
        <p:nvSpPr>
          <p:cNvPr id="24" name="Rectangle 24"/>
          <p:cNvSpPr/>
          <p:nvPr/>
        </p:nvSpPr>
        <p:spPr>
          <a:xfrm>
            <a:off x="552450" y="4362450"/>
            <a:ext cx="5305425" cy="47625"/>
          </a:xfrm>
          <a:prstGeom prst="roundRect">
            <a:avLst>
              <a:gd name="adj" fmla="val 40000"/>
            </a:avLst>
          </a:prstGeom>
          <a:solidFill>
            <a:srgbClr val="4A90D9"/>
          </a:solidFill>
          <a:ln>
            <a:noFill/>
          </a:ln>
        </p:spPr>
      </p:sp>
      <p:sp>
        <p:nvSpPr>
          <p:cNvPr id="25" name="Freeform 25"/>
          <p:cNvSpPr/>
          <p:nvPr/>
        </p:nvSpPr>
        <p:spPr>
          <a:xfrm>
            <a:off x="762000" y="4552950"/>
            <a:ext cx="381000" cy="381000"/>
          </a:xfrm>
          <a:custGeom>
            <a:avLst/>
            <a:gdLst/>
            <a:ahLst/>
            <a:cxnLst/>
            <a:rect l="l" t="t" r="r" b="b"/>
            <a:pathLst>
              <a:path w="381000" h="381000">
                <a:moveTo>
                  <a:pt x="190500" y="381000"/>
                </a:moveTo>
                <a:cubicBezTo>
                  <a:pt x="295711" y="381000"/>
                  <a:pt x="381000" y="295711"/>
                  <a:pt x="381000" y="190500"/>
                </a:cubicBezTo>
                <a:cubicBezTo>
                  <a:pt x="381000" y="85290"/>
                  <a:pt x="295711" y="0"/>
                  <a:pt x="190500" y="0"/>
                </a:cubicBezTo>
                <a:cubicBezTo>
                  <a:pt x="85290" y="0"/>
                  <a:pt x="0" y="85290"/>
                  <a:pt x="0" y="190500"/>
                </a:cubicBezTo>
                <a:cubicBezTo>
                  <a:pt x="0" y="295711"/>
                  <a:pt x="85290" y="381000"/>
                  <a:pt x="190500" y="381000"/>
                </a:cubicBezTo>
                <a:close/>
                <a:moveTo>
                  <a:pt x="302588" y="135901"/>
                </a:moveTo>
                <a:lnTo>
                  <a:pt x="268912" y="102224"/>
                </a:lnTo>
                <a:lnTo>
                  <a:pt x="154781" y="216355"/>
                </a:lnTo>
                <a:lnTo>
                  <a:pt x="112088" y="173662"/>
                </a:lnTo>
                <a:lnTo>
                  <a:pt x="78412" y="207338"/>
                </a:lnTo>
                <a:lnTo>
                  <a:pt x="154781" y="283707"/>
                </a:lnTo>
                <a:lnTo>
                  <a:pt x="302588" y="135901"/>
                </a:lnTo>
                <a:close/>
              </a:path>
            </a:pathLst>
          </a:custGeom>
          <a:solidFill>
            <a:srgbClr val="4A90D9"/>
          </a:solidFill>
          <a:ln>
            <a:noFill/>
          </a:ln>
        </p:spPr>
      </p:sp>
      <p:sp>
        <p:nvSpPr>
          <p:cNvPr id="26" name="TextBox 26"/>
          <p:cNvSpPr txBox="1"/>
          <p:nvPr/>
        </p:nvSpPr>
        <p:spPr>
          <a:xfrm>
            <a:off x="1276350" y="4638675"/>
            <a:ext cx="1298258" cy="304800"/>
          </a:xfrm>
          <a:prstGeom prst="rect">
            <a:avLst/>
          </a:prstGeom>
          <a:noFill/>
          <a:ln>
            <a:noFill/>
          </a:ln>
        </p:spPr>
        <p:txBody>
          <a:bodyPr wrap="none" lIns="0" tIns="0" rIns="0" bIns="0" anchor="t" anchorCtr="0">
            <a:spAutoFit/>
          </a:bodyPr>
          <a:lstStyle/>
          <a:p>
            <a:pPr algn="l"/>
            <a:r>
              <a:rPr lang="zh-CN" sz="1500" b="1" dirty="0">
                <a:solidFill>
                  <a:srgbClr val="4A90D9"/>
                </a:solidFill>
                <a:latin typeface="Arial"/>
                <a:ea typeface="SimHei"/>
                <a:cs typeface="Arial"/>
              </a:rPr>
              <a:t>数据质量治理</a:t>
            </a:r>
          </a:p>
        </p:txBody>
      </p:sp>
      <p:sp>
        <p:nvSpPr>
          <p:cNvPr id="27" name="TextBox 27"/>
          <p:cNvSpPr txBox="1"/>
          <p:nvPr/>
        </p:nvSpPr>
        <p:spPr>
          <a:xfrm>
            <a:off x="1282065" y="4915852"/>
            <a:ext cx="1888903"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完整性 · 来源可信 · 异常纠错</a:t>
            </a:r>
          </a:p>
        </p:txBody>
      </p:sp>
      <p:sp>
        <p:nvSpPr>
          <p:cNvPr id="28" name="Line 28"/>
          <p:cNvSpPr/>
          <p:nvPr/>
        </p:nvSpPr>
        <p:spPr>
          <a:xfrm>
            <a:off x="762000" y="5143500"/>
            <a:ext cx="4905375" cy="9525"/>
          </a:xfrm>
          <a:custGeom>
            <a:avLst/>
            <a:gdLst/>
            <a:ahLst/>
            <a:cxnLst/>
            <a:rect l="l" t="t" r="r" b="b"/>
            <a:pathLst>
              <a:path w="4905375" h="9525">
                <a:moveTo>
                  <a:pt x="0" y="0"/>
                </a:moveTo>
                <a:lnTo>
                  <a:pt x="4905375" y="0"/>
                </a:lnTo>
              </a:path>
            </a:pathLst>
          </a:custGeom>
          <a:noFill/>
          <a:ln w="9525">
            <a:solidFill>
              <a:srgbClr val="CBD5E0"/>
            </a:solidFill>
          </a:ln>
        </p:spPr>
      </p:sp>
      <p:sp>
        <p:nvSpPr>
          <p:cNvPr id="29" name="TextBox 29"/>
          <p:cNvSpPr txBox="1"/>
          <p:nvPr/>
        </p:nvSpPr>
        <p:spPr>
          <a:xfrm>
            <a:off x="746760" y="5261610"/>
            <a:ext cx="1988820" cy="7391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 关键字段完整性自动校验</a:t>
            </a:r>
            <a:r>
              <a:rPr lang="zh-CN" sz="1200" dirty="0">
                <a:solidFill>
                  <a:srgbClr val="1A1A2E"/>
                </a:solidFill>
                <a:latin typeface="Arial"/>
                <a:ea typeface="Microsoft YaHei"/>
                <a:cs typeface="Arial"/>
              </a:rPr>
              <a:t>· 每条核验记录标注来源渠道</a:t>
            </a:r>
            <a:r>
              <a:rPr lang="zh-CN" sz="1200" dirty="0">
                <a:solidFill>
                  <a:srgbClr val="1A1A2E"/>
                </a:solidFill>
                <a:latin typeface="Arial"/>
                <a:ea typeface="Microsoft YaHei"/>
                <a:cs typeface="Arial"/>
              </a:rPr>
              <a:t>· 异常数据人工审核纠错流程</a:t>
            </a:r>
          </a:p>
        </p:txBody>
      </p:sp>
      <p:sp>
        <p:nvSpPr>
          <p:cNvPr id="30" name="Rectangle 30"/>
          <p:cNvSpPr/>
          <p:nvPr/>
        </p:nvSpPr>
        <p:spPr>
          <a:xfrm>
            <a:off x="6334125" y="4362450"/>
            <a:ext cx="5305425" cy="2000250"/>
          </a:xfrm>
          <a:prstGeom prst="roundRect">
            <a:avLst>
              <a:gd name="adj" fmla="val 1905"/>
            </a:avLst>
          </a:prstGeom>
          <a:solidFill>
            <a:srgbClr val="F0F4F8"/>
          </a:solidFill>
          <a:ln>
            <a:noFill/>
          </a:ln>
        </p:spPr>
      </p:sp>
      <p:sp>
        <p:nvSpPr>
          <p:cNvPr id="31" name="Rectangle 31"/>
          <p:cNvSpPr/>
          <p:nvPr/>
        </p:nvSpPr>
        <p:spPr>
          <a:xfrm>
            <a:off x="6334125" y="4362450"/>
            <a:ext cx="5305425" cy="47625"/>
          </a:xfrm>
          <a:prstGeom prst="roundRect">
            <a:avLst>
              <a:gd name="adj" fmla="val 40000"/>
            </a:avLst>
          </a:prstGeom>
          <a:solidFill>
            <a:srgbClr val="2D7D46"/>
          </a:solidFill>
          <a:ln>
            <a:noFill/>
          </a:ln>
        </p:spPr>
      </p:sp>
      <p:sp>
        <p:nvSpPr>
          <p:cNvPr id="32" name="Freeform 32"/>
          <p:cNvSpPr/>
          <p:nvPr/>
        </p:nvSpPr>
        <p:spPr>
          <a:xfrm>
            <a:off x="6543675" y="4552950"/>
            <a:ext cx="381000" cy="381000"/>
          </a:xfrm>
          <a:custGeom>
            <a:avLst/>
            <a:gdLst/>
            <a:ahLst/>
            <a:cxnLst/>
            <a:rect l="l" t="t" r="r" b="b"/>
            <a:pathLst>
              <a:path w="381000" h="381000">
                <a:moveTo>
                  <a:pt x="381000" y="190500"/>
                </a:moveTo>
                <a:cubicBezTo>
                  <a:pt x="381000" y="163840"/>
                  <a:pt x="368482" y="140103"/>
                  <a:pt x="349003" y="124847"/>
                </a:cubicBezTo>
                <a:cubicBezTo>
                  <a:pt x="351989" y="100285"/>
                  <a:pt x="344057" y="74649"/>
                  <a:pt x="325205" y="55797"/>
                </a:cubicBezTo>
                <a:cubicBezTo>
                  <a:pt x="306353" y="36946"/>
                  <a:pt x="280716" y="29013"/>
                  <a:pt x="256156" y="31999"/>
                </a:cubicBezTo>
                <a:cubicBezTo>
                  <a:pt x="240899" y="12519"/>
                  <a:pt x="217161" y="0"/>
                  <a:pt x="190500" y="0"/>
                </a:cubicBezTo>
                <a:cubicBezTo>
                  <a:pt x="163840" y="0"/>
                  <a:pt x="140103" y="12518"/>
                  <a:pt x="124847" y="31997"/>
                </a:cubicBezTo>
                <a:cubicBezTo>
                  <a:pt x="100285" y="29011"/>
                  <a:pt x="74649" y="36943"/>
                  <a:pt x="55796" y="55796"/>
                </a:cubicBezTo>
                <a:cubicBezTo>
                  <a:pt x="36944" y="74648"/>
                  <a:pt x="29012" y="100284"/>
                  <a:pt x="31998" y="124846"/>
                </a:cubicBezTo>
                <a:cubicBezTo>
                  <a:pt x="12519" y="140102"/>
                  <a:pt x="0" y="163839"/>
                  <a:pt x="0" y="190500"/>
                </a:cubicBezTo>
                <a:cubicBezTo>
                  <a:pt x="0" y="217160"/>
                  <a:pt x="12518" y="240897"/>
                  <a:pt x="31997" y="256153"/>
                </a:cubicBezTo>
                <a:cubicBezTo>
                  <a:pt x="29011" y="280716"/>
                  <a:pt x="36943" y="306353"/>
                  <a:pt x="55796" y="325203"/>
                </a:cubicBezTo>
                <a:cubicBezTo>
                  <a:pt x="74648" y="344055"/>
                  <a:pt x="100284" y="351989"/>
                  <a:pt x="124846" y="349001"/>
                </a:cubicBezTo>
                <a:cubicBezTo>
                  <a:pt x="140102" y="368482"/>
                  <a:pt x="163839" y="381000"/>
                  <a:pt x="190500" y="381000"/>
                </a:cubicBezTo>
                <a:cubicBezTo>
                  <a:pt x="217160" y="381000"/>
                  <a:pt x="240897" y="368482"/>
                  <a:pt x="256153" y="349003"/>
                </a:cubicBezTo>
                <a:cubicBezTo>
                  <a:pt x="280714" y="351989"/>
                  <a:pt x="306350" y="344057"/>
                  <a:pt x="325203" y="325205"/>
                </a:cubicBezTo>
                <a:cubicBezTo>
                  <a:pt x="344055" y="306353"/>
                  <a:pt x="351987" y="280716"/>
                  <a:pt x="349001" y="256156"/>
                </a:cubicBezTo>
                <a:cubicBezTo>
                  <a:pt x="368482" y="240899"/>
                  <a:pt x="381000" y="217161"/>
                  <a:pt x="381000" y="190500"/>
                </a:cubicBezTo>
                <a:close/>
              </a:path>
            </a:pathLst>
          </a:custGeom>
          <a:solidFill>
            <a:srgbClr val="2D7D46"/>
          </a:solidFill>
          <a:ln>
            <a:noFill/>
          </a:ln>
        </p:spPr>
      </p:sp>
      <p:sp>
        <p:nvSpPr>
          <p:cNvPr id="33" name="TextBox 33"/>
          <p:cNvSpPr txBox="1"/>
          <p:nvPr/>
        </p:nvSpPr>
        <p:spPr>
          <a:xfrm>
            <a:off x="7058025" y="4638675"/>
            <a:ext cx="1298258" cy="304800"/>
          </a:xfrm>
          <a:prstGeom prst="rect">
            <a:avLst/>
          </a:prstGeom>
          <a:noFill/>
          <a:ln>
            <a:noFill/>
          </a:ln>
        </p:spPr>
        <p:txBody>
          <a:bodyPr wrap="none" lIns="0" tIns="0" rIns="0" bIns="0" anchor="t" anchorCtr="0">
            <a:spAutoFit/>
          </a:bodyPr>
          <a:lstStyle/>
          <a:p>
            <a:pPr algn="l"/>
            <a:r>
              <a:rPr lang="zh-CN" sz="1500" b="1" dirty="0">
                <a:solidFill>
                  <a:srgbClr val="2D7D46"/>
                </a:solidFill>
                <a:latin typeface="Arial"/>
                <a:ea typeface="SimHei"/>
                <a:cs typeface="Arial"/>
              </a:rPr>
              <a:t>结果质量治理</a:t>
            </a:r>
          </a:p>
        </p:txBody>
      </p:sp>
      <p:sp>
        <p:nvSpPr>
          <p:cNvPr id="34" name="TextBox 34"/>
          <p:cNvSpPr txBox="1"/>
          <p:nvPr/>
        </p:nvSpPr>
        <p:spPr>
          <a:xfrm>
            <a:off x="7063740" y="4915852"/>
            <a:ext cx="2028920" cy="213360"/>
          </a:xfrm>
          <a:prstGeom prst="rect">
            <a:avLst/>
          </a:prstGeom>
          <a:noFill/>
          <a:ln>
            <a:noFill/>
          </a:ln>
        </p:spPr>
        <p:txBody>
          <a:bodyPr wrap="none" lIns="0" tIns="0" rIns="0" bIns="0" anchor="t" anchorCtr="0">
            <a:spAutoFit/>
          </a:bodyPr>
          <a:lstStyle/>
          <a:p>
            <a:pPr algn="l"/>
            <a:r>
              <a:rPr lang="zh-CN" sz="1050" dirty="0">
                <a:solidFill>
                  <a:srgbClr val="4A5568"/>
                </a:solidFill>
                <a:latin typeface="Arial"/>
                <a:ea typeface="Microsoft YaHei"/>
                <a:cs typeface="Arial"/>
              </a:rPr>
              <a:t>依据摘要 · 争议复核 · 申诉更正</a:t>
            </a:r>
          </a:p>
        </p:txBody>
      </p:sp>
      <p:sp>
        <p:nvSpPr>
          <p:cNvPr id="35" name="Line 35"/>
          <p:cNvSpPr/>
          <p:nvPr/>
        </p:nvSpPr>
        <p:spPr>
          <a:xfrm>
            <a:off x="6543675" y="5143500"/>
            <a:ext cx="4905375" cy="9525"/>
          </a:xfrm>
          <a:custGeom>
            <a:avLst/>
            <a:gdLst/>
            <a:ahLst/>
            <a:cxnLst/>
            <a:rect l="l" t="t" r="r" b="b"/>
            <a:pathLst>
              <a:path w="4905375" h="9525">
                <a:moveTo>
                  <a:pt x="0" y="0"/>
                </a:moveTo>
                <a:lnTo>
                  <a:pt x="4905375" y="0"/>
                </a:lnTo>
              </a:path>
            </a:pathLst>
          </a:custGeom>
          <a:noFill/>
          <a:ln w="9525">
            <a:solidFill>
              <a:srgbClr val="CBD5E0"/>
            </a:solidFill>
          </a:ln>
        </p:spPr>
      </p:sp>
      <p:sp>
        <p:nvSpPr>
          <p:cNvPr id="36" name="TextBox 36"/>
          <p:cNvSpPr txBox="1"/>
          <p:nvPr/>
        </p:nvSpPr>
        <p:spPr>
          <a:xfrm>
            <a:off x="6528435" y="5261610"/>
            <a:ext cx="1836420" cy="739140"/>
          </a:xfrm>
          <a:prstGeom prst="rect">
            <a:avLst/>
          </a:prstGeom>
          <a:noFill/>
          <a:ln>
            <a:noFill/>
          </a:ln>
        </p:spPr>
        <p:txBody>
          <a:bodyPr wrap="square" lIns="0" tIns="0" rIns="0" bIns="0" anchor="t" anchorCtr="0"/>
          <a:lstStyle/>
          <a:p>
            <a:pPr algn="l">
              <a:lnSpc>
                <a:spcPts val="1950"/>
              </a:lnSpc>
            </a:pPr>
            <a:r>
              <a:rPr lang="zh-CN" sz="1200" dirty="0">
                <a:solidFill>
                  <a:srgbClr val="1A1A2E"/>
                </a:solidFill>
                <a:latin typeface="Arial"/>
                <a:ea typeface="Microsoft YaHei"/>
                <a:cs typeface="Arial"/>
              </a:rPr>
              <a:t>· 每份核验结论附依据摘要</a:t>
            </a:r>
            <a:r>
              <a:rPr lang="zh-CN" sz="1200" dirty="0">
                <a:solidFill>
                  <a:srgbClr val="1A1A2E"/>
                </a:solidFill>
                <a:latin typeface="Arial"/>
                <a:ea typeface="Microsoft YaHei"/>
                <a:cs typeface="Arial"/>
              </a:rPr>
              <a:t>· 个人对结论有申诉权，</a:t>
            </a:r>
            <a:r>
              <a:rPr lang="zh-CN" sz="1200" dirty="0">
                <a:solidFill>
                  <a:srgbClr val="1A1A2E"/>
                </a:solidFill>
                <a:latin typeface="Arial"/>
                <a:ea typeface="Microsoft YaHei"/>
                <a:cs typeface="Arial"/>
              </a:rPr>
              <a:t>平台提供人工复核通道</a:t>
            </a:r>
          </a:p>
        </p:txBody>
      </p:sp>
      <p:sp>
        <p:nvSpPr>
          <p:cNvPr id="37" name="TextBox 37"/>
          <p:cNvSpPr txBox="1"/>
          <p:nvPr/>
        </p:nvSpPr>
        <p:spPr>
          <a:xfrm>
            <a:off x="3174504" y="6419374"/>
            <a:ext cx="5842992"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四类治理覆盖"输入质量→处理规则→过程数据→输出结论"完整链条，是企业敢用核验结果的信任前提。</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077912"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第四章 · 实施与运营</a:t>
            </a:r>
          </a:p>
        </p:txBody>
      </p:sp>
      <p:sp>
        <p:nvSpPr>
          <p:cNvPr id="4" name="TextBox 4"/>
          <p:cNvSpPr txBox="1"/>
          <p:nvPr/>
        </p:nvSpPr>
        <p:spPr>
          <a:xfrm>
            <a:off x="525780" y="1183005"/>
            <a:ext cx="5669442"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实施计划：90天五阶段，先行验证快速交付</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66875"/>
            <a:ext cx="2266950" cy="285750"/>
          </a:xfrm>
          <a:prstGeom prst="rect">
            <a:avLst/>
          </a:prstGeom>
          <a:solidFill>
            <a:srgbClr val="003A70"/>
          </a:solidFill>
          <a:ln>
            <a:noFill/>
          </a:ln>
        </p:spPr>
      </p:sp>
      <p:sp>
        <p:nvSpPr>
          <p:cNvPr id="7" name="TextBox 7"/>
          <p:cNvSpPr txBox="1"/>
          <p:nvPr/>
        </p:nvSpPr>
        <p:spPr>
          <a:xfrm>
            <a:off x="1185494" y="1761649"/>
            <a:ext cx="100086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SimHei"/>
                <a:cs typeface="Arial"/>
              </a:rPr>
              <a:t>阶段 / 主要任务</a:t>
            </a:r>
          </a:p>
        </p:txBody>
      </p:sp>
      <p:sp>
        <p:nvSpPr>
          <p:cNvPr id="8" name="Rectangle 8"/>
          <p:cNvSpPr/>
          <p:nvPr/>
        </p:nvSpPr>
        <p:spPr>
          <a:xfrm>
            <a:off x="2838450" y="1666875"/>
            <a:ext cx="8686800" cy="285750"/>
          </a:xfrm>
          <a:prstGeom prst="rect">
            <a:avLst/>
          </a:prstGeom>
          <a:solidFill>
            <a:srgbClr val="003A70"/>
          </a:solidFill>
          <a:ln>
            <a:noFill/>
          </a:ln>
        </p:spPr>
      </p:sp>
      <p:sp>
        <p:nvSpPr>
          <p:cNvPr id="9" name="TextBox 9"/>
          <p:cNvSpPr txBox="1"/>
          <p:nvPr/>
        </p:nvSpPr>
        <p:spPr>
          <a:xfrm>
            <a:off x="31109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W1</a:t>
            </a:r>
          </a:p>
        </p:txBody>
      </p:sp>
      <p:sp>
        <p:nvSpPr>
          <p:cNvPr id="10" name="TextBox 10"/>
          <p:cNvSpPr txBox="1"/>
          <p:nvPr/>
        </p:nvSpPr>
        <p:spPr>
          <a:xfrm>
            <a:off x="38348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W2</a:t>
            </a:r>
          </a:p>
        </p:txBody>
      </p:sp>
      <p:sp>
        <p:nvSpPr>
          <p:cNvPr id="11" name="TextBox 11"/>
          <p:cNvSpPr txBox="1"/>
          <p:nvPr/>
        </p:nvSpPr>
        <p:spPr>
          <a:xfrm>
            <a:off x="45587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W3</a:t>
            </a:r>
          </a:p>
        </p:txBody>
      </p:sp>
      <p:sp>
        <p:nvSpPr>
          <p:cNvPr id="12" name="TextBox 12"/>
          <p:cNvSpPr txBox="1"/>
          <p:nvPr/>
        </p:nvSpPr>
        <p:spPr>
          <a:xfrm>
            <a:off x="52826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W4</a:t>
            </a:r>
          </a:p>
        </p:txBody>
      </p:sp>
      <p:sp>
        <p:nvSpPr>
          <p:cNvPr id="13" name="TextBox 13"/>
          <p:cNvSpPr txBox="1"/>
          <p:nvPr/>
        </p:nvSpPr>
        <p:spPr>
          <a:xfrm>
            <a:off x="60065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W5</a:t>
            </a:r>
          </a:p>
        </p:txBody>
      </p:sp>
      <p:sp>
        <p:nvSpPr>
          <p:cNvPr id="14" name="TextBox 14"/>
          <p:cNvSpPr txBox="1"/>
          <p:nvPr/>
        </p:nvSpPr>
        <p:spPr>
          <a:xfrm>
            <a:off x="67304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W6</a:t>
            </a:r>
          </a:p>
        </p:txBody>
      </p:sp>
      <p:sp>
        <p:nvSpPr>
          <p:cNvPr id="15" name="TextBox 15"/>
          <p:cNvSpPr txBox="1"/>
          <p:nvPr/>
        </p:nvSpPr>
        <p:spPr>
          <a:xfrm>
            <a:off x="74543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W7</a:t>
            </a:r>
          </a:p>
        </p:txBody>
      </p:sp>
      <p:sp>
        <p:nvSpPr>
          <p:cNvPr id="16" name="TextBox 16"/>
          <p:cNvSpPr txBox="1"/>
          <p:nvPr/>
        </p:nvSpPr>
        <p:spPr>
          <a:xfrm>
            <a:off x="81782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W8</a:t>
            </a:r>
          </a:p>
        </p:txBody>
      </p:sp>
      <p:sp>
        <p:nvSpPr>
          <p:cNvPr id="17" name="TextBox 17"/>
          <p:cNvSpPr txBox="1"/>
          <p:nvPr/>
        </p:nvSpPr>
        <p:spPr>
          <a:xfrm>
            <a:off x="8902160" y="1769745"/>
            <a:ext cx="178880"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W9</a:t>
            </a:r>
          </a:p>
        </p:txBody>
      </p:sp>
      <p:sp>
        <p:nvSpPr>
          <p:cNvPr id="18" name="TextBox 18"/>
          <p:cNvSpPr txBox="1"/>
          <p:nvPr/>
        </p:nvSpPr>
        <p:spPr>
          <a:xfrm>
            <a:off x="9593056" y="1769745"/>
            <a:ext cx="244888"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W10</a:t>
            </a:r>
          </a:p>
        </p:txBody>
      </p:sp>
      <p:sp>
        <p:nvSpPr>
          <p:cNvPr id="19" name="TextBox 19"/>
          <p:cNvSpPr txBox="1"/>
          <p:nvPr/>
        </p:nvSpPr>
        <p:spPr>
          <a:xfrm>
            <a:off x="10316956" y="1769745"/>
            <a:ext cx="244888"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W11</a:t>
            </a:r>
          </a:p>
        </p:txBody>
      </p:sp>
      <p:sp>
        <p:nvSpPr>
          <p:cNvPr id="20" name="TextBox 20"/>
          <p:cNvSpPr txBox="1"/>
          <p:nvPr/>
        </p:nvSpPr>
        <p:spPr>
          <a:xfrm>
            <a:off x="11040856" y="1769745"/>
            <a:ext cx="244888" cy="182880"/>
          </a:xfrm>
          <a:prstGeom prst="rect">
            <a:avLst/>
          </a:prstGeom>
          <a:noFill/>
          <a:ln>
            <a:noFill/>
          </a:ln>
        </p:spPr>
        <p:txBody>
          <a:bodyPr wrap="none" lIns="0" tIns="0" rIns="0" bIns="0" anchor="t" anchorCtr="0">
            <a:spAutoFit/>
          </a:bodyPr>
          <a:lstStyle/>
          <a:p>
            <a:pPr algn="ctr"/>
            <a:r>
              <a:rPr lang="en-US" sz="900" dirty="0">
                <a:solidFill>
                  <a:srgbClr val="E8EDF3"/>
                </a:solidFill>
                <a:latin typeface="Arial"/>
                <a:ea typeface="Arial"/>
                <a:cs typeface="Arial"/>
              </a:rPr>
              <a:t>W12</a:t>
            </a:r>
          </a:p>
        </p:txBody>
      </p:sp>
      <p:sp>
        <p:nvSpPr>
          <p:cNvPr id="21" name="Line 21"/>
          <p:cNvSpPr/>
          <p:nvPr/>
        </p:nvSpPr>
        <p:spPr>
          <a:xfrm>
            <a:off x="35623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2" name="Line 22"/>
          <p:cNvSpPr/>
          <p:nvPr/>
        </p:nvSpPr>
        <p:spPr>
          <a:xfrm>
            <a:off x="42862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3" name="Line 23"/>
          <p:cNvSpPr/>
          <p:nvPr/>
        </p:nvSpPr>
        <p:spPr>
          <a:xfrm>
            <a:off x="50101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4" name="Line 24"/>
          <p:cNvSpPr/>
          <p:nvPr/>
        </p:nvSpPr>
        <p:spPr>
          <a:xfrm>
            <a:off x="57340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5" name="Line 25"/>
          <p:cNvSpPr/>
          <p:nvPr/>
        </p:nvSpPr>
        <p:spPr>
          <a:xfrm>
            <a:off x="64579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6" name="Line 26"/>
          <p:cNvSpPr/>
          <p:nvPr/>
        </p:nvSpPr>
        <p:spPr>
          <a:xfrm>
            <a:off x="71818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7" name="Line 27"/>
          <p:cNvSpPr/>
          <p:nvPr/>
        </p:nvSpPr>
        <p:spPr>
          <a:xfrm>
            <a:off x="79057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8" name="Line 28"/>
          <p:cNvSpPr/>
          <p:nvPr/>
        </p:nvSpPr>
        <p:spPr>
          <a:xfrm>
            <a:off x="86296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29" name="Line 29"/>
          <p:cNvSpPr/>
          <p:nvPr/>
        </p:nvSpPr>
        <p:spPr>
          <a:xfrm>
            <a:off x="93535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30" name="Line 30"/>
          <p:cNvSpPr/>
          <p:nvPr/>
        </p:nvSpPr>
        <p:spPr>
          <a:xfrm>
            <a:off x="100774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31" name="Line 31"/>
          <p:cNvSpPr/>
          <p:nvPr/>
        </p:nvSpPr>
        <p:spPr>
          <a:xfrm>
            <a:off x="108013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32" name="Line 32"/>
          <p:cNvSpPr/>
          <p:nvPr/>
        </p:nvSpPr>
        <p:spPr>
          <a:xfrm>
            <a:off x="11525250" y="1952625"/>
            <a:ext cx="9525" cy="4238625"/>
          </a:xfrm>
          <a:custGeom>
            <a:avLst/>
            <a:gdLst/>
            <a:ahLst/>
            <a:cxnLst/>
            <a:rect l="l" t="t" r="r" b="b"/>
            <a:pathLst>
              <a:path w="9525" h="4238625">
                <a:moveTo>
                  <a:pt x="0" y="0"/>
                </a:moveTo>
                <a:lnTo>
                  <a:pt x="0" y="4238625"/>
                </a:lnTo>
              </a:path>
            </a:pathLst>
          </a:custGeom>
          <a:noFill/>
          <a:ln w="9525">
            <a:solidFill>
              <a:srgbClr val="E2E8F0"/>
            </a:solidFill>
          </a:ln>
        </p:spPr>
      </p:sp>
      <p:sp>
        <p:nvSpPr>
          <p:cNvPr id="33" name="Rectangle 33"/>
          <p:cNvSpPr/>
          <p:nvPr/>
        </p:nvSpPr>
        <p:spPr>
          <a:xfrm>
            <a:off x="552450" y="1952625"/>
            <a:ext cx="2266950" cy="838200"/>
          </a:xfrm>
          <a:prstGeom prst="rect">
            <a:avLst/>
          </a:prstGeom>
          <a:solidFill>
            <a:srgbClr val="F0F4F8"/>
          </a:solidFill>
          <a:ln>
            <a:noFill/>
          </a:ln>
        </p:spPr>
      </p:sp>
      <p:sp>
        <p:nvSpPr>
          <p:cNvPr id="34" name="Rectangle 34"/>
          <p:cNvSpPr/>
          <p:nvPr/>
        </p:nvSpPr>
        <p:spPr>
          <a:xfrm>
            <a:off x="2838450" y="1952625"/>
            <a:ext cx="8686800" cy="838200"/>
          </a:xfrm>
          <a:prstGeom prst="rect">
            <a:avLst/>
          </a:prstGeom>
          <a:solidFill>
            <a:srgbClr val="FAFBFC"/>
          </a:solidFill>
          <a:ln>
            <a:noFill/>
          </a:ln>
        </p:spPr>
      </p:sp>
      <p:sp>
        <p:nvSpPr>
          <p:cNvPr id="35" name="TextBox 35"/>
          <p:cNvSpPr txBox="1"/>
          <p:nvPr/>
        </p:nvSpPr>
        <p:spPr>
          <a:xfrm>
            <a:off x="710565" y="2144078"/>
            <a:ext cx="614744" cy="213360"/>
          </a:xfrm>
          <a:prstGeom prst="rect">
            <a:avLst/>
          </a:prstGeom>
          <a:noFill/>
          <a:ln>
            <a:noFill/>
          </a:ln>
        </p:spPr>
        <p:txBody>
          <a:bodyPr wrap="none" lIns="0" tIns="0" rIns="0" bIns="0" anchor="t" anchorCtr="0">
            <a:spAutoFit/>
          </a:bodyPr>
          <a:lstStyle/>
          <a:p>
            <a:pPr algn="l"/>
            <a:r>
              <a:rPr lang="zh-CN" sz="1050" b="1" dirty="0">
                <a:solidFill>
                  <a:srgbClr val="003A70"/>
                </a:solidFill>
                <a:latin typeface="Arial"/>
                <a:ea typeface="SimHei"/>
                <a:cs typeface="Arial"/>
              </a:rPr>
              <a:t>启动准备</a:t>
            </a:r>
          </a:p>
        </p:txBody>
      </p:sp>
      <p:sp>
        <p:nvSpPr>
          <p:cNvPr id="36" name="TextBox 36"/>
          <p:cNvSpPr txBox="1"/>
          <p:nvPr/>
        </p:nvSpPr>
        <p:spPr>
          <a:xfrm>
            <a:off x="712470" y="2350770"/>
            <a:ext cx="460915"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第1–2周</a:t>
            </a:r>
          </a:p>
        </p:txBody>
      </p:sp>
      <p:sp>
        <p:nvSpPr>
          <p:cNvPr id="37" name="TextBox 37"/>
          <p:cNvSpPr txBox="1"/>
          <p:nvPr/>
        </p:nvSpPr>
        <p:spPr>
          <a:xfrm>
            <a:off x="712470" y="2550795"/>
            <a:ext cx="928973"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任务书·角色分工</a:t>
            </a:r>
          </a:p>
        </p:txBody>
      </p:sp>
      <p:sp>
        <p:nvSpPr>
          <p:cNvPr id="38" name="Rectangle 38"/>
          <p:cNvSpPr/>
          <p:nvPr/>
        </p:nvSpPr>
        <p:spPr>
          <a:xfrm>
            <a:off x="2895600" y="2076450"/>
            <a:ext cx="1371600" cy="266700"/>
          </a:xfrm>
          <a:prstGeom prst="roundRect">
            <a:avLst>
              <a:gd name="adj" fmla="val 10714"/>
            </a:avLst>
          </a:prstGeom>
          <a:solidFill>
            <a:srgbClr val="003A70"/>
          </a:solidFill>
          <a:ln>
            <a:noFill/>
          </a:ln>
        </p:spPr>
      </p:sp>
      <p:sp>
        <p:nvSpPr>
          <p:cNvPr id="39" name="TextBox 39"/>
          <p:cNvSpPr txBox="1"/>
          <p:nvPr/>
        </p:nvSpPr>
        <p:spPr>
          <a:xfrm>
            <a:off x="3149918" y="2160270"/>
            <a:ext cx="86296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项目启动与分工</a:t>
            </a:r>
          </a:p>
        </p:txBody>
      </p:sp>
      <p:sp>
        <p:nvSpPr>
          <p:cNvPr id="40" name="Rectangle 40"/>
          <p:cNvSpPr/>
          <p:nvPr/>
        </p:nvSpPr>
        <p:spPr>
          <a:xfrm>
            <a:off x="2895600" y="2419350"/>
            <a:ext cx="723900" cy="228600"/>
          </a:xfrm>
          <a:prstGeom prst="roundRect">
            <a:avLst>
              <a:gd name="adj" fmla="val 12500"/>
            </a:avLst>
          </a:prstGeom>
          <a:solidFill>
            <a:srgbClr val="4A90D9"/>
          </a:solidFill>
          <a:ln>
            <a:noFill/>
          </a:ln>
        </p:spPr>
      </p:sp>
      <p:sp>
        <p:nvSpPr>
          <p:cNvPr id="41" name="TextBox 41"/>
          <p:cNvSpPr txBox="1"/>
          <p:nvPr/>
        </p:nvSpPr>
        <p:spPr>
          <a:xfrm>
            <a:off x="2917031" y="2492216"/>
            <a:ext cx="68103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先行企业对接</a:t>
            </a:r>
          </a:p>
        </p:txBody>
      </p:sp>
      <p:sp>
        <p:nvSpPr>
          <p:cNvPr id="42" name="Polygon 42"/>
          <p:cNvSpPr/>
          <p:nvPr/>
        </p:nvSpPr>
        <p:spPr>
          <a:xfrm>
            <a:off x="4171950" y="2305050"/>
            <a:ext cx="190500" cy="190500"/>
          </a:xfrm>
          <a:custGeom>
            <a:avLst/>
            <a:gdLst/>
            <a:ahLst/>
            <a:cxnLst/>
            <a:rect l="l" t="t" r="r" b="b"/>
            <a:pathLst>
              <a:path w="190500" h="190500">
                <a:moveTo>
                  <a:pt x="95250" y="0"/>
                </a:moveTo>
                <a:lnTo>
                  <a:pt x="190500" y="95250"/>
                </a:lnTo>
                <a:lnTo>
                  <a:pt x="95250" y="190500"/>
                </a:lnTo>
                <a:lnTo>
                  <a:pt x="0" y="95250"/>
                </a:lnTo>
                <a:close/>
              </a:path>
            </a:pathLst>
          </a:custGeom>
          <a:solidFill>
            <a:srgbClr val="C53030"/>
          </a:solidFill>
          <a:ln>
            <a:noFill/>
          </a:ln>
        </p:spPr>
      </p:sp>
      <p:sp>
        <p:nvSpPr>
          <p:cNvPr id="43" name="Line 43"/>
          <p:cNvSpPr/>
          <p:nvPr/>
        </p:nvSpPr>
        <p:spPr>
          <a:xfrm>
            <a:off x="552450" y="27908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44" name="Rectangle 44"/>
          <p:cNvSpPr/>
          <p:nvPr/>
        </p:nvSpPr>
        <p:spPr>
          <a:xfrm>
            <a:off x="552450" y="2790825"/>
            <a:ext cx="2266950" cy="838200"/>
          </a:xfrm>
          <a:prstGeom prst="rect">
            <a:avLst/>
          </a:prstGeom>
          <a:solidFill>
            <a:srgbClr val="FFFFFF"/>
          </a:solidFill>
          <a:ln>
            <a:noFill/>
          </a:ln>
        </p:spPr>
      </p:sp>
      <p:sp>
        <p:nvSpPr>
          <p:cNvPr id="45" name="Rectangle 45"/>
          <p:cNvSpPr/>
          <p:nvPr/>
        </p:nvSpPr>
        <p:spPr>
          <a:xfrm>
            <a:off x="2838450" y="2790825"/>
            <a:ext cx="8686800" cy="838200"/>
          </a:xfrm>
          <a:prstGeom prst="rect">
            <a:avLst/>
          </a:prstGeom>
          <a:solidFill>
            <a:srgbClr val="FAFBFC"/>
          </a:solidFill>
          <a:ln>
            <a:noFill/>
          </a:ln>
        </p:spPr>
      </p:sp>
      <p:sp>
        <p:nvSpPr>
          <p:cNvPr id="46" name="TextBox 46"/>
          <p:cNvSpPr txBox="1"/>
          <p:nvPr/>
        </p:nvSpPr>
        <p:spPr>
          <a:xfrm>
            <a:off x="710565" y="2982278"/>
            <a:ext cx="1055799" cy="213360"/>
          </a:xfrm>
          <a:prstGeom prst="rect">
            <a:avLst/>
          </a:prstGeom>
          <a:noFill/>
          <a:ln>
            <a:noFill/>
          </a:ln>
        </p:spPr>
        <p:txBody>
          <a:bodyPr wrap="none" lIns="0" tIns="0" rIns="0" bIns="0" anchor="t" anchorCtr="0">
            <a:spAutoFit/>
          </a:bodyPr>
          <a:lstStyle/>
          <a:p>
            <a:pPr algn="l"/>
            <a:r>
              <a:rPr lang="zh-CN" sz="1050" b="1" dirty="0">
                <a:solidFill>
                  <a:srgbClr val="0077CC"/>
                </a:solidFill>
                <a:latin typeface="Arial"/>
                <a:ea typeface="SimHei"/>
                <a:cs typeface="Arial"/>
              </a:rPr>
              <a:t>规则与合规设计</a:t>
            </a:r>
          </a:p>
        </p:txBody>
      </p:sp>
      <p:sp>
        <p:nvSpPr>
          <p:cNvPr id="47" name="TextBox 47"/>
          <p:cNvSpPr txBox="1"/>
          <p:nvPr/>
        </p:nvSpPr>
        <p:spPr>
          <a:xfrm>
            <a:off x="712470" y="3188970"/>
            <a:ext cx="460915"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第3–4周</a:t>
            </a:r>
          </a:p>
        </p:txBody>
      </p:sp>
      <p:sp>
        <p:nvSpPr>
          <p:cNvPr id="48" name="TextBox 48"/>
          <p:cNvSpPr txBox="1"/>
          <p:nvPr/>
        </p:nvSpPr>
        <p:spPr>
          <a:xfrm>
            <a:off x="712470" y="3379470"/>
            <a:ext cx="1048988"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准入规则·合规文本</a:t>
            </a:r>
          </a:p>
        </p:txBody>
      </p:sp>
      <p:sp>
        <p:nvSpPr>
          <p:cNvPr id="49" name="Rectangle 49"/>
          <p:cNvSpPr/>
          <p:nvPr/>
        </p:nvSpPr>
        <p:spPr>
          <a:xfrm>
            <a:off x="4305300" y="2914650"/>
            <a:ext cx="1447800" cy="266700"/>
          </a:xfrm>
          <a:prstGeom prst="roundRect">
            <a:avLst>
              <a:gd name="adj" fmla="val 10714"/>
            </a:avLst>
          </a:prstGeom>
          <a:solidFill>
            <a:srgbClr val="0077CC"/>
          </a:solidFill>
          <a:ln>
            <a:noFill/>
          </a:ln>
        </p:spPr>
      </p:sp>
      <p:sp>
        <p:nvSpPr>
          <p:cNvPr id="50" name="TextBox 50"/>
          <p:cNvSpPr txBox="1"/>
          <p:nvPr/>
        </p:nvSpPr>
        <p:spPr>
          <a:xfrm>
            <a:off x="4357688" y="2998470"/>
            <a:ext cx="1343025"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准入规则配置与企业确认</a:t>
            </a:r>
          </a:p>
        </p:txBody>
      </p:sp>
      <p:sp>
        <p:nvSpPr>
          <p:cNvPr id="51" name="Rectangle 51"/>
          <p:cNvSpPr/>
          <p:nvPr/>
        </p:nvSpPr>
        <p:spPr>
          <a:xfrm>
            <a:off x="4305300" y="3257550"/>
            <a:ext cx="723900" cy="228600"/>
          </a:xfrm>
          <a:prstGeom prst="roundRect">
            <a:avLst>
              <a:gd name="adj" fmla="val 12500"/>
            </a:avLst>
          </a:prstGeom>
          <a:solidFill>
            <a:srgbClr val="4A90D9"/>
          </a:solidFill>
          <a:ln>
            <a:noFill/>
          </a:ln>
        </p:spPr>
      </p:sp>
      <p:sp>
        <p:nvSpPr>
          <p:cNvPr id="52" name="TextBox 52"/>
          <p:cNvSpPr txBox="1"/>
          <p:nvPr/>
        </p:nvSpPr>
        <p:spPr>
          <a:xfrm>
            <a:off x="4326731" y="3330416"/>
            <a:ext cx="681038"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合规文本起草</a:t>
            </a:r>
          </a:p>
        </p:txBody>
      </p:sp>
      <p:sp>
        <p:nvSpPr>
          <p:cNvPr id="53" name="Polygon 53"/>
          <p:cNvSpPr/>
          <p:nvPr/>
        </p:nvSpPr>
        <p:spPr>
          <a:xfrm>
            <a:off x="5638800" y="3143250"/>
            <a:ext cx="190500" cy="190500"/>
          </a:xfrm>
          <a:custGeom>
            <a:avLst/>
            <a:gdLst/>
            <a:ahLst/>
            <a:cxnLst/>
            <a:rect l="l" t="t" r="r" b="b"/>
            <a:pathLst>
              <a:path w="190500" h="190500">
                <a:moveTo>
                  <a:pt x="95250" y="0"/>
                </a:moveTo>
                <a:lnTo>
                  <a:pt x="190500" y="95250"/>
                </a:lnTo>
                <a:lnTo>
                  <a:pt x="95250" y="190500"/>
                </a:lnTo>
                <a:lnTo>
                  <a:pt x="0" y="95250"/>
                </a:lnTo>
                <a:close/>
              </a:path>
            </a:pathLst>
          </a:custGeom>
          <a:solidFill>
            <a:srgbClr val="C53030"/>
          </a:solidFill>
          <a:ln>
            <a:noFill/>
          </a:ln>
        </p:spPr>
      </p:sp>
      <p:sp>
        <p:nvSpPr>
          <p:cNvPr id="54" name="Line 54"/>
          <p:cNvSpPr/>
          <p:nvPr/>
        </p:nvSpPr>
        <p:spPr>
          <a:xfrm>
            <a:off x="552450" y="36290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55" name="Rectangle 55"/>
          <p:cNvSpPr/>
          <p:nvPr/>
        </p:nvSpPr>
        <p:spPr>
          <a:xfrm>
            <a:off x="552450" y="3629025"/>
            <a:ext cx="2266950" cy="838200"/>
          </a:xfrm>
          <a:prstGeom prst="rect">
            <a:avLst/>
          </a:prstGeom>
          <a:solidFill>
            <a:srgbClr val="F0F4F8"/>
          </a:solidFill>
          <a:ln>
            <a:noFill/>
          </a:ln>
        </p:spPr>
      </p:sp>
      <p:sp>
        <p:nvSpPr>
          <p:cNvPr id="56" name="Rectangle 56"/>
          <p:cNvSpPr/>
          <p:nvPr/>
        </p:nvSpPr>
        <p:spPr>
          <a:xfrm>
            <a:off x="2838450" y="3629025"/>
            <a:ext cx="8686800" cy="838200"/>
          </a:xfrm>
          <a:prstGeom prst="rect">
            <a:avLst/>
          </a:prstGeom>
          <a:solidFill>
            <a:srgbClr val="FAFBFC"/>
          </a:solidFill>
          <a:ln>
            <a:noFill/>
          </a:ln>
        </p:spPr>
      </p:sp>
      <p:sp>
        <p:nvSpPr>
          <p:cNvPr id="57" name="TextBox 57"/>
          <p:cNvSpPr txBox="1"/>
          <p:nvPr/>
        </p:nvSpPr>
        <p:spPr>
          <a:xfrm>
            <a:off x="710565" y="3820478"/>
            <a:ext cx="908780"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SimHei"/>
                <a:cs typeface="Arial"/>
              </a:rPr>
              <a:t>最小产品上线</a:t>
            </a:r>
          </a:p>
        </p:txBody>
      </p:sp>
      <p:sp>
        <p:nvSpPr>
          <p:cNvPr id="58" name="TextBox 58"/>
          <p:cNvSpPr txBox="1"/>
          <p:nvPr/>
        </p:nvSpPr>
        <p:spPr>
          <a:xfrm>
            <a:off x="712470" y="4027170"/>
            <a:ext cx="460915"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第5–8周</a:t>
            </a:r>
          </a:p>
        </p:txBody>
      </p:sp>
      <p:sp>
        <p:nvSpPr>
          <p:cNvPr id="59" name="TextBox 59"/>
          <p:cNvSpPr txBox="1"/>
          <p:nvPr/>
        </p:nvSpPr>
        <p:spPr>
          <a:xfrm>
            <a:off x="712470" y="4217670"/>
            <a:ext cx="1048988"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系统上线·操作手册</a:t>
            </a:r>
          </a:p>
        </p:txBody>
      </p:sp>
      <p:sp>
        <p:nvSpPr>
          <p:cNvPr id="60" name="Rectangle 60"/>
          <p:cNvSpPr/>
          <p:nvPr/>
        </p:nvSpPr>
        <p:spPr>
          <a:xfrm>
            <a:off x="5753100" y="3752850"/>
            <a:ext cx="2895600" cy="266700"/>
          </a:xfrm>
          <a:prstGeom prst="roundRect">
            <a:avLst>
              <a:gd name="adj" fmla="val 10714"/>
            </a:avLst>
          </a:prstGeom>
          <a:solidFill>
            <a:srgbClr val="4A90D9"/>
          </a:solidFill>
          <a:ln>
            <a:noFill/>
          </a:ln>
        </p:spPr>
      </p:sp>
      <p:sp>
        <p:nvSpPr>
          <p:cNvPr id="61" name="TextBox 61"/>
          <p:cNvSpPr txBox="1"/>
          <p:nvPr/>
        </p:nvSpPr>
        <p:spPr>
          <a:xfrm>
            <a:off x="6658404" y="3836670"/>
            <a:ext cx="1084993"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MVP系统开发与测试</a:t>
            </a:r>
          </a:p>
        </p:txBody>
      </p:sp>
      <p:sp>
        <p:nvSpPr>
          <p:cNvPr id="62" name="Rectangle 62"/>
          <p:cNvSpPr/>
          <p:nvPr/>
        </p:nvSpPr>
        <p:spPr>
          <a:xfrm>
            <a:off x="5753100" y="4095750"/>
            <a:ext cx="1447800" cy="228600"/>
          </a:xfrm>
          <a:prstGeom prst="roundRect">
            <a:avLst>
              <a:gd name="adj" fmla="val 12500"/>
            </a:avLst>
          </a:prstGeom>
          <a:solidFill>
            <a:srgbClr val="0077CC"/>
          </a:solidFill>
          <a:ln>
            <a:noFill/>
          </a:ln>
        </p:spPr>
      </p:sp>
      <p:sp>
        <p:nvSpPr>
          <p:cNvPr id="63" name="TextBox 63"/>
          <p:cNvSpPr txBox="1"/>
          <p:nvPr/>
        </p:nvSpPr>
        <p:spPr>
          <a:xfrm>
            <a:off x="6026467" y="4168616"/>
            <a:ext cx="901065"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题库配置与试运行</a:t>
            </a:r>
          </a:p>
        </p:txBody>
      </p:sp>
      <p:sp>
        <p:nvSpPr>
          <p:cNvPr id="64" name="Polygon 64"/>
          <p:cNvSpPr/>
          <p:nvPr/>
        </p:nvSpPr>
        <p:spPr>
          <a:xfrm>
            <a:off x="8553450" y="3981450"/>
            <a:ext cx="190500" cy="190500"/>
          </a:xfrm>
          <a:custGeom>
            <a:avLst/>
            <a:gdLst/>
            <a:ahLst/>
            <a:cxnLst/>
            <a:rect l="l" t="t" r="r" b="b"/>
            <a:pathLst>
              <a:path w="190500" h="190500">
                <a:moveTo>
                  <a:pt x="95250" y="0"/>
                </a:moveTo>
                <a:lnTo>
                  <a:pt x="190500" y="95250"/>
                </a:lnTo>
                <a:lnTo>
                  <a:pt x="95250" y="190500"/>
                </a:lnTo>
                <a:lnTo>
                  <a:pt x="0" y="95250"/>
                </a:lnTo>
                <a:close/>
              </a:path>
            </a:pathLst>
          </a:custGeom>
          <a:solidFill>
            <a:srgbClr val="C53030"/>
          </a:solidFill>
          <a:ln>
            <a:noFill/>
          </a:ln>
        </p:spPr>
      </p:sp>
      <p:sp>
        <p:nvSpPr>
          <p:cNvPr id="65" name="Line 65"/>
          <p:cNvSpPr/>
          <p:nvPr/>
        </p:nvSpPr>
        <p:spPr>
          <a:xfrm>
            <a:off x="552450" y="44672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6" name="Rectangle 66"/>
          <p:cNvSpPr/>
          <p:nvPr/>
        </p:nvSpPr>
        <p:spPr>
          <a:xfrm>
            <a:off x="552450" y="4467225"/>
            <a:ext cx="2266950" cy="838200"/>
          </a:xfrm>
          <a:prstGeom prst="rect">
            <a:avLst/>
          </a:prstGeom>
          <a:solidFill>
            <a:srgbClr val="FFFFFF"/>
          </a:solidFill>
          <a:ln>
            <a:noFill/>
          </a:ln>
        </p:spPr>
      </p:sp>
      <p:sp>
        <p:nvSpPr>
          <p:cNvPr id="67" name="Rectangle 67"/>
          <p:cNvSpPr/>
          <p:nvPr/>
        </p:nvSpPr>
        <p:spPr>
          <a:xfrm>
            <a:off x="2838450" y="4467225"/>
            <a:ext cx="8686800" cy="838200"/>
          </a:xfrm>
          <a:prstGeom prst="rect">
            <a:avLst/>
          </a:prstGeom>
          <a:solidFill>
            <a:srgbClr val="FAFBFC"/>
          </a:solidFill>
          <a:ln>
            <a:noFill/>
          </a:ln>
        </p:spPr>
      </p:sp>
      <p:sp>
        <p:nvSpPr>
          <p:cNvPr id="68" name="TextBox 68"/>
          <p:cNvSpPr txBox="1"/>
          <p:nvPr/>
        </p:nvSpPr>
        <p:spPr>
          <a:xfrm>
            <a:off x="710565" y="4658678"/>
            <a:ext cx="614744" cy="213360"/>
          </a:xfrm>
          <a:prstGeom prst="rect">
            <a:avLst/>
          </a:prstGeom>
          <a:noFill/>
          <a:ln>
            <a:noFill/>
          </a:ln>
        </p:spPr>
        <p:txBody>
          <a:bodyPr wrap="none" lIns="0" tIns="0" rIns="0" bIns="0" anchor="t" anchorCtr="0">
            <a:spAutoFit/>
          </a:bodyPr>
          <a:lstStyle/>
          <a:p>
            <a:pPr algn="l"/>
            <a:r>
              <a:rPr lang="zh-CN" sz="1050" b="1" dirty="0">
                <a:solidFill>
                  <a:srgbClr val="2D7D46"/>
                </a:solidFill>
                <a:latin typeface="Arial"/>
                <a:ea typeface="SimHei"/>
                <a:cs typeface="Arial"/>
              </a:rPr>
              <a:t>真实运行</a:t>
            </a:r>
          </a:p>
        </p:txBody>
      </p:sp>
      <p:sp>
        <p:nvSpPr>
          <p:cNvPr id="69" name="TextBox 69"/>
          <p:cNvSpPr txBox="1"/>
          <p:nvPr/>
        </p:nvSpPr>
        <p:spPr>
          <a:xfrm>
            <a:off x="712470" y="4865370"/>
            <a:ext cx="526923"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第9–11周</a:t>
            </a:r>
          </a:p>
        </p:txBody>
      </p:sp>
      <p:sp>
        <p:nvSpPr>
          <p:cNvPr id="70" name="TextBox 70"/>
          <p:cNvSpPr txBox="1"/>
          <p:nvPr/>
        </p:nvSpPr>
        <p:spPr>
          <a:xfrm>
            <a:off x="712470" y="5055870"/>
            <a:ext cx="1048988"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核验结果·异常整改</a:t>
            </a:r>
          </a:p>
        </p:txBody>
      </p:sp>
      <p:sp>
        <p:nvSpPr>
          <p:cNvPr id="71" name="Rectangle 71"/>
          <p:cNvSpPr/>
          <p:nvPr/>
        </p:nvSpPr>
        <p:spPr>
          <a:xfrm>
            <a:off x="8648700" y="4591050"/>
            <a:ext cx="2171700" cy="266700"/>
          </a:xfrm>
          <a:prstGeom prst="roundRect">
            <a:avLst>
              <a:gd name="adj" fmla="val 10714"/>
            </a:avLst>
          </a:prstGeom>
          <a:solidFill>
            <a:srgbClr val="2D7D46"/>
          </a:solidFill>
          <a:ln>
            <a:noFill/>
          </a:ln>
        </p:spPr>
      </p:sp>
      <p:sp>
        <p:nvSpPr>
          <p:cNvPr id="72" name="TextBox 72"/>
          <p:cNvSpPr txBox="1"/>
          <p:nvPr/>
        </p:nvSpPr>
        <p:spPr>
          <a:xfrm>
            <a:off x="9123045" y="4674870"/>
            <a:ext cx="122301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外委人员真实核验运行</a:t>
            </a:r>
          </a:p>
        </p:txBody>
      </p:sp>
      <p:sp>
        <p:nvSpPr>
          <p:cNvPr id="73" name="Rectangle 73"/>
          <p:cNvSpPr/>
          <p:nvPr/>
        </p:nvSpPr>
        <p:spPr>
          <a:xfrm>
            <a:off x="8648700" y="4933950"/>
            <a:ext cx="1447800" cy="228600"/>
          </a:xfrm>
          <a:prstGeom prst="roundRect">
            <a:avLst>
              <a:gd name="adj" fmla="val 12500"/>
            </a:avLst>
          </a:prstGeom>
          <a:solidFill>
            <a:srgbClr val="4A90D9"/>
          </a:solidFill>
          <a:ln>
            <a:noFill/>
          </a:ln>
        </p:spPr>
      </p:sp>
      <p:sp>
        <p:nvSpPr>
          <p:cNvPr id="74" name="TextBox 74"/>
          <p:cNvSpPr txBox="1"/>
          <p:nvPr/>
        </p:nvSpPr>
        <p:spPr>
          <a:xfrm>
            <a:off x="8867061" y="5006816"/>
            <a:ext cx="1011079"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异常处置与整改闭环</a:t>
            </a:r>
          </a:p>
        </p:txBody>
      </p:sp>
      <p:sp>
        <p:nvSpPr>
          <p:cNvPr id="75" name="Line 75"/>
          <p:cNvSpPr/>
          <p:nvPr/>
        </p:nvSpPr>
        <p:spPr>
          <a:xfrm>
            <a:off x="552450" y="53054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76" name="Rectangle 76"/>
          <p:cNvSpPr/>
          <p:nvPr/>
        </p:nvSpPr>
        <p:spPr>
          <a:xfrm>
            <a:off x="552450" y="5305425"/>
            <a:ext cx="2266950" cy="838200"/>
          </a:xfrm>
          <a:prstGeom prst="rect">
            <a:avLst/>
          </a:prstGeom>
          <a:solidFill>
            <a:srgbClr val="F0F4F8"/>
          </a:solidFill>
          <a:ln>
            <a:noFill/>
          </a:ln>
        </p:spPr>
      </p:sp>
      <p:sp>
        <p:nvSpPr>
          <p:cNvPr id="77" name="Rectangle 77"/>
          <p:cNvSpPr/>
          <p:nvPr/>
        </p:nvSpPr>
        <p:spPr>
          <a:xfrm>
            <a:off x="2838450" y="5305425"/>
            <a:ext cx="8686800" cy="838200"/>
          </a:xfrm>
          <a:prstGeom prst="rect">
            <a:avLst/>
          </a:prstGeom>
          <a:solidFill>
            <a:srgbClr val="FAFBFC"/>
          </a:solidFill>
          <a:ln>
            <a:noFill/>
          </a:ln>
        </p:spPr>
      </p:sp>
      <p:sp>
        <p:nvSpPr>
          <p:cNvPr id="78" name="TextBox 78"/>
          <p:cNvSpPr txBox="1"/>
          <p:nvPr/>
        </p:nvSpPr>
        <p:spPr>
          <a:xfrm>
            <a:off x="710565" y="5496878"/>
            <a:ext cx="614744" cy="213360"/>
          </a:xfrm>
          <a:prstGeom prst="rect">
            <a:avLst/>
          </a:prstGeom>
          <a:noFill/>
          <a:ln>
            <a:noFill/>
          </a:ln>
        </p:spPr>
        <p:txBody>
          <a:bodyPr wrap="none" lIns="0" tIns="0" rIns="0" bIns="0" anchor="t" anchorCtr="0">
            <a:spAutoFit/>
          </a:bodyPr>
          <a:lstStyle/>
          <a:p>
            <a:pPr algn="l"/>
            <a:r>
              <a:rPr lang="zh-CN" sz="1050" b="1" dirty="0">
                <a:solidFill>
                  <a:srgbClr val="C53030"/>
                </a:solidFill>
                <a:latin typeface="Arial"/>
                <a:ea typeface="SimHei"/>
                <a:cs typeface="Arial"/>
              </a:rPr>
              <a:t>复盘评估</a:t>
            </a:r>
          </a:p>
        </p:txBody>
      </p:sp>
      <p:sp>
        <p:nvSpPr>
          <p:cNvPr id="79" name="TextBox 79"/>
          <p:cNvSpPr txBox="1"/>
          <p:nvPr/>
        </p:nvSpPr>
        <p:spPr>
          <a:xfrm>
            <a:off x="712470" y="5703570"/>
            <a:ext cx="394906"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第12周</a:t>
            </a:r>
          </a:p>
        </p:txBody>
      </p:sp>
      <p:sp>
        <p:nvSpPr>
          <p:cNvPr id="80" name="TextBox 80"/>
          <p:cNvSpPr txBox="1"/>
          <p:nvPr/>
        </p:nvSpPr>
        <p:spPr>
          <a:xfrm>
            <a:off x="712470" y="5894070"/>
            <a:ext cx="1048988"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评估报告·推广建议</a:t>
            </a:r>
          </a:p>
        </p:txBody>
      </p:sp>
      <p:sp>
        <p:nvSpPr>
          <p:cNvPr id="81" name="Rectangle 81"/>
          <p:cNvSpPr/>
          <p:nvPr/>
        </p:nvSpPr>
        <p:spPr>
          <a:xfrm>
            <a:off x="10820400" y="5429250"/>
            <a:ext cx="685800" cy="266700"/>
          </a:xfrm>
          <a:prstGeom prst="roundRect">
            <a:avLst>
              <a:gd name="adj" fmla="val 10714"/>
            </a:avLst>
          </a:prstGeom>
          <a:solidFill>
            <a:srgbClr val="C53030"/>
          </a:solidFill>
          <a:ln>
            <a:noFill/>
          </a:ln>
        </p:spPr>
      </p:sp>
      <p:sp>
        <p:nvSpPr>
          <p:cNvPr id="82" name="TextBox 82"/>
          <p:cNvSpPr txBox="1"/>
          <p:nvPr/>
        </p:nvSpPr>
        <p:spPr>
          <a:xfrm>
            <a:off x="10911840" y="5513070"/>
            <a:ext cx="502920" cy="182880"/>
          </a:xfrm>
          <a:prstGeom prst="rect">
            <a:avLst/>
          </a:prstGeom>
          <a:noFill/>
          <a:ln>
            <a:noFill/>
          </a:ln>
        </p:spPr>
        <p:txBody>
          <a:bodyPr wrap="none" lIns="0" tIns="0" rIns="0" bIns="0" anchor="t" anchorCtr="0">
            <a:spAutoFit/>
          </a:bodyPr>
          <a:lstStyle/>
          <a:p>
            <a:pPr algn="ctr"/>
            <a:r>
              <a:rPr lang="zh-CN" sz="900" dirty="0">
                <a:solidFill>
                  <a:srgbClr val="FFFFFF"/>
                </a:solidFill>
                <a:latin typeface="Arial"/>
                <a:ea typeface="Microsoft YaHei"/>
                <a:cs typeface="Arial"/>
              </a:rPr>
              <a:t>评估复盘</a:t>
            </a:r>
          </a:p>
        </p:txBody>
      </p:sp>
      <p:sp>
        <p:nvSpPr>
          <p:cNvPr id="83" name="Rectangle 83"/>
          <p:cNvSpPr/>
          <p:nvPr/>
        </p:nvSpPr>
        <p:spPr>
          <a:xfrm>
            <a:off x="10820400" y="5772150"/>
            <a:ext cx="685800" cy="228600"/>
          </a:xfrm>
          <a:prstGeom prst="roundRect">
            <a:avLst>
              <a:gd name="adj" fmla="val 12500"/>
            </a:avLst>
          </a:prstGeom>
          <a:solidFill>
            <a:srgbClr val="4A5568"/>
          </a:solidFill>
          <a:ln>
            <a:noFill/>
          </a:ln>
        </p:spPr>
      </p:sp>
      <p:sp>
        <p:nvSpPr>
          <p:cNvPr id="84" name="TextBox 84"/>
          <p:cNvSpPr txBox="1"/>
          <p:nvPr/>
        </p:nvSpPr>
        <p:spPr>
          <a:xfrm>
            <a:off x="10932795" y="5845016"/>
            <a:ext cx="461010"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Arial"/>
                <a:ea typeface="Microsoft YaHei"/>
                <a:cs typeface="Arial"/>
              </a:rPr>
              <a:t>推广材料</a:t>
            </a:r>
          </a:p>
        </p:txBody>
      </p:sp>
      <p:sp>
        <p:nvSpPr>
          <p:cNvPr id="85" name="Polygon 85"/>
          <p:cNvSpPr/>
          <p:nvPr/>
        </p:nvSpPr>
        <p:spPr>
          <a:xfrm>
            <a:off x="11410950" y="5600700"/>
            <a:ext cx="190500" cy="190500"/>
          </a:xfrm>
          <a:custGeom>
            <a:avLst/>
            <a:gdLst/>
            <a:ahLst/>
            <a:cxnLst/>
            <a:rect l="l" t="t" r="r" b="b"/>
            <a:pathLst>
              <a:path w="190500" h="190500">
                <a:moveTo>
                  <a:pt x="95250" y="0"/>
                </a:moveTo>
                <a:lnTo>
                  <a:pt x="190500" y="95250"/>
                </a:lnTo>
                <a:lnTo>
                  <a:pt x="95250" y="190500"/>
                </a:lnTo>
                <a:lnTo>
                  <a:pt x="0" y="95250"/>
                </a:lnTo>
                <a:close/>
              </a:path>
            </a:pathLst>
          </a:custGeom>
          <a:solidFill>
            <a:srgbClr val="C53030"/>
          </a:solidFill>
          <a:ln>
            <a:noFill/>
          </a:ln>
        </p:spPr>
      </p:sp>
      <p:sp>
        <p:nvSpPr>
          <p:cNvPr id="86" name="Line 86"/>
          <p:cNvSpPr/>
          <p:nvPr/>
        </p:nvSpPr>
        <p:spPr>
          <a:xfrm>
            <a:off x="552450" y="61436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87" name="Rectangle 87"/>
          <p:cNvSpPr/>
          <p:nvPr/>
        </p:nvSpPr>
        <p:spPr>
          <a:xfrm>
            <a:off x="552450" y="6248400"/>
            <a:ext cx="133350" cy="133350"/>
          </a:xfrm>
          <a:prstGeom prst="roundRect">
            <a:avLst>
              <a:gd name="adj" fmla="val 14286"/>
            </a:avLst>
          </a:prstGeom>
          <a:solidFill>
            <a:srgbClr val="003A70"/>
          </a:solidFill>
          <a:ln>
            <a:noFill/>
          </a:ln>
        </p:spPr>
      </p:sp>
      <p:sp>
        <p:nvSpPr>
          <p:cNvPr id="88" name="TextBox 88"/>
          <p:cNvSpPr txBox="1"/>
          <p:nvPr/>
        </p:nvSpPr>
        <p:spPr>
          <a:xfrm>
            <a:off x="750570" y="6275070"/>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主线任务</a:t>
            </a:r>
          </a:p>
        </p:txBody>
      </p:sp>
      <p:sp>
        <p:nvSpPr>
          <p:cNvPr id="89" name="Rectangle 89"/>
          <p:cNvSpPr/>
          <p:nvPr/>
        </p:nvSpPr>
        <p:spPr>
          <a:xfrm>
            <a:off x="1600200" y="6248400"/>
            <a:ext cx="133350" cy="133350"/>
          </a:xfrm>
          <a:prstGeom prst="roundRect">
            <a:avLst>
              <a:gd name="adj" fmla="val 14286"/>
            </a:avLst>
          </a:prstGeom>
          <a:solidFill>
            <a:srgbClr val="4A90D9"/>
          </a:solidFill>
          <a:ln>
            <a:noFill/>
          </a:ln>
        </p:spPr>
      </p:sp>
      <p:sp>
        <p:nvSpPr>
          <p:cNvPr id="90" name="TextBox 90"/>
          <p:cNvSpPr txBox="1"/>
          <p:nvPr/>
        </p:nvSpPr>
        <p:spPr>
          <a:xfrm>
            <a:off x="1798320" y="6275070"/>
            <a:ext cx="502920"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支线任务</a:t>
            </a:r>
          </a:p>
        </p:txBody>
      </p:sp>
      <p:sp>
        <p:nvSpPr>
          <p:cNvPr id="91" name="Polygon 91"/>
          <p:cNvSpPr/>
          <p:nvPr/>
        </p:nvSpPr>
        <p:spPr>
          <a:xfrm>
            <a:off x="2876550" y="6286500"/>
            <a:ext cx="152400" cy="152400"/>
          </a:xfrm>
          <a:custGeom>
            <a:avLst/>
            <a:gdLst/>
            <a:ahLst/>
            <a:cxnLst/>
            <a:rect l="l" t="t" r="r" b="b"/>
            <a:pathLst>
              <a:path w="152400" h="152400">
                <a:moveTo>
                  <a:pt x="76200" y="0"/>
                </a:moveTo>
                <a:lnTo>
                  <a:pt x="152400" y="76200"/>
                </a:lnTo>
                <a:lnTo>
                  <a:pt x="76200" y="152400"/>
                </a:lnTo>
                <a:lnTo>
                  <a:pt x="0" y="76200"/>
                </a:lnTo>
                <a:close/>
              </a:path>
            </a:pathLst>
          </a:custGeom>
          <a:solidFill>
            <a:srgbClr val="C53030"/>
          </a:solidFill>
          <a:ln>
            <a:noFill/>
          </a:ln>
        </p:spPr>
      </p:sp>
      <p:sp>
        <p:nvSpPr>
          <p:cNvPr id="92" name="TextBox 92"/>
          <p:cNvSpPr txBox="1"/>
          <p:nvPr/>
        </p:nvSpPr>
        <p:spPr>
          <a:xfrm>
            <a:off x="3093720" y="6275070"/>
            <a:ext cx="622935" cy="182880"/>
          </a:xfrm>
          <a:prstGeom prst="rect">
            <a:avLst/>
          </a:prstGeom>
          <a:noFill/>
          <a:ln>
            <a:noFill/>
          </a:ln>
        </p:spPr>
        <p:txBody>
          <a:bodyPr wrap="none" lIns="0" tIns="0" rIns="0" bIns="0" anchor="t" anchorCtr="0">
            <a:spAutoFit/>
          </a:bodyPr>
          <a:lstStyle/>
          <a:p>
            <a:pPr algn="l"/>
            <a:r>
              <a:rPr lang="zh-CN" sz="900" dirty="0">
                <a:solidFill>
                  <a:srgbClr val="4A5568"/>
                </a:solidFill>
                <a:latin typeface="Arial"/>
                <a:ea typeface="Microsoft YaHei"/>
                <a:cs typeface="Arial"/>
              </a:rPr>
              <a:t>关键交付物</a:t>
            </a:r>
          </a:p>
        </p:txBody>
      </p:sp>
      <p:sp>
        <p:nvSpPr>
          <p:cNvPr id="93" name="TextBox 93"/>
          <p:cNvSpPr txBox="1"/>
          <p:nvPr/>
        </p:nvSpPr>
        <p:spPr>
          <a:xfrm>
            <a:off x="4302347" y="6398895"/>
            <a:ext cx="3587306"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先行验证期总时长：90天（12周）· 单企业300–500人 · 3–5类岗位</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077912"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第四章 · 实施与运营</a:t>
            </a:r>
          </a:p>
        </p:txBody>
      </p:sp>
      <p:sp>
        <p:nvSpPr>
          <p:cNvPr id="4" name="TextBox 4"/>
          <p:cNvSpPr txBox="1"/>
          <p:nvPr/>
        </p:nvSpPr>
        <p:spPr>
          <a:xfrm>
            <a:off x="525780" y="1183005"/>
            <a:ext cx="6228112"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组织分工：中电联数智牵头，七类主体协同共创</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Ellipse 6"/>
          <p:cNvSpPr/>
          <p:nvPr/>
        </p:nvSpPr>
        <p:spPr>
          <a:xfrm>
            <a:off x="5257800" y="3238500"/>
            <a:ext cx="1676400" cy="1676400"/>
          </a:xfrm>
          <a:prstGeom prst="ellipse">
            <a:avLst/>
          </a:prstGeom>
          <a:solidFill>
            <a:srgbClr val="003A70"/>
          </a:solidFill>
          <a:ln>
            <a:noFill/>
          </a:ln>
        </p:spPr>
      </p:sp>
      <p:sp>
        <p:nvSpPr>
          <p:cNvPr id="7" name="Ellipse 7"/>
          <p:cNvSpPr/>
          <p:nvPr/>
        </p:nvSpPr>
        <p:spPr>
          <a:xfrm>
            <a:off x="5410200" y="3390900"/>
            <a:ext cx="1371600" cy="1371600"/>
          </a:xfrm>
          <a:prstGeom prst="ellipse">
            <a:avLst/>
          </a:prstGeom>
          <a:solidFill>
            <a:srgbClr val="003A70">
              <a:alpha val="80000"/>
            </a:srgbClr>
          </a:solidFill>
          <a:ln>
            <a:noFill/>
          </a:ln>
        </p:spPr>
      </p:sp>
      <p:sp>
        <p:nvSpPr>
          <p:cNvPr id="8" name="TextBox 8"/>
          <p:cNvSpPr txBox="1"/>
          <p:nvPr/>
        </p:nvSpPr>
        <p:spPr>
          <a:xfrm>
            <a:off x="5530394" y="3840956"/>
            <a:ext cx="113121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SimHei"/>
                <a:cs typeface="Arial"/>
              </a:rPr>
              <a:t>中电联数智科技</a:t>
            </a:r>
          </a:p>
        </p:txBody>
      </p:sp>
      <p:sp>
        <p:nvSpPr>
          <p:cNvPr id="9" name="TextBox 9"/>
          <p:cNvSpPr txBox="1"/>
          <p:nvPr/>
        </p:nvSpPr>
        <p:spPr>
          <a:xfrm>
            <a:off x="5693569" y="4085749"/>
            <a:ext cx="804862" cy="198120"/>
          </a:xfrm>
          <a:prstGeom prst="rect">
            <a:avLst/>
          </a:prstGeom>
          <a:noFill/>
          <a:ln>
            <a:noFill/>
          </a:ln>
        </p:spPr>
        <p:txBody>
          <a:bodyPr wrap="none" lIns="0" tIns="0" rIns="0" bIns="0" anchor="t" anchorCtr="0">
            <a:spAutoFit/>
          </a:bodyPr>
          <a:lstStyle/>
          <a:p>
            <a:pPr algn="ctr"/>
            <a:r>
              <a:rPr lang="zh-CN" sz="975" dirty="0">
                <a:solidFill>
                  <a:srgbClr val="E8EDF3"/>
                </a:solidFill>
                <a:latin typeface="Arial"/>
                <a:ea typeface="Microsoft YaHei"/>
                <a:cs typeface="Arial"/>
              </a:rPr>
              <a:t>场景建设牵头</a:t>
            </a:r>
          </a:p>
        </p:txBody>
      </p:sp>
      <p:sp>
        <p:nvSpPr>
          <p:cNvPr id="10" name="TextBox 10"/>
          <p:cNvSpPr txBox="1"/>
          <p:nvPr/>
        </p:nvSpPr>
        <p:spPr>
          <a:xfrm>
            <a:off x="5586508" y="4303395"/>
            <a:ext cx="1018984" cy="182880"/>
          </a:xfrm>
          <a:prstGeom prst="rect">
            <a:avLst/>
          </a:prstGeom>
          <a:noFill/>
          <a:ln>
            <a:noFill/>
          </a:ln>
        </p:spPr>
        <p:txBody>
          <a:bodyPr wrap="none" lIns="0" tIns="0" rIns="0" bIns="0" anchor="t" anchorCtr="0">
            <a:spAutoFit/>
          </a:bodyPr>
          <a:lstStyle/>
          <a:p>
            <a:pPr algn="ctr"/>
            <a:r>
              <a:rPr lang="zh-CN" sz="900" dirty="0">
                <a:solidFill>
                  <a:srgbClr val="E8EDF3"/>
                </a:solidFill>
                <a:latin typeface="Arial"/>
                <a:ea typeface="Microsoft YaHei"/>
                <a:cs typeface="Arial"/>
              </a:rPr>
              <a:t>产品 / 数据 / 运营</a:t>
            </a:r>
          </a:p>
        </p:txBody>
      </p:sp>
      <p:sp>
        <p:nvSpPr>
          <p:cNvPr id="11" name="Line 11"/>
          <p:cNvSpPr/>
          <p:nvPr/>
        </p:nvSpPr>
        <p:spPr>
          <a:xfrm flipV="1">
            <a:off x="6096000" y="2095500"/>
            <a:ext cx="1" cy="1143000"/>
          </a:xfrm>
          <a:prstGeom prst="line">
            <a:avLst/>
          </a:prstGeom>
          <a:noFill/>
          <a:ln w="19050">
            <a:solidFill>
              <a:srgbClr val="CBD5E0"/>
            </a:solidFill>
            <a:tailEnd type="triangle" w="lg" len="lg"/>
          </a:ln>
        </p:spPr>
      </p:sp>
      <p:sp>
        <p:nvSpPr>
          <p:cNvPr id="12" name="Line 12"/>
          <p:cNvSpPr/>
          <p:nvPr/>
        </p:nvSpPr>
        <p:spPr>
          <a:xfrm>
            <a:off x="6096000" y="2095500"/>
            <a:ext cx="9525" cy="1143000"/>
          </a:xfrm>
          <a:custGeom>
            <a:avLst/>
            <a:gdLst/>
            <a:ahLst/>
            <a:cxnLst/>
            <a:rect l="l" t="t" r="r" b="b"/>
            <a:pathLst>
              <a:path w="9525" h="1143000">
                <a:moveTo>
                  <a:pt x="0" y="1143000"/>
                </a:moveTo>
                <a:lnTo>
                  <a:pt x="0" y="0"/>
                </a:lnTo>
              </a:path>
            </a:pathLst>
          </a:custGeom>
          <a:noFill/>
          <a:ln w="14288">
            <a:solidFill>
              <a:srgbClr val="0077CC"/>
            </a:solidFill>
            <a:custDash>
              <a:ds d="266666" sp="200000"/>
            </a:custDash>
          </a:ln>
        </p:spPr>
      </p:sp>
      <p:sp>
        <p:nvSpPr>
          <p:cNvPr id="13" name="Rectangle 13"/>
          <p:cNvSpPr/>
          <p:nvPr/>
        </p:nvSpPr>
        <p:spPr>
          <a:xfrm>
            <a:off x="4819650" y="1695450"/>
            <a:ext cx="2552700" cy="685800"/>
          </a:xfrm>
          <a:prstGeom prst="roundRect">
            <a:avLst>
              <a:gd name="adj" fmla="val 5556"/>
            </a:avLst>
          </a:prstGeom>
          <a:solidFill>
            <a:srgbClr val="F0F4F8"/>
          </a:solidFill>
          <a:ln>
            <a:noFill/>
          </a:ln>
        </p:spPr>
      </p:sp>
      <p:sp>
        <p:nvSpPr>
          <p:cNvPr id="14" name="Rectangle 14"/>
          <p:cNvSpPr/>
          <p:nvPr/>
        </p:nvSpPr>
        <p:spPr>
          <a:xfrm>
            <a:off x="4819650" y="1695450"/>
            <a:ext cx="2552700" cy="47625"/>
          </a:xfrm>
          <a:prstGeom prst="roundRect">
            <a:avLst>
              <a:gd name="adj" fmla="val 40000"/>
            </a:avLst>
          </a:prstGeom>
          <a:solidFill>
            <a:srgbClr val="0077CC"/>
          </a:solidFill>
          <a:ln>
            <a:noFill/>
          </a:ln>
        </p:spPr>
      </p:sp>
      <p:sp>
        <p:nvSpPr>
          <p:cNvPr id="15" name="TextBox 15"/>
          <p:cNvSpPr txBox="1"/>
          <p:nvPr/>
        </p:nvSpPr>
        <p:spPr>
          <a:xfrm>
            <a:off x="5421082" y="1810702"/>
            <a:ext cx="1349835" cy="213360"/>
          </a:xfrm>
          <a:prstGeom prst="rect">
            <a:avLst/>
          </a:prstGeom>
          <a:noFill/>
          <a:ln>
            <a:noFill/>
          </a:ln>
        </p:spPr>
        <p:txBody>
          <a:bodyPr wrap="none" lIns="0" tIns="0" rIns="0" bIns="0" anchor="t" anchorCtr="0">
            <a:spAutoFit/>
          </a:bodyPr>
          <a:lstStyle/>
          <a:p>
            <a:pPr algn="ctr"/>
            <a:r>
              <a:rPr lang="zh-CN" sz="1050" b="1" dirty="0">
                <a:solidFill>
                  <a:srgbClr val="0077CC"/>
                </a:solidFill>
                <a:latin typeface="Arial"/>
                <a:ea typeface="SimHei"/>
                <a:cs typeface="Arial"/>
              </a:rPr>
              <a:t>中电联相关业务机构</a:t>
            </a:r>
          </a:p>
        </p:txBody>
      </p:sp>
      <p:sp>
        <p:nvSpPr>
          <p:cNvPr id="16" name="TextBox 16"/>
          <p:cNvSpPr txBox="1"/>
          <p:nvPr/>
        </p:nvSpPr>
        <p:spPr>
          <a:xfrm>
            <a:off x="5154001" y="2047399"/>
            <a:ext cx="1883997"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安规题库 · 专家审校 · 行业标准</a:t>
            </a:r>
          </a:p>
        </p:txBody>
      </p:sp>
      <p:sp>
        <p:nvSpPr>
          <p:cNvPr id="17" name="Line 17"/>
          <p:cNvSpPr/>
          <p:nvPr/>
        </p:nvSpPr>
        <p:spPr>
          <a:xfrm flipV="1">
            <a:off x="6858000" y="2590800"/>
            <a:ext cx="1638300" cy="857250"/>
          </a:xfrm>
          <a:prstGeom prst="line">
            <a:avLst/>
          </a:prstGeom>
          <a:noFill/>
          <a:ln w="19050">
            <a:solidFill>
              <a:srgbClr val="CBD5E0"/>
            </a:solidFill>
            <a:tailEnd type="triangle" w="lg" len="lg"/>
          </a:ln>
        </p:spPr>
      </p:sp>
      <p:sp>
        <p:nvSpPr>
          <p:cNvPr id="18" name="Line 18"/>
          <p:cNvSpPr/>
          <p:nvPr/>
        </p:nvSpPr>
        <p:spPr>
          <a:xfrm>
            <a:off x="6858000" y="2590800"/>
            <a:ext cx="1638300" cy="857250"/>
          </a:xfrm>
          <a:custGeom>
            <a:avLst/>
            <a:gdLst/>
            <a:ahLst/>
            <a:cxnLst/>
            <a:rect l="l" t="t" r="r" b="b"/>
            <a:pathLst>
              <a:path w="1638300" h="857250">
                <a:moveTo>
                  <a:pt x="0" y="857250"/>
                </a:moveTo>
                <a:lnTo>
                  <a:pt x="1638300" y="0"/>
                </a:lnTo>
              </a:path>
            </a:pathLst>
          </a:custGeom>
          <a:noFill/>
          <a:ln w="14288">
            <a:solidFill>
              <a:srgbClr val="003A70"/>
            </a:solidFill>
            <a:custDash>
              <a:ds d="266666" sp="200000"/>
            </a:custDash>
          </a:ln>
        </p:spPr>
      </p:sp>
      <p:sp>
        <p:nvSpPr>
          <p:cNvPr id="19" name="Rectangle 19"/>
          <p:cNvSpPr/>
          <p:nvPr/>
        </p:nvSpPr>
        <p:spPr>
          <a:xfrm>
            <a:off x="8382000" y="2047875"/>
            <a:ext cx="2686050" cy="762000"/>
          </a:xfrm>
          <a:prstGeom prst="roundRect">
            <a:avLst>
              <a:gd name="adj" fmla="val 5000"/>
            </a:avLst>
          </a:prstGeom>
          <a:solidFill>
            <a:srgbClr val="F0F4F8"/>
          </a:solidFill>
          <a:ln>
            <a:noFill/>
          </a:ln>
        </p:spPr>
      </p:sp>
      <p:sp>
        <p:nvSpPr>
          <p:cNvPr id="20" name="Rectangle 20"/>
          <p:cNvSpPr/>
          <p:nvPr/>
        </p:nvSpPr>
        <p:spPr>
          <a:xfrm>
            <a:off x="8382000" y="2047875"/>
            <a:ext cx="2686050" cy="47625"/>
          </a:xfrm>
          <a:prstGeom prst="roundRect">
            <a:avLst>
              <a:gd name="adj" fmla="val 40000"/>
            </a:avLst>
          </a:prstGeom>
          <a:solidFill>
            <a:srgbClr val="003A70"/>
          </a:solidFill>
          <a:ln>
            <a:noFill/>
          </a:ln>
        </p:spPr>
      </p:sp>
      <p:sp>
        <p:nvSpPr>
          <p:cNvPr id="21" name="TextBox 21"/>
          <p:cNvSpPr txBox="1"/>
          <p:nvPr/>
        </p:nvSpPr>
        <p:spPr>
          <a:xfrm>
            <a:off x="9123616" y="2191702"/>
            <a:ext cx="1202817" cy="213360"/>
          </a:xfrm>
          <a:prstGeom prst="rect">
            <a:avLst/>
          </a:prstGeom>
          <a:noFill/>
          <a:ln>
            <a:noFill/>
          </a:ln>
        </p:spPr>
        <p:txBody>
          <a:bodyPr wrap="none" lIns="0" tIns="0" rIns="0" bIns="0" anchor="t" anchorCtr="0">
            <a:spAutoFit/>
          </a:bodyPr>
          <a:lstStyle/>
          <a:p>
            <a:pPr algn="ctr"/>
            <a:r>
              <a:rPr lang="zh-CN" sz="1050" b="1" dirty="0">
                <a:solidFill>
                  <a:srgbClr val="003A70"/>
                </a:solidFill>
                <a:latin typeface="Arial"/>
                <a:ea typeface="SimHei"/>
                <a:cs typeface="Arial"/>
              </a:rPr>
              <a:t>用工企业安监部门</a:t>
            </a:r>
          </a:p>
        </p:txBody>
      </p:sp>
      <p:sp>
        <p:nvSpPr>
          <p:cNvPr id="22" name="TextBox 22"/>
          <p:cNvSpPr txBox="1"/>
          <p:nvPr/>
        </p:nvSpPr>
        <p:spPr>
          <a:xfrm>
            <a:off x="8783026" y="2447449"/>
            <a:ext cx="1883997"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真实场景 · 准入规则 · 验收反馈</a:t>
            </a:r>
          </a:p>
        </p:txBody>
      </p:sp>
      <p:sp>
        <p:nvSpPr>
          <p:cNvPr id="23" name="Line 23"/>
          <p:cNvSpPr/>
          <p:nvPr/>
        </p:nvSpPr>
        <p:spPr>
          <a:xfrm>
            <a:off x="6934200" y="4076700"/>
            <a:ext cx="2971800" cy="1"/>
          </a:xfrm>
          <a:prstGeom prst="line">
            <a:avLst/>
          </a:prstGeom>
          <a:noFill/>
          <a:ln w="19050">
            <a:solidFill>
              <a:srgbClr val="CBD5E0"/>
            </a:solidFill>
            <a:tailEnd type="triangle" w="lg" len="lg"/>
          </a:ln>
        </p:spPr>
      </p:sp>
      <p:sp>
        <p:nvSpPr>
          <p:cNvPr id="24" name="Line 24"/>
          <p:cNvSpPr/>
          <p:nvPr/>
        </p:nvSpPr>
        <p:spPr>
          <a:xfrm>
            <a:off x="6934200" y="4076700"/>
            <a:ext cx="2971800" cy="9525"/>
          </a:xfrm>
          <a:custGeom>
            <a:avLst/>
            <a:gdLst/>
            <a:ahLst/>
            <a:cxnLst/>
            <a:rect l="l" t="t" r="r" b="b"/>
            <a:pathLst>
              <a:path w="2971800" h="9525">
                <a:moveTo>
                  <a:pt x="0" y="0"/>
                </a:moveTo>
                <a:lnTo>
                  <a:pt x="2971800" y="0"/>
                </a:lnTo>
              </a:path>
            </a:pathLst>
          </a:custGeom>
          <a:noFill/>
          <a:ln w="14288">
            <a:solidFill>
              <a:srgbClr val="4A90D9"/>
            </a:solidFill>
            <a:custDash>
              <a:ds d="266666" sp="200000"/>
            </a:custDash>
          </a:ln>
        </p:spPr>
      </p:sp>
      <p:sp>
        <p:nvSpPr>
          <p:cNvPr id="25" name="Rectangle 25"/>
          <p:cNvSpPr/>
          <p:nvPr/>
        </p:nvSpPr>
        <p:spPr>
          <a:xfrm>
            <a:off x="9906000" y="3714750"/>
            <a:ext cx="1714500" cy="723900"/>
          </a:xfrm>
          <a:prstGeom prst="roundRect">
            <a:avLst>
              <a:gd name="adj" fmla="val 5263"/>
            </a:avLst>
          </a:prstGeom>
          <a:solidFill>
            <a:srgbClr val="F0F4F8"/>
          </a:solidFill>
          <a:ln>
            <a:noFill/>
          </a:ln>
        </p:spPr>
      </p:sp>
      <p:sp>
        <p:nvSpPr>
          <p:cNvPr id="26" name="Rectangle 26"/>
          <p:cNvSpPr/>
          <p:nvPr/>
        </p:nvSpPr>
        <p:spPr>
          <a:xfrm>
            <a:off x="9906000" y="3714750"/>
            <a:ext cx="1714500" cy="47625"/>
          </a:xfrm>
          <a:prstGeom prst="roundRect">
            <a:avLst>
              <a:gd name="adj" fmla="val 40000"/>
            </a:avLst>
          </a:prstGeom>
          <a:solidFill>
            <a:srgbClr val="4A90D9"/>
          </a:solidFill>
          <a:ln>
            <a:noFill/>
          </a:ln>
        </p:spPr>
      </p:sp>
      <p:sp>
        <p:nvSpPr>
          <p:cNvPr id="27" name="TextBox 27"/>
          <p:cNvSpPr txBox="1"/>
          <p:nvPr/>
        </p:nvSpPr>
        <p:spPr>
          <a:xfrm>
            <a:off x="10477833" y="3857149"/>
            <a:ext cx="570833"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SimHei"/>
                <a:cs typeface="Arial"/>
              </a:rPr>
              <a:t>用工企业</a:t>
            </a:r>
          </a:p>
        </p:txBody>
      </p:sp>
      <p:sp>
        <p:nvSpPr>
          <p:cNvPr id="28" name="TextBox 28"/>
          <p:cNvSpPr txBox="1"/>
          <p:nvPr/>
        </p:nvSpPr>
        <p:spPr>
          <a:xfrm>
            <a:off x="10477833" y="4028599"/>
            <a:ext cx="570833"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SimHei"/>
                <a:cs typeface="Arial"/>
              </a:rPr>
              <a:t>法务合规</a:t>
            </a:r>
          </a:p>
        </p:txBody>
      </p:sp>
      <p:sp>
        <p:nvSpPr>
          <p:cNvPr id="29" name="TextBox 29"/>
          <p:cNvSpPr txBox="1"/>
          <p:nvPr/>
        </p:nvSpPr>
        <p:spPr>
          <a:xfrm>
            <a:off x="10202751" y="4265295"/>
            <a:ext cx="1120997"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授权合规 · 边界审核</a:t>
            </a:r>
          </a:p>
        </p:txBody>
      </p:sp>
      <p:sp>
        <p:nvSpPr>
          <p:cNvPr id="30" name="Line 30"/>
          <p:cNvSpPr/>
          <p:nvPr/>
        </p:nvSpPr>
        <p:spPr>
          <a:xfrm>
            <a:off x="6838950" y="4762500"/>
            <a:ext cx="1543050" cy="742950"/>
          </a:xfrm>
          <a:prstGeom prst="line">
            <a:avLst/>
          </a:prstGeom>
          <a:noFill/>
          <a:ln w="19050">
            <a:solidFill>
              <a:srgbClr val="CBD5E0"/>
            </a:solidFill>
            <a:tailEnd type="triangle" w="lg" len="lg"/>
          </a:ln>
        </p:spPr>
      </p:sp>
      <p:sp>
        <p:nvSpPr>
          <p:cNvPr id="31" name="Line 31"/>
          <p:cNvSpPr/>
          <p:nvPr/>
        </p:nvSpPr>
        <p:spPr>
          <a:xfrm>
            <a:off x="6838950" y="4762500"/>
            <a:ext cx="1543050" cy="742950"/>
          </a:xfrm>
          <a:custGeom>
            <a:avLst/>
            <a:gdLst/>
            <a:ahLst/>
            <a:cxnLst/>
            <a:rect l="l" t="t" r="r" b="b"/>
            <a:pathLst>
              <a:path w="1543050" h="742950">
                <a:moveTo>
                  <a:pt x="0" y="0"/>
                </a:moveTo>
                <a:lnTo>
                  <a:pt x="1543050" y="742950"/>
                </a:lnTo>
              </a:path>
            </a:pathLst>
          </a:custGeom>
          <a:noFill/>
          <a:ln w="14288">
            <a:solidFill>
              <a:srgbClr val="2D7D46"/>
            </a:solidFill>
            <a:custDash>
              <a:ds d="266666" sp="200000"/>
            </a:custDash>
          </a:ln>
        </p:spPr>
      </p:sp>
      <p:sp>
        <p:nvSpPr>
          <p:cNvPr id="32" name="Rectangle 32"/>
          <p:cNvSpPr/>
          <p:nvPr/>
        </p:nvSpPr>
        <p:spPr>
          <a:xfrm>
            <a:off x="8382000" y="5429250"/>
            <a:ext cx="2686050" cy="685800"/>
          </a:xfrm>
          <a:prstGeom prst="roundRect">
            <a:avLst>
              <a:gd name="adj" fmla="val 5556"/>
            </a:avLst>
          </a:prstGeom>
          <a:solidFill>
            <a:srgbClr val="F0F4F8"/>
          </a:solidFill>
          <a:ln>
            <a:noFill/>
          </a:ln>
        </p:spPr>
      </p:sp>
      <p:sp>
        <p:nvSpPr>
          <p:cNvPr id="33" name="Rectangle 33"/>
          <p:cNvSpPr/>
          <p:nvPr/>
        </p:nvSpPr>
        <p:spPr>
          <a:xfrm>
            <a:off x="8382000" y="5429250"/>
            <a:ext cx="2686050" cy="47625"/>
          </a:xfrm>
          <a:prstGeom prst="roundRect">
            <a:avLst>
              <a:gd name="adj" fmla="val 40000"/>
            </a:avLst>
          </a:prstGeom>
          <a:solidFill>
            <a:srgbClr val="2D7D46"/>
          </a:solidFill>
          <a:ln>
            <a:noFill/>
          </a:ln>
        </p:spPr>
      </p:sp>
      <p:sp>
        <p:nvSpPr>
          <p:cNvPr id="34" name="TextBox 34"/>
          <p:cNvSpPr txBox="1"/>
          <p:nvPr/>
        </p:nvSpPr>
        <p:spPr>
          <a:xfrm>
            <a:off x="9112590" y="5563552"/>
            <a:ext cx="1224870" cy="213360"/>
          </a:xfrm>
          <a:prstGeom prst="rect">
            <a:avLst/>
          </a:prstGeom>
          <a:noFill/>
          <a:ln>
            <a:noFill/>
          </a:ln>
        </p:spPr>
        <p:txBody>
          <a:bodyPr wrap="none" lIns="0" tIns="0" rIns="0" bIns="0" anchor="t" anchorCtr="0">
            <a:spAutoFit/>
          </a:bodyPr>
          <a:lstStyle/>
          <a:p>
            <a:pPr algn="ctr"/>
            <a:r>
              <a:rPr lang="zh-CN" sz="1050" b="1" dirty="0">
                <a:solidFill>
                  <a:srgbClr val="2D7D46"/>
                </a:solidFill>
                <a:latin typeface="Arial"/>
                <a:ea typeface="SimHei"/>
                <a:cs typeface="Arial"/>
              </a:rPr>
              <a:t>承包商 / 外委单位</a:t>
            </a:r>
          </a:p>
        </p:txBody>
      </p:sp>
      <p:sp>
        <p:nvSpPr>
          <p:cNvPr id="35" name="TextBox 35"/>
          <p:cNvSpPr txBox="1"/>
          <p:nvPr/>
        </p:nvSpPr>
        <p:spPr>
          <a:xfrm>
            <a:off x="8783026" y="5838349"/>
            <a:ext cx="1883997"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人员清单 · 培训组织 · 整改配合</a:t>
            </a:r>
          </a:p>
        </p:txBody>
      </p:sp>
      <p:sp>
        <p:nvSpPr>
          <p:cNvPr id="36" name="Line 36"/>
          <p:cNvSpPr/>
          <p:nvPr/>
        </p:nvSpPr>
        <p:spPr>
          <a:xfrm>
            <a:off x="6096000" y="4914900"/>
            <a:ext cx="1" cy="1009650"/>
          </a:xfrm>
          <a:prstGeom prst="line">
            <a:avLst/>
          </a:prstGeom>
          <a:noFill/>
          <a:ln w="19050">
            <a:solidFill>
              <a:srgbClr val="CBD5E0"/>
            </a:solidFill>
            <a:tailEnd type="triangle" w="lg" len="lg"/>
          </a:ln>
        </p:spPr>
      </p:sp>
      <p:sp>
        <p:nvSpPr>
          <p:cNvPr id="37" name="Line 37"/>
          <p:cNvSpPr/>
          <p:nvPr/>
        </p:nvSpPr>
        <p:spPr>
          <a:xfrm>
            <a:off x="6096000" y="4914900"/>
            <a:ext cx="9525" cy="1009650"/>
          </a:xfrm>
          <a:custGeom>
            <a:avLst/>
            <a:gdLst/>
            <a:ahLst/>
            <a:cxnLst/>
            <a:rect l="l" t="t" r="r" b="b"/>
            <a:pathLst>
              <a:path w="9525" h="1009650">
                <a:moveTo>
                  <a:pt x="0" y="0"/>
                </a:moveTo>
                <a:lnTo>
                  <a:pt x="0" y="1009650"/>
                </a:lnTo>
              </a:path>
            </a:pathLst>
          </a:custGeom>
          <a:noFill/>
          <a:ln w="14288">
            <a:solidFill>
              <a:srgbClr val="C53030"/>
            </a:solidFill>
            <a:custDash>
              <a:ds d="266666" sp="200000"/>
            </a:custDash>
          </a:ln>
        </p:spPr>
      </p:sp>
      <p:sp>
        <p:nvSpPr>
          <p:cNvPr id="38" name="Rectangle 38"/>
          <p:cNvSpPr/>
          <p:nvPr/>
        </p:nvSpPr>
        <p:spPr>
          <a:xfrm>
            <a:off x="4819650" y="5924550"/>
            <a:ext cx="2552700" cy="552450"/>
          </a:xfrm>
          <a:prstGeom prst="roundRect">
            <a:avLst>
              <a:gd name="adj" fmla="val 6897"/>
            </a:avLst>
          </a:prstGeom>
          <a:solidFill>
            <a:srgbClr val="F0F4F8"/>
          </a:solidFill>
          <a:ln>
            <a:noFill/>
          </a:ln>
        </p:spPr>
      </p:sp>
      <p:sp>
        <p:nvSpPr>
          <p:cNvPr id="39" name="Rectangle 39"/>
          <p:cNvSpPr/>
          <p:nvPr/>
        </p:nvSpPr>
        <p:spPr>
          <a:xfrm>
            <a:off x="4819650" y="5924550"/>
            <a:ext cx="2552700" cy="47625"/>
          </a:xfrm>
          <a:prstGeom prst="roundRect">
            <a:avLst>
              <a:gd name="adj" fmla="val 40000"/>
            </a:avLst>
          </a:prstGeom>
          <a:solidFill>
            <a:srgbClr val="C53030"/>
          </a:solidFill>
          <a:ln>
            <a:noFill/>
          </a:ln>
        </p:spPr>
      </p:sp>
      <p:sp>
        <p:nvSpPr>
          <p:cNvPr id="40" name="TextBox 40"/>
          <p:cNvSpPr txBox="1"/>
          <p:nvPr/>
        </p:nvSpPr>
        <p:spPr>
          <a:xfrm>
            <a:off x="5641610" y="6058852"/>
            <a:ext cx="908780" cy="213360"/>
          </a:xfrm>
          <a:prstGeom prst="rect">
            <a:avLst/>
          </a:prstGeom>
          <a:noFill/>
          <a:ln>
            <a:noFill/>
          </a:ln>
        </p:spPr>
        <p:txBody>
          <a:bodyPr wrap="none" lIns="0" tIns="0" rIns="0" bIns="0" anchor="t" anchorCtr="0">
            <a:spAutoFit/>
          </a:bodyPr>
          <a:lstStyle/>
          <a:p>
            <a:pPr algn="ctr"/>
            <a:r>
              <a:rPr lang="zh-CN" sz="1050" b="1" dirty="0">
                <a:solidFill>
                  <a:srgbClr val="C53030"/>
                </a:solidFill>
                <a:latin typeface="Arial"/>
                <a:ea typeface="SimHei"/>
                <a:cs typeface="Arial"/>
              </a:rPr>
              <a:t>培训考试机构</a:t>
            </a:r>
          </a:p>
        </p:txBody>
      </p:sp>
      <p:sp>
        <p:nvSpPr>
          <p:cNvPr id="41" name="TextBox 41"/>
          <p:cNvSpPr txBox="1"/>
          <p:nvPr/>
        </p:nvSpPr>
        <p:spPr>
          <a:xfrm>
            <a:off x="5226463" y="6265545"/>
            <a:ext cx="1739075"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课程供给 · 考试组织 · 能力提升</a:t>
            </a:r>
          </a:p>
        </p:txBody>
      </p:sp>
      <p:sp>
        <p:nvSpPr>
          <p:cNvPr id="42" name="Line 42"/>
          <p:cNvSpPr/>
          <p:nvPr/>
        </p:nvSpPr>
        <p:spPr>
          <a:xfrm flipH="1">
            <a:off x="3810000" y="4762500"/>
            <a:ext cx="1543050" cy="742950"/>
          </a:xfrm>
          <a:prstGeom prst="line">
            <a:avLst/>
          </a:prstGeom>
          <a:noFill/>
          <a:ln w="19050">
            <a:solidFill>
              <a:srgbClr val="CBD5E0"/>
            </a:solidFill>
            <a:tailEnd type="triangle" w="lg" len="lg"/>
          </a:ln>
        </p:spPr>
      </p:sp>
      <p:sp>
        <p:nvSpPr>
          <p:cNvPr id="43" name="Line 43"/>
          <p:cNvSpPr/>
          <p:nvPr/>
        </p:nvSpPr>
        <p:spPr>
          <a:xfrm>
            <a:off x="3810000" y="4762500"/>
            <a:ext cx="1543050" cy="742950"/>
          </a:xfrm>
          <a:custGeom>
            <a:avLst/>
            <a:gdLst/>
            <a:ahLst/>
            <a:cxnLst/>
            <a:rect l="l" t="t" r="r" b="b"/>
            <a:pathLst>
              <a:path w="1543050" h="742950">
                <a:moveTo>
                  <a:pt x="1543050" y="0"/>
                </a:moveTo>
                <a:lnTo>
                  <a:pt x="0" y="742950"/>
                </a:lnTo>
              </a:path>
            </a:pathLst>
          </a:custGeom>
          <a:noFill/>
          <a:ln w="14288">
            <a:solidFill>
              <a:srgbClr val="718096"/>
            </a:solidFill>
            <a:custDash>
              <a:ds d="266666" sp="200000"/>
            </a:custDash>
          </a:ln>
        </p:spPr>
      </p:sp>
      <p:sp>
        <p:nvSpPr>
          <p:cNvPr id="44" name="Rectangle 44"/>
          <p:cNvSpPr/>
          <p:nvPr/>
        </p:nvSpPr>
        <p:spPr>
          <a:xfrm>
            <a:off x="1123950" y="5429250"/>
            <a:ext cx="2686050" cy="685800"/>
          </a:xfrm>
          <a:prstGeom prst="roundRect">
            <a:avLst>
              <a:gd name="adj" fmla="val 5556"/>
            </a:avLst>
          </a:prstGeom>
          <a:solidFill>
            <a:srgbClr val="F0F4F8"/>
          </a:solidFill>
          <a:ln>
            <a:noFill/>
          </a:ln>
        </p:spPr>
      </p:sp>
      <p:sp>
        <p:nvSpPr>
          <p:cNvPr id="45" name="Rectangle 45"/>
          <p:cNvSpPr/>
          <p:nvPr/>
        </p:nvSpPr>
        <p:spPr>
          <a:xfrm>
            <a:off x="1123950" y="5429250"/>
            <a:ext cx="2686050" cy="47625"/>
          </a:xfrm>
          <a:prstGeom prst="roundRect">
            <a:avLst>
              <a:gd name="adj" fmla="val 40000"/>
            </a:avLst>
          </a:prstGeom>
          <a:solidFill>
            <a:srgbClr val="718096"/>
          </a:solidFill>
          <a:ln>
            <a:noFill/>
          </a:ln>
        </p:spPr>
      </p:sp>
      <p:sp>
        <p:nvSpPr>
          <p:cNvPr id="46" name="TextBox 46"/>
          <p:cNvSpPr txBox="1"/>
          <p:nvPr/>
        </p:nvSpPr>
        <p:spPr>
          <a:xfrm>
            <a:off x="2086094" y="5563552"/>
            <a:ext cx="761762" cy="213360"/>
          </a:xfrm>
          <a:prstGeom prst="rect">
            <a:avLst/>
          </a:prstGeom>
          <a:noFill/>
          <a:ln>
            <a:noFill/>
          </a:ln>
        </p:spPr>
        <p:txBody>
          <a:bodyPr wrap="none" lIns="0" tIns="0" rIns="0" bIns="0" anchor="t" anchorCtr="0">
            <a:spAutoFit/>
          </a:bodyPr>
          <a:lstStyle/>
          <a:p>
            <a:pPr algn="ctr"/>
            <a:r>
              <a:rPr lang="zh-CN" sz="1050" b="1" dirty="0">
                <a:solidFill>
                  <a:srgbClr val="718096"/>
                </a:solidFill>
                <a:latin typeface="Arial"/>
                <a:ea typeface="SimHei"/>
                <a:cs typeface="Arial"/>
              </a:rPr>
              <a:t>技术服务方</a:t>
            </a:r>
          </a:p>
        </p:txBody>
      </p:sp>
      <p:sp>
        <p:nvSpPr>
          <p:cNvPr id="47" name="TextBox 47"/>
          <p:cNvSpPr txBox="1"/>
          <p:nvPr/>
        </p:nvSpPr>
        <p:spPr>
          <a:xfrm>
            <a:off x="1524976" y="5819299"/>
            <a:ext cx="1883997"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系统开发 · 接口集成 · 运行保障</a:t>
            </a:r>
          </a:p>
        </p:txBody>
      </p:sp>
      <p:sp>
        <p:nvSpPr>
          <p:cNvPr id="48" name="Line 48"/>
          <p:cNvSpPr/>
          <p:nvPr/>
        </p:nvSpPr>
        <p:spPr>
          <a:xfrm flipH="1">
            <a:off x="2266950" y="4076700"/>
            <a:ext cx="2990850" cy="1"/>
          </a:xfrm>
          <a:prstGeom prst="line">
            <a:avLst/>
          </a:prstGeom>
          <a:noFill/>
          <a:ln w="19050">
            <a:solidFill>
              <a:srgbClr val="CBD5E0"/>
            </a:solidFill>
            <a:tailEnd type="triangle" w="lg" len="lg"/>
          </a:ln>
        </p:spPr>
      </p:sp>
      <p:sp>
        <p:nvSpPr>
          <p:cNvPr id="49" name="Line 49"/>
          <p:cNvSpPr/>
          <p:nvPr/>
        </p:nvSpPr>
        <p:spPr>
          <a:xfrm>
            <a:off x="2266950" y="4076700"/>
            <a:ext cx="2990850" cy="9525"/>
          </a:xfrm>
          <a:custGeom>
            <a:avLst/>
            <a:gdLst/>
            <a:ahLst/>
            <a:cxnLst/>
            <a:rect l="l" t="t" r="r" b="b"/>
            <a:pathLst>
              <a:path w="2990850" h="9525">
                <a:moveTo>
                  <a:pt x="2990850" y="0"/>
                </a:moveTo>
                <a:lnTo>
                  <a:pt x="0" y="0"/>
                </a:lnTo>
              </a:path>
            </a:pathLst>
          </a:custGeom>
          <a:noFill/>
          <a:ln w="14288">
            <a:solidFill>
              <a:srgbClr val="4A5568"/>
            </a:solidFill>
            <a:custDash>
              <a:ds d="266666" sp="200000"/>
            </a:custDash>
          </a:ln>
        </p:spPr>
      </p:sp>
      <p:sp>
        <p:nvSpPr>
          <p:cNvPr id="50" name="Rectangle 50"/>
          <p:cNvSpPr/>
          <p:nvPr/>
        </p:nvSpPr>
        <p:spPr>
          <a:xfrm>
            <a:off x="552450" y="3714750"/>
            <a:ext cx="1714500" cy="723900"/>
          </a:xfrm>
          <a:prstGeom prst="roundRect">
            <a:avLst>
              <a:gd name="adj" fmla="val 5263"/>
            </a:avLst>
          </a:prstGeom>
          <a:solidFill>
            <a:srgbClr val="F0F4F8"/>
          </a:solidFill>
          <a:ln>
            <a:noFill/>
          </a:ln>
        </p:spPr>
      </p:sp>
      <p:sp>
        <p:nvSpPr>
          <p:cNvPr id="51" name="Rectangle 51"/>
          <p:cNvSpPr/>
          <p:nvPr/>
        </p:nvSpPr>
        <p:spPr>
          <a:xfrm>
            <a:off x="552450" y="3714750"/>
            <a:ext cx="1714500" cy="47625"/>
          </a:xfrm>
          <a:prstGeom prst="roundRect">
            <a:avLst>
              <a:gd name="adj" fmla="val 40000"/>
            </a:avLst>
          </a:prstGeom>
          <a:solidFill>
            <a:srgbClr val="4A5568"/>
          </a:solidFill>
          <a:ln>
            <a:noFill/>
          </a:ln>
        </p:spPr>
      </p:sp>
      <p:sp>
        <p:nvSpPr>
          <p:cNvPr id="52" name="TextBox 52"/>
          <p:cNvSpPr txBox="1"/>
          <p:nvPr/>
        </p:nvSpPr>
        <p:spPr>
          <a:xfrm>
            <a:off x="1124283" y="3857149"/>
            <a:ext cx="570833" cy="198120"/>
          </a:xfrm>
          <a:prstGeom prst="rect">
            <a:avLst/>
          </a:prstGeom>
          <a:noFill/>
          <a:ln>
            <a:noFill/>
          </a:ln>
        </p:spPr>
        <p:txBody>
          <a:bodyPr wrap="none" lIns="0" tIns="0" rIns="0" bIns="0" anchor="t" anchorCtr="0">
            <a:spAutoFit/>
          </a:bodyPr>
          <a:lstStyle/>
          <a:p>
            <a:pPr algn="ctr"/>
            <a:r>
              <a:rPr lang="zh-CN" sz="975" b="1" dirty="0">
                <a:solidFill>
                  <a:srgbClr val="4A5568"/>
                </a:solidFill>
                <a:latin typeface="Arial"/>
                <a:ea typeface="SimHei"/>
                <a:cs typeface="Arial"/>
              </a:rPr>
              <a:t>会员企业</a:t>
            </a:r>
          </a:p>
        </p:txBody>
      </p:sp>
      <p:sp>
        <p:nvSpPr>
          <p:cNvPr id="53" name="TextBox 53"/>
          <p:cNvSpPr txBox="1"/>
          <p:nvPr/>
        </p:nvSpPr>
        <p:spPr>
          <a:xfrm>
            <a:off x="987766" y="4028599"/>
            <a:ext cx="843867" cy="198120"/>
          </a:xfrm>
          <a:prstGeom prst="rect">
            <a:avLst/>
          </a:prstGeom>
          <a:noFill/>
          <a:ln>
            <a:noFill/>
          </a:ln>
        </p:spPr>
        <p:txBody>
          <a:bodyPr wrap="none" lIns="0" tIns="0" rIns="0" bIns="0" anchor="t" anchorCtr="0">
            <a:spAutoFit/>
          </a:bodyPr>
          <a:lstStyle/>
          <a:p>
            <a:pPr algn="ctr"/>
            <a:r>
              <a:rPr lang="zh-CN" sz="975" b="1" dirty="0">
                <a:solidFill>
                  <a:srgbClr val="4A5568"/>
                </a:solidFill>
                <a:latin typeface="Arial"/>
                <a:ea typeface="SimHei"/>
                <a:cs typeface="Arial"/>
              </a:rPr>
              <a:t>安全管理部门</a:t>
            </a:r>
          </a:p>
        </p:txBody>
      </p:sp>
      <p:sp>
        <p:nvSpPr>
          <p:cNvPr id="54" name="TextBox 54"/>
          <p:cNvSpPr txBox="1"/>
          <p:nvPr/>
        </p:nvSpPr>
        <p:spPr>
          <a:xfrm>
            <a:off x="849201" y="4265295"/>
            <a:ext cx="1120997" cy="182880"/>
          </a:xfrm>
          <a:prstGeom prst="rect">
            <a:avLst/>
          </a:prstGeom>
          <a:noFill/>
          <a:ln>
            <a:noFill/>
          </a:ln>
        </p:spPr>
        <p:txBody>
          <a:bodyPr wrap="none" lIns="0" tIns="0" rIns="0" bIns="0" anchor="t" anchorCtr="0">
            <a:spAutoFit/>
          </a:bodyPr>
          <a:lstStyle/>
          <a:p>
            <a:pPr algn="ctr"/>
            <a:r>
              <a:rPr lang="zh-CN" sz="900" dirty="0">
                <a:solidFill>
                  <a:srgbClr val="4A5568"/>
                </a:solidFill>
                <a:latin typeface="Arial"/>
                <a:ea typeface="Microsoft YaHei"/>
                <a:cs typeface="Arial"/>
              </a:rPr>
              <a:t>需求反馈 · 推广协同</a:t>
            </a:r>
          </a:p>
        </p:txBody>
      </p:sp>
      <p:sp>
        <p:nvSpPr>
          <p:cNvPr id="55" name="TextBox 55"/>
          <p:cNvSpPr txBox="1"/>
          <p:nvPr/>
        </p:nvSpPr>
        <p:spPr>
          <a:xfrm>
            <a:off x="3804285" y="6522720"/>
            <a:ext cx="4583430"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注：双向箭头代表协同关系；实线为强绑定关系（合同层面），虚线为协调配合关系。</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077912"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第四章 · 实施与运营</a:t>
            </a:r>
          </a:p>
        </p:txBody>
      </p:sp>
      <p:sp>
        <p:nvSpPr>
          <p:cNvPr id="4" name="TextBox 4"/>
          <p:cNvSpPr txBox="1"/>
          <p:nvPr/>
        </p:nvSpPr>
        <p:spPr>
          <a:xfrm>
            <a:off x="525780" y="1183005"/>
            <a:ext cx="5934075"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验收标准：五类指标衡量先行验证期核心成果</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3148846" y="1688306"/>
            <a:ext cx="5894308"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五类指标覆盖业务嵌入、效率、风险、合规、商业五个维度，形成90天可交付的验证结论</a:t>
            </a:r>
          </a:p>
        </p:txBody>
      </p:sp>
      <p:sp>
        <p:nvSpPr>
          <p:cNvPr id="7" name="Rectangle 7"/>
          <p:cNvSpPr/>
          <p:nvPr/>
        </p:nvSpPr>
        <p:spPr>
          <a:xfrm>
            <a:off x="552450" y="2000250"/>
            <a:ext cx="2095500" cy="4286250"/>
          </a:xfrm>
          <a:prstGeom prst="roundRect">
            <a:avLst>
              <a:gd name="adj" fmla="val 1818"/>
            </a:avLst>
          </a:prstGeom>
          <a:solidFill>
            <a:srgbClr val="003A70"/>
          </a:solidFill>
          <a:ln>
            <a:noFill/>
          </a:ln>
        </p:spPr>
      </p:sp>
      <p:sp>
        <p:nvSpPr>
          <p:cNvPr id="8" name="Rectangle 8"/>
          <p:cNvSpPr/>
          <p:nvPr/>
        </p:nvSpPr>
        <p:spPr>
          <a:xfrm>
            <a:off x="552450" y="2000250"/>
            <a:ext cx="2095500" cy="76200"/>
          </a:xfrm>
          <a:prstGeom prst="roundRect">
            <a:avLst>
              <a:gd name="adj" fmla="val 50000"/>
            </a:avLst>
          </a:prstGeom>
          <a:solidFill>
            <a:srgbClr val="003A70"/>
          </a:solidFill>
          <a:ln>
            <a:noFill/>
          </a:ln>
        </p:spPr>
      </p:sp>
      <p:sp>
        <p:nvSpPr>
          <p:cNvPr id="9" name="Ellipse 9"/>
          <p:cNvSpPr/>
          <p:nvPr/>
        </p:nvSpPr>
        <p:spPr>
          <a:xfrm>
            <a:off x="1104900" y="2171700"/>
            <a:ext cx="990600" cy="990600"/>
          </a:xfrm>
          <a:prstGeom prst="ellipse">
            <a:avLst/>
          </a:prstGeom>
          <a:solidFill>
            <a:srgbClr val="FFFFFF">
              <a:alpha val="8000"/>
            </a:srgbClr>
          </a:solidFill>
          <a:ln>
            <a:noFill/>
          </a:ln>
        </p:spPr>
      </p:sp>
      <p:sp>
        <p:nvSpPr>
          <p:cNvPr id="10" name="TextBox 10"/>
          <p:cNvSpPr txBox="1"/>
          <p:nvPr/>
        </p:nvSpPr>
        <p:spPr>
          <a:xfrm>
            <a:off x="1357984" y="2261235"/>
            <a:ext cx="484432" cy="548640"/>
          </a:xfrm>
          <a:prstGeom prst="rect">
            <a:avLst/>
          </a:prstGeom>
          <a:noFill/>
          <a:ln>
            <a:noFill/>
          </a:ln>
        </p:spPr>
        <p:txBody>
          <a:bodyPr wrap="none" lIns="0" tIns="0" rIns="0" bIns="0" anchor="t" anchorCtr="0">
            <a:spAutoFit/>
          </a:bodyPr>
          <a:lstStyle/>
          <a:p>
            <a:pPr algn="ctr"/>
            <a:r>
              <a:rPr lang="en-US" sz="2700" b="1" dirty="0">
                <a:solidFill>
                  <a:srgbClr val="FFFFFF"/>
                </a:solidFill>
                <a:latin typeface="Arial"/>
                <a:ea typeface="Arial"/>
                <a:cs typeface="Arial"/>
              </a:rPr>
              <a:t>≥3</a:t>
            </a:r>
          </a:p>
        </p:txBody>
      </p:sp>
      <p:sp>
        <p:nvSpPr>
          <p:cNvPr id="11" name="TextBox 11"/>
          <p:cNvSpPr txBox="1"/>
          <p:nvPr/>
        </p:nvSpPr>
        <p:spPr>
          <a:xfrm>
            <a:off x="1236821" y="2725102"/>
            <a:ext cx="726758" cy="213360"/>
          </a:xfrm>
          <a:prstGeom prst="rect">
            <a:avLst/>
          </a:prstGeom>
          <a:noFill/>
          <a:ln>
            <a:noFill/>
          </a:ln>
        </p:spPr>
        <p:txBody>
          <a:bodyPr wrap="none" lIns="0" tIns="0" rIns="0" bIns="0" anchor="t" anchorCtr="0">
            <a:spAutoFit/>
          </a:bodyPr>
          <a:lstStyle/>
          <a:p>
            <a:pPr algn="ctr"/>
            <a:r>
              <a:rPr lang="zh-CN" sz="1050" dirty="0">
                <a:solidFill>
                  <a:srgbClr val="E8EDF3"/>
                </a:solidFill>
                <a:latin typeface="Arial"/>
                <a:ea typeface="Microsoft YaHei"/>
                <a:cs typeface="Arial"/>
              </a:rPr>
              <a:t>家企业落地</a:t>
            </a:r>
          </a:p>
        </p:txBody>
      </p:sp>
      <p:sp>
        <p:nvSpPr>
          <p:cNvPr id="12" name="TextBox 12"/>
          <p:cNvSpPr txBox="1"/>
          <p:nvPr/>
        </p:nvSpPr>
        <p:spPr>
          <a:xfrm>
            <a:off x="1015984" y="3264218"/>
            <a:ext cx="1168432"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业务嵌入深度</a:t>
            </a:r>
          </a:p>
        </p:txBody>
      </p:sp>
      <p:sp>
        <p:nvSpPr>
          <p:cNvPr id="13" name="Line 13"/>
          <p:cNvSpPr/>
          <p:nvPr/>
        </p:nvSpPr>
        <p:spPr>
          <a:xfrm>
            <a:off x="838200" y="3562350"/>
            <a:ext cx="1524000" cy="9525"/>
          </a:xfrm>
          <a:custGeom>
            <a:avLst/>
            <a:gdLst/>
            <a:ahLst/>
            <a:cxnLst/>
            <a:rect l="l" t="t" r="r" b="b"/>
            <a:pathLst>
              <a:path w="1524000" h="9525">
                <a:moveTo>
                  <a:pt x="0" y="0"/>
                </a:moveTo>
                <a:lnTo>
                  <a:pt x="1524000" y="0"/>
                </a:lnTo>
              </a:path>
            </a:pathLst>
          </a:custGeom>
          <a:noFill/>
          <a:ln w="9525">
            <a:solidFill>
              <a:srgbClr val="FFFFFF">
                <a:alpha val="20000"/>
              </a:srgbClr>
            </a:solidFill>
          </a:ln>
        </p:spPr>
      </p:sp>
      <p:sp>
        <p:nvSpPr>
          <p:cNvPr id="14" name="TextBox 14"/>
          <p:cNvSpPr txBox="1"/>
          <p:nvPr/>
        </p:nvSpPr>
        <p:spPr>
          <a:xfrm>
            <a:off x="729615" y="3715702"/>
            <a:ext cx="1146810" cy="1451610"/>
          </a:xfrm>
          <a:prstGeom prst="rect">
            <a:avLst/>
          </a:prstGeom>
          <a:noFill/>
          <a:ln>
            <a:noFill/>
          </a:ln>
        </p:spPr>
        <p:txBody>
          <a:bodyPr wrap="square" lIns="0" tIns="0" rIns="0" bIns="0" anchor="t" anchorCtr="0"/>
          <a:lstStyle/>
          <a:p>
            <a:pPr algn="l">
              <a:lnSpc>
                <a:spcPts val="1950"/>
              </a:lnSpc>
            </a:pPr>
            <a:r>
              <a:rPr lang="zh-CN" sz="1050" dirty="0">
                <a:solidFill>
                  <a:srgbClr val="E8EDF3"/>
                </a:solidFill>
                <a:latin typeface="Arial"/>
                <a:ea typeface="Microsoft YaHei"/>
                <a:cs typeface="Arial"/>
              </a:rPr>
              <a:t>· 3家以上用工企业</a:t>
            </a:r>
            <a:r>
              <a:rPr lang="zh-CN" sz="1050" dirty="0">
                <a:solidFill>
                  <a:srgbClr val="E8EDF3"/>
                </a:solidFill>
                <a:latin typeface="Arial"/>
                <a:ea typeface="Microsoft YaHei"/>
                <a:cs typeface="Arial"/>
              </a:rPr>
              <a:t>完成系统接入</a:t>
            </a:r>
            <a:r>
              <a:rPr lang="zh-CN" sz="1050" dirty="0">
                <a:solidFill>
                  <a:srgbClr val="E8EDF3"/>
                </a:solidFill>
                <a:latin typeface="Arial"/>
                <a:ea typeface="Microsoft YaHei"/>
                <a:cs typeface="Arial"/>
              </a:rPr>
              <a:t>· 覆盖300名以上</a:t>
            </a:r>
            <a:r>
              <a:rPr lang="zh-CN" sz="1050" dirty="0">
                <a:solidFill>
                  <a:srgbClr val="E8EDF3"/>
                </a:solidFill>
                <a:latin typeface="Arial"/>
                <a:ea typeface="Microsoft YaHei"/>
                <a:cs typeface="Arial"/>
              </a:rPr>
              <a:t>外委作业人员</a:t>
            </a:r>
            <a:r>
              <a:rPr lang="zh-CN" sz="1050" dirty="0">
                <a:solidFill>
                  <a:srgbClr val="E8EDF3"/>
                </a:solidFill>
                <a:latin typeface="Arial"/>
                <a:ea typeface="Microsoft YaHei"/>
                <a:cs typeface="Arial"/>
              </a:rPr>
              <a:t>· 3类以上岗位</a:t>
            </a:r>
            <a:r>
              <a:rPr lang="zh-CN" sz="1050" dirty="0">
                <a:solidFill>
                  <a:srgbClr val="E8EDF3"/>
                </a:solidFill>
                <a:latin typeface="Arial"/>
                <a:ea typeface="Microsoft YaHei"/>
                <a:cs typeface="Arial"/>
              </a:rPr>
              <a:t>完成规则配置</a:t>
            </a:r>
          </a:p>
        </p:txBody>
      </p:sp>
      <p:sp>
        <p:nvSpPr>
          <p:cNvPr id="15" name="Rectangle 15"/>
          <p:cNvSpPr/>
          <p:nvPr/>
        </p:nvSpPr>
        <p:spPr>
          <a:xfrm>
            <a:off x="838200" y="5924550"/>
            <a:ext cx="1524000" cy="247650"/>
          </a:xfrm>
          <a:prstGeom prst="roundRect">
            <a:avLst>
              <a:gd name="adj" fmla="val 50000"/>
            </a:avLst>
          </a:prstGeom>
          <a:solidFill>
            <a:srgbClr val="FFFFFF">
              <a:alpha val="12000"/>
            </a:srgbClr>
          </a:solidFill>
          <a:ln>
            <a:noFill/>
          </a:ln>
        </p:spPr>
      </p:sp>
      <p:sp>
        <p:nvSpPr>
          <p:cNvPr id="16" name="TextBox 16"/>
          <p:cNvSpPr txBox="1"/>
          <p:nvPr/>
        </p:nvSpPr>
        <p:spPr>
          <a:xfrm>
            <a:off x="1236774" y="5990749"/>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01 业务嵌入</a:t>
            </a:r>
          </a:p>
        </p:txBody>
      </p:sp>
      <p:sp>
        <p:nvSpPr>
          <p:cNvPr id="17" name="Rectangle 17"/>
          <p:cNvSpPr/>
          <p:nvPr/>
        </p:nvSpPr>
        <p:spPr>
          <a:xfrm>
            <a:off x="2800350" y="2000250"/>
            <a:ext cx="2095500" cy="4286250"/>
          </a:xfrm>
          <a:prstGeom prst="roundRect">
            <a:avLst>
              <a:gd name="adj" fmla="val 1818"/>
            </a:avLst>
          </a:prstGeom>
          <a:solidFill>
            <a:srgbClr val="0077CC"/>
          </a:solidFill>
          <a:ln>
            <a:noFill/>
          </a:ln>
        </p:spPr>
      </p:sp>
      <p:sp>
        <p:nvSpPr>
          <p:cNvPr id="18" name="Ellipse 18"/>
          <p:cNvSpPr/>
          <p:nvPr/>
        </p:nvSpPr>
        <p:spPr>
          <a:xfrm>
            <a:off x="3352800" y="2171700"/>
            <a:ext cx="990600" cy="990600"/>
          </a:xfrm>
          <a:prstGeom prst="ellipse">
            <a:avLst/>
          </a:prstGeom>
          <a:solidFill>
            <a:srgbClr val="FFFFFF">
              <a:alpha val="8000"/>
            </a:srgbClr>
          </a:solidFill>
          <a:ln>
            <a:noFill/>
          </a:ln>
        </p:spPr>
      </p:sp>
      <p:sp>
        <p:nvSpPr>
          <p:cNvPr id="19" name="TextBox 19"/>
          <p:cNvSpPr txBox="1"/>
          <p:nvPr/>
        </p:nvSpPr>
        <p:spPr>
          <a:xfrm>
            <a:off x="3464116" y="2261235"/>
            <a:ext cx="767967" cy="548640"/>
          </a:xfrm>
          <a:prstGeom prst="rect">
            <a:avLst/>
          </a:prstGeom>
          <a:noFill/>
          <a:ln>
            <a:noFill/>
          </a:ln>
        </p:spPr>
        <p:txBody>
          <a:bodyPr wrap="none" lIns="0" tIns="0" rIns="0" bIns="0" anchor="t" anchorCtr="0">
            <a:spAutoFit/>
          </a:bodyPr>
          <a:lstStyle/>
          <a:p>
            <a:pPr algn="ctr"/>
            <a:r>
              <a:rPr lang="en-US" sz="2700" b="1" dirty="0">
                <a:solidFill>
                  <a:srgbClr val="FFFFFF"/>
                </a:solidFill>
                <a:latin typeface="Arial"/>
                <a:ea typeface="Arial"/>
                <a:cs typeface="Arial"/>
              </a:rPr>
              <a:t>50%</a:t>
            </a:r>
          </a:p>
        </p:txBody>
      </p:sp>
      <p:sp>
        <p:nvSpPr>
          <p:cNvPr id="20" name="TextBox 20"/>
          <p:cNvSpPr txBox="1"/>
          <p:nvPr/>
        </p:nvSpPr>
        <p:spPr>
          <a:xfrm>
            <a:off x="3554730" y="2725102"/>
            <a:ext cx="586740" cy="213360"/>
          </a:xfrm>
          <a:prstGeom prst="rect">
            <a:avLst/>
          </a:prstGeom>
          <a:noFill/>
          <a:ln>
            <a:noFill/>
          </a:ln>
        </p:spPr>
        <p:txBody>
          <a:bodyPr wrap="none" lIns="0" tIns="0" rIns="0" bIns="0" anchor="t" anchorCtr="0">
            <a:spAutoFit/>
          </a:bodyPr>
          <a:lstStyle/>
          <a:p>
            <a:pPr algn="ctr"/>
            <a:r>
              <a:rPr lang="zh-CN" sz="1050" dirty="0">
                <a:solidFill>
                  <a:srgbClr val="E8EDF3"/>
                </a:solidFill>
                <a:latin typeface="Arial"/>
                <a:ea typeface="Microsoft YaHei"/>
                <a:cs typeface="Arial"/>
              </a:rPr>
              <a:t>效率提升</a:t>
            </a:r>
          </a:p>
        </p:txBody>
      </p:sp>
      <p:sp>
        <p:nvSpPr>
          <p:cNvPr id="21" name="TextBox 21"/>
          <p:cNvSpPr txBox="1"/>
          <p:nvPr/>
        </p:nvSpPr>
        <p:spPr>
          <a:xfrm>
            <a:off x="3452908" y="32642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效率提升</a:t>
            </a:r>
          </a:p>
        </p:txBody>
      </p:sp>
      <p:sp>
        <p:nvSpPr>
          <p:cNvPr id="22" name="Line 22"/>
          <p:cNvSpPr/>
          <p:nvPr/>
        </p:nvSpPr>
        <p:spPr>
          <a:xfrm>
            <a:off x="3086100" y="3562350"/>
            <a:ext cx="1524000" cy="9525"/>
          </a:xfrm>
          <a:custGeom>
            <a:avLst/>
            <a:gdLst/>
            <a:ahLst/>
            <a:cxnLst/>
            <a:rect l="l" t="t" r="r" b="b"/>
            <a:pathLst>
              <a:path w="1524000" h="9525">
                <a:moveTo>
                  <a:pt x="0" y="0"/>
                </a:moveTo>
                <a:lnTo>
                  <a:pt x="1524000" y="0"/>
                </a:lnTo>
              </a:path>
            </a:pathLst>
          </a:custGeom>
          <a:noFill/>
          <a:ln w="9525">
            <a:solidFill>
              <a:srgbClr val="FFFFFF">
                <a:alpha val="20000"/>
              </a:srgbClr>
            </a:solidFill>
          </a:ln>
        </p:spPr>
      </p:sp>
      <p:sp>
        <p:nvSpPr>
          <p:cNvPr id="23" name="TextBox 23"/>
          <p:cNvSpPr txBox="1"/>
          <p:nvPr/>
        </p:nvSpPr>
        <p:spPr>
          <a:xfrm>
            <a:off x="2977515" y="3715702"/>
            <a:ext cx="1073468" cy="1451610"/>
          </a:xfrm>
          <a:prstGeom prst="rect">
            <a:avLst/>
          </a:prstGeom>
          <a:noFill/>
          <a:ln>
            <a:noFill/>
          </a:ln>
        </p:spPr>
        <p:txBody>
          <a:bodyPr wrap="square" lIns="0" tIns="0" rIns="0" bIns="0" anchor="t" anchorCtr="0"/>
          <a:lstStyle/>
          <a:p>
            <a:pPr algn="l">
              <a:lnSpc>
                <a:spcPts val="1950"/>
              </a:lnSpc>
            </a:pPr>
            <a:r>
              <a:rPr lang="zh-CN" sz="1050" dirty="0">
                <a:solidFill>
                  <a:srgbClr val="E8EDF3"/>
                </a:solidFill>
                <a:latin typeface="Arial"/>
                <a:ea typeface="Microsoft YaHei"/>
                <a:cs typeface="Arial"/>
              </a:rPr>
              <a:t>· 核验周期由人工</a:t>
            </a:r>
            <a:r>
              <a:rPr lang="zh-CN" sz="1050" dirty="0">
                <a:solidFill>
                  <a:srgbClr val="E8EDF3"/>
                </a:solidFill>
                <a:latin typeface="Arial"/>
                <a:ea typeface="Microsoft YaHei"/>
                <a:cs typeface="Arial"/>
              </a:rPr>
              <a:t>3天缩短至1天内</a:t>
            </a:r>
            <a:r>
              <a:rPr lang="zh-CN" sz="1050" dirty="0">
                <a:solidFill>
                  <a:srgbClr val="E8EDF3"/>
                </a:solidFill>
                <a:latin typeface="Arial"/>
                <a:ea typeface="Microsoft YaHei"/>
                <a:cs typeface="Arial"/>
              </a:rPr>
              <a:t>· 结果出具效率</a:t>
            </a:r>
            <a:r>
              <a:rPr lang="zh-CN" sz="1050" dirty="0">
                <a:solidFill>
                  <a:srgbClr val="E8EDF3"/>
                </a:solidFill>
                <a:latin typeface="Arial"/>
                <a:ea typeface="Microsoft YaHei"/>
                <a:cs typeface="Arial"/>
              </a:rPr>
              <a:t>提升50%以上</a:t>
            </a:r>
            <a:r>
              <a:rPr lang="zh-CN" sz="1050" dirty="0">
                <a:solidFill>
                  <a:srgbClr val="E8EDF3"/>
                </a:solidFill>
                <a:latin typeface="Arial"/>
                <a:ea typeface="Microsoft YaHei"/>
                <a:cs typeface="Arial"/>
              </a:rPr>
              <a:t>· 人工核查工作量</a:t>
            </a:r>
            <a:r>
              <a:rPr lang="zh-CN" sz="1050" dirty="0">
                <a:solidFill>
                  <a:srgbClr val="E8EDF3"/>
                </a:solidFill>
                <a:latin typeface="Arial"/>
                <a:ea typeface="Microsoft YaHei"/>
                <a:cs typeface="Arial"/>
              </a:rPr>
              <a:t>降低60%以上</a:t>
            </a:r>
          </a:p>
        </p:txBody>
      </p:sp>
      <p:sp>
        <p:nvSpPr>
          <p:cNvPr id="24" name="Rectangle 24"/>
          <p:cNvSpPr/>
          <p:nvPr/>
        </p:nvSpPr>
        <p:spPr>
          <a:xfrm>
            <a:off x="3086100" y="5924550"/>
            <a:ext cx="1524000" cy="247650"/>
          </a:xfrm>
          <a:prstGeom prst="roundRect">
            <a:avLst>
              <a:gd name="adj" fmla="val 50000"/>
            </a:avLst>
          </a:prstGeom>
          <a:solidFill>
            <a:srgbClr val="FFFFFF">
              <a:alpha val="12000"/>
            </a:srgbClr>
          </a:solidFill>
          <a:ln>
            <a:noFill/>
          </a:ln>
        </p:spPr>
      </p:sp>
      <p:sp>
        <p:nvSpPr>
          <p:cNvPr id="25" name="TextBox 25"/>
          <p:cNvSpPr txBox="1"/>
          <p:nvPr/>
        </p:nvSpPr>
        <p:spPr>
          <a:xfrm>
            <a:off x="3484674" y="5990749"/>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02 效率提升</a:t>
            </a:r>
          </a:p>
        </p:txBody>
      </p:sp>
      <p:sp>
        <p:nvSpPr>
          <p:cNvPr id="26" name="Rectangle 26"/>
          <p:cNvSpPr/>
          <p:nvPr/>
        </p:nvSpPr>
        <p:spPr>
          <a:xfrm>
            <a:off x="5048250" y="2000250"/>
            <a:ext cx="2095500" cy="4286250"/>
          </a:xfrm>
          <a:prstGeom prst="roundRect">
            <a:avLst>
              <a:gd name="adj" fmla="val 1818"/>
            </a:avLst>
          </a:prstGeom>
          <a:solidFill>
            <a:srgbClr val="C53030"/>
          </a:solidFill>
          <a:ln>
            <a:noFill/>
          </a:ln>
        </p:spPr>
      </p:sp>
      <p:sp>
        <p:nvSpPr>
          <p:cNvPr id="27" name="Ellipse 27"/>
          <p:cNvSpPr/>
          <p:nvPr/>
        </p:nvSpPr>
        <p:spPr>
          <a:xfrm>
            <a:off x="5600700" y="2171700"/>
            <a:ext cx="990600" cy="990600"/>
          </a:xfrm>
          <a:prstGeom prst="ellipse">
            <a:avLst/>
          </a:prstGeom>
          <a:solidFill>
            <a:srgbClr val="FFFFFF">
              <a:alpha val="8000"/>
            </a:srgbClr>
          </a:solidFill>
          <a:ln>
            <a:noFill/>
          </a:ln>
        </p:spPr>
      </p:sp>
      <p:sp>
        <p:nvSpPr>
          <p:cNvPr id="28" name="TextBox 28"/>
          <p:cNvSpPr txBox="1"/>
          <p:nvPr/>
        </p:nvSpPr>
        <p:spPr>
          <a:xfrm>
            <a:off x="5853784" y="2261235"/>
            <a:ext cx="484432" cy="548640"/>
          </a:xfrm>
          <a:prstGeom prst="rect">
            <a:avLst/>
          </a:prstGeom>
          <a:noFill/>
          <a:ln>
            <a:noFill/>
          </a:ln>
        </p:spPr>
        <p:txBody>
          <a:bodyPr wrap="none" lIns="0" tIns="0" rIns="0" bIns="0" anchor="t" anchorCtr="0">
            <a:spAutoFit/>
          </a:bodyPr>
          <a:lstStyle/>
          <a:p>
            <a:pPr algn="ctr"/>
            <a:r>
              <a:rPr lang="en-US" sz="2700" b="1" dirty="0">
                <a:solidFill>
                  <a:srgbClr val="FFFFFF"/>
                </a:solidFill>
                <a:latin typeface="Arial"/>
                <a:ea typeface="Arial"/>
                <a:cs typeface="Arial"/>
              </a:rPr>
              <a:t>≥5</a:t>
            </a:r>
          </a:p>
        </p:txBody>
      </p:sp>
      <p:sp>
        <p:nvSpPr>
          <p:cNvPr id="29" name="TextBox 29"/>
          <p:cNvSpPr txBox="1"/>
          <p:nvPr/>
        </p:nvSpPr>
        <p:spPr>
          <a:xfrm>
            <a:off x="5732621" y="2725102"/>
            <a:ext cx="726758" cy="213360"/>
          </a:xfrm>
          <a:prstGeom prst="rect">
            <a:avLst/>
          </a:prstGeom>
          <a:noFill/>
          <a:ln>
            <a:noFill/>
          </a:ln>
        </p:spPr>
        <p:txBody>
          <a:bodyPr wrap="none" lIns="0" tIns="0" rIns="0" bIns="0" anchor="t" anchorCtr="0">
            <a:spAutoFit/>
          </a:bodyPr>
          <a:lstStyle/>
          <a:p>
            <a:pPr algn="ctr"/>
            <a:r>
              <a:rPr lang="zh-CN" sz="1050" dirty="0">
                <a:solidFill>
                  <a:srgbClr val="E8EDF3"/>
                </a:solidFill>
                <a:latin typeface="Arial"/>
                <a:ea typeface="Microsoft YaHei"/>
                <a:cs typeface="Arial"/>
              </a:rPr>
              <a:t>项风险发现</a:t>
            </a:r>
          </a:p>
        </p:txBody>
      </p:sp>
      <p:sp>
        <p:nvSpPr>
          <p:cNvPr id="30" name="TextBox 30"/>
          <p:cNvSpPr txBox="1"/>
          <p:nvPr/>
        </p:nvSpPr>
        <p:spPr>
          <a:xfrm>
            <a:off x="5700808" y="32642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风险发现</a:t>
            </a:r>
          </a:p>
        </p:txBody>
      </p:sp>
      <p:sp>
        <p:nvSpPr>
          <p:cNvPr id="31" name="Line 31"/>
          <p:cNvSpPr/>
          <p:nvPr/>
        </p:nvSpPr>
        <p:spPr>
          <a:xfrm>
            <a:off x="5334000" y="3562350"/>
            <a:ext cx="1524000" cy="9525"/>
          </a:xfrm>
          <a:custGeom>
            <a:avLst/>
            <a:gdLst/>
            <a:ahLst/>
            <a:cxnLst/>
            <a:rect l="l" t="t" r="r" b="b"/>
            <a:pathLst>
              <a:path w="1524000" h="9525">
                <a:moveTo>
                  <a:pt x="0" y="0"/>
                </a:moveTo>
                <a:lnTo>
                  <a:pt x="1524000" y="0"/>
                </a:lnTo>
              </a:path>
            </a:pathLst>
          </a:custGeom>
          <a:noFill/>
          <a:ln w="9525">
            <a:solidFill>
              <a:srgbClr val="FFFFFF">
                <a:alpha val="20000"/>
              </a:srgbClr>
            </a:solidFill>
          </a:ln>
        </p:spPr>
      </p:sp>
      <p:sp>
        <p:nvSpPr>
          <p:cNvPr id="32" name="TextBox 32"/>
          <p:cNvSpPr txBox="1"/>
          <p:nvPr/>
        </p:nvSpPr>
        <p:spPr>
          <a:xfrm>
            <a:off x="5225415" y="3715702"/>
            <a:ext cx="1033462" cy="1451610"/>
          </a:xfrm>
          <a:prstGeom prst="rect">
            <a:avLst/>
          </a:prstGeom>
          <a:noFill/>
          <a:ln>
            <a:noFill/>
          </a:ln>
        </p:spPr>
        <p:txBody>
          <a:bodyPr wrap="square" lIns="0" tIns="0" rIns="0" bIns="0" anchor="t" anchorCtr="0"/>
          <a:lstStyle/>
          <a:p>
            <a:pPr algn="l">
              <a:lnSpc>
                <a:spcPts val="1950"/>
              </a:lnSpc>
            </a:pPr>
            <a:r>
              <a:rPr lang="zh-CN" sz="1050" dirty="0">
                <a:solidFill>
                  <a:srgbClr val="E8EDF3"/>
                </a:solidFill>
                <a:latin typeface="Arial"/>
                <a:ea typeface="Microsoft YaHei"/>
                <a:cs typeface="Arial"/>
              </a:rPr>
              <a:t>· 发现5项以上</a:t>
            </a:r>
            <a:r>
              <a:rPr lang="zh-CN" sz="1050" dirty="0">
                <a:solidFill>
                  <a:srgbClr val="E8EDF3"/>
                </a:solidFill>
                <a:latin typeface="Arial"/>
                <a:ea typeface="Microsoft YaHei"/>
                <a:cs typeface="Arial"/>
              </a:rPr>
              <a:t>证照不符/未培训</a:t>
            </a:r>
            <a:r>
              <a:rPr lang="zh-CN" sz="1050" dirty="0">
                <a:solidFill>
                  <a:srgbClr val="E8EDF3"/>
                </a:solidFill>
                <a:latin typeface="Arial"/>
                <a:ea typeface="Microsoft YaHei"/>
                <a:cs typeface="Arial"/>
              </a:rPr>
              <a:t>等安全隐患</a:t>
            </a:r>
            <a:r>
              <a:rPr lang="zh-CN" sz="1050" dirty="0">
                <a:solidFill>
                  <a:srgbClr val="E8EDF3"/>
                </a:solidFill>
                <a:latin typeface="Arial"/>
                <a:ea typeface="Microsoft YaHei"/>
                <a:cs typeface="Arial"/>
              </a:rPr>
              <a:t>· 形成可追溯的</a:t>
            </a:r>
            <a:r>
              <a:rPr lang="zh-CN" sz="1050" dirty="0">
                <a:solidFill>
                  <a:srgbClr val="E8EDF3"/>
                </a:solidFill>
                <a:latin typeface="Arial"/>
                <a:ea typeface="Microsoft YaHei"/>
                <a:cs typeface="Arial"/>
              </a:rPr>
              <a:t>风险记录台账</a:t>
            </a:r>
            <a:r>
              <a:rPr lang="zh-CN" sz="1050" dirty="0">
                <a:solidFill>
                  <a:srgbClr val="E8EDF3"/>
                </a:solidFill>
                <a:latin typeface="Arial"/>
                <a:ea typeface="Microsoft YaHei"/>
                <a:cs typeface="Arial"/>
              </a:rPr>
              <a:t>· 零安全事故</a:t>
            </a:r>
          </a:p>
        </p:txBody>
      </p:sp>
      <p:sp>
        <p:nvSpPr>
          <p:cNvPr id="33" name="Rectangle 33"/>
          <p:cNvSpPr/>
          <p:nvPr/>
        </p:nvSpPr>
        <p:spPr>
          <a:xfrm>
            <a:off x="5334000" y="5924550"/>
            <a:ext cx="1524000" cy="247650"/>
          </a:xfrm>
          <a:prstGeom prst="roundRect">
            <a:avLst>
              <a:gd name="adj" fmla="val 50000"/>
            </a:avLst>
          </a:prstGeom>
          <a:solidFill>
            <a:srgbClr val="FFFFFF">
              <a:alpha val="12000"/>
            </a:srgbClr>
          </a:solidFill>
          <a:ln>
            <a:noFill/>
          </a:ln>
        </p:spPr>
      </p:sp>
      <p:sp>
        <p:nvSpPr>
          <p:cNvPr id="34" name="TextBox 34"/>
          <p:cNvSpPr txBox="1"/>
          <p:nvPr/>
        </p:nvSpPr>
        <p:spPr>
          <a:xfrm>
            <a:off x="5732574" y="5990749"/>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03 风险发现</a:t>
            </a:r>
          </a:p>
        </p:txBody>
      </p:sp>
      <p:sp>
        <p:nvSpPr>
          <p:cNvPr id="35" name="Rectangle 35"/>
          <p:cNvSpPr/>
          <p:nvPr/>
        </p:nvSpPr>
        <p:spPr>
          <a:xfrm>
            <a:off x="7296150" y="2000250"/>
            <a:ext cx="2095500" cy="4286250"/>
          </a:xfrm>
          <a:prstGeom prst="roundRect">
            <a:avLst>
              <a:gd name="adj" fmla="val 1818"/>
            </a:avLst>
          </a:prstGeom>
          <a:solidFill>
            <a:srgbClr val="4A90D9"/>
          </a:solidFill>
          <a:ln>
            <a:noFill/>
          </a:ln>
        </p:spPr>
      </p:sp>
      <p:sp>
        <p:nvSpPr>
          <p:cNvPr id="36" name="Ellipse 36"/>
          <p:cNvSpPr/>
          <p:nvPr/>
        </p:nvSpPr>
        <p:spPr>
          <a:xfrm>
            <a:off x="7848600" y="2171700"/>
            <a:ext cx="990600" cy="990600"/>
          </a:xfrm>
          <a:prstGeom prst="ellipse">
            <a:avLst/>
          </a:prstGeom>
          <a:solidFill>
            <a:srgbClr val="FFFFFF">
              <a:alpha val="8000"/>
            </a:srgbClr>
          </a:solidFill>
          <a:ln>
            <a:noFill/>
          </a:ln>
        </p:spPr>
      </p:sp>
      <p:sp>
        <p:nvSpPr>
          <p:cNvPr id="37" name="TextBox 37"/>
          <p:cNvSpPr txBox="1"/>
          <p:nvPr/>
        </p:nvSpPr>
        <p:spPr>
          <a:xfrm>
            <a:off x="7855953" y="2261235"/>
            <a:ext cx="975893" cy="548640"/>
          </a:xfrm>
          <a:prstGeom prst="rect">
            <a:avLst/>
          </a:prstGeom>
          <a:noFill/>
          <a:ln>
            <a:noFill/>
          </a:ln>
        </p:spPr>
        <p:txBody>
          <a:bodyPr wrap="none" lIns="0" tIns="0" rIns="0" bIns="0" anchor="t" anchorCtr="0">
            <a:spAutoFit/>
          </a:bodyPr>
          <a:lstStyle/>
          <a:p>
            <a:pPr algn="ctr"/>
            <a:r>
              <a:rPr lang="en-US" sz="2700" b="1" dirty="0">
                <a:solidFill>
                  <a:srgbClr val="FFFFFF"/>
                </a:solidFill>
                <a:latin typeface="Arial"/>
                <a:ea typeface="Arial"/>
                <a:cs typeface="Arial"/>
              </a:rPr>
              <a:t>100%</a:t>
            </a:r>
          </a:p>
        </p:txBody>
      </p:sp>
      <p:sp>
        <p:nvSpPr>
          <p:cNvPr id="38" name="TextBox 38"/>
          <p:cNvSpPr txBox="1"/>
          <p:nvPr/>
        </p:nvSpPr>
        <p:spPr>
          <a:xfrm>
            <a:off x="8050530" y="2725102"/>
            <a:ext cx="586740" cy="213360"/>
          </a:xfrm>
          <a:prstGeom prst="rect">
            <a:avLst/>
          </a:prstGeom>
          <a:noFill/>
          <a:ln>
            <a:noFill/>
          </a:ln>
        </p:spPr>
        <p:txBody>
          <a:bodyPr wrap="none" lIns="0" tIns="0" rIns="0" bIns="0" anchor="t" anchorCtr="0">
            <a:spAutoFit/>
          </a:bodyPr>
          <a:lstStyle/>
          <a:p>
            <a:pPr algn="ctr"/>
            <a:r>
              <a:rPr lang="zh-CN" sz="1050" dirty="0">
                <a:solidFill>
                  <a:srgbClr val="E8EDF3"/>
                </a:solidFill>
                <a:latin typeface="Arial"/>
                <a:ea typeface="Microsoft YaHei"/>
                <a:cs typeface="Arial"/>
              </a:rPr>
              <a:t>授权留痕</a:t>
            </a:r>
          </a:p>
        </p:txBody>
      </p:sp>
      <p:sp>
        <p:nvSpPr>
          <p:cNvPr id="39" name="TextBox 39"/>
          <p:cNvSpPr txBox="1"/>
          <p:nvPr/>
        </p:nvSpPr>
        <p:spPr>
          <a:xfrm>
            <a:off x="7948708" y="32642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合规可控</a:t>
            </a:r>
          </a:p>
        </p:txBody>
      </p:sp>
      <p:sp>
        <p:nvSpPr>
          <p:cNvPr id="40" name="Line 40"/>
          <p:cNvSpPr/>
          <p:nvPr/>
        </p:nvSpPr>
        <p:spPr>
          <a:xfrm>
            <a:off x="7581900" y="3562350"/>
            <a:ext cx="1524000" cy="9525"/>
          </a:xfrm>
          <a:custGeom>
            <a:avLst/>
            <a:gdLst/>
            <a:ahLst/>
            <a:cxnLst/>
            <a:rect l="l" t="t" r="r" b="b"/>
            <a:pathLst>
              <a:path w="1524000" h="9525">
                <a:moveTo>
                  <a:pt x="0" y="0"/>
                </a:moveTo>
                <a:lnTo>
                  <a:pt x="1524000" y="0"/>
                </a:lnTo>
              </a:path>
            </a:pathLst>
          </a:custGeom>
          <a:noFill/>
          <a:ln w="9525">
            <a:solidFill>
              <a:srgbClr val="FFFFFF">
                <a:alpha val="20000"/>
              </a:srgbClr>
            </a:solidFill>
          </a:ln>
        </p:spPr>
      </p:sp>
      <p:sp>
        <p:nvSpPr>
          <p:cNvPr id="41" name="TextBox 41"/>
          <p:cNvSpPr txBox="1"/>
          <p:nvPr/>
        </p:nvSpPr>
        <p:spPr>
          <a:xfrm>
            <a:off x="7473315" y="3715702"/>
            <a:ext cx="993458" cy="1451610"/>
          </a:xfrm>
          <a:prstGeom prst="rect">
            <a:avLst/>
          </a:prstGeom>
          <a:noFill/>
          <a:ln>
            <a:noFill/>
          </a:ln>
        </p:spPr>
        <p:txBody>
          <a:bodyPr wrap="square" lIns="0" tIns="0" rIns="0" bIns="0" anchor="t" anchorCtr="0"/>
          <a:lstStyle/>
          <a:p>
            <a:pPr algn="l">
              <a:lnSpc>
                <a:spcPts val="1950"/>
              </a:lnSpc>
            </a:pPr>
            <a:r>
              <a:rPr lang="zh-CN" sz="1050" dirty="0">
                <a:solidFill>
                  <a:srgbClr val="E8EDF3"/>
                </a:solidFill>
                <a:latin typeface="Arial"/>
                <a:ea typeface="Microsoft YaHei"/>
                <a:cs typeface="Arial"/>
              </a:rPr>
              <a:t>· 100%操作留痕</a:t>
            </a:r>
            <a:r>
              <a:rPr lang="zh-CN" sz="1050" dirty="0">
                <a:solidFill>
                  <a:srgbClr val="E8EDF3"/>
                </a:solidFill>
                <a:latin typeface="Arial"/>
                <a:ea typeface="Microsoft YaHei"/>
                <a:cs typeface="Arial"/>
              </a:rPr>
              <a:t>审计日志完整</a:t>
            </a:r>
            <a:r>
              <a:rPr lang="zh-CN" sz="1050" dirty="0">
                <a:solidFill>
                  <a:srgbClr val="E8EDF3"/>
                </a:solidFill>
                <a:latin typeface="Arial"/>
                <a:ea typeface="Microsoft YaHei"/>
                <a:cs typeface="Arial"/>
              </a:rPr>
              <a:t>· 个人授权100%</a:t>
            </a:r>
            <a:r>
              <a:rPr lang="zh-CN" sz="1050" dirty="0">
                <a:solidFill>
                  <a:srgbClr val="E8EDF3"/>
                </a:solidFill>
                <a:latin typeface="Arial"/>
                <a:ea typeface="Microsoft YaHei"/>
                <a:cs typeface="Arial"/>
              </a:rPr>
              <a:t>覆盖且可撤回</a:t>
            </a:r>
            <a:r>
              <a:rPr lang="zh-CN" sz="1050" dirty="0">
                <a:solidFill>
                  <a:srgbClr val="E8EDF3"/>
                </a:solidFill>
                <a:latin typeface="Arial"/>
                <a:ea typeface="Microsoft YaHei"/>
                <a:cs typeface="Arial"/>
              </a:rPr>
              <a:t>· 通过数据安全</a:t>
            </a:r>
            <a:r>
              <a:rPr lang="zh-CN" sz="1050" dirty="0">
                <a:solidFill>
                  <a:srgbClr val="E8EDF3"/>
                </a:solidFill>
                <a:latin typeface="Arial"/>
                <a:ea typeface="Microsoft YaHei"/>
                <a:cs typeface="Arial"/>
              </a:rPr>
              <a:t>合规验证</a:t>
            </a:r>
          </a:p>
        </p:txBody>
      </p:sp>
      <p:sp>
        <p:nvSpPr>
          <p:cNvPr id="42" name="Rectangle 42"/>
          <p:cNvSpPr/>
          <p:nvPr/>
        </p:nvSpPr>
        <p:spPr>
          <a:xfrm>
            <a:off x="7581900" y="5924550"/>
            <a:ext cx="1524000" cy="247650"/>
          </a:xfrm>
          <a:prstGeom prst="roundRect">
            <a:avLst>
              <a:gd name="adj" fmla="val 50000"/>
            </a:avLst>
          </a:prstGeom>
          <a:solidFill>
            <a:srgbClr val="FFFFFF">
              <a:alpha val="12000"/>
            </a:srgbClr>
          </a:solidFill>
          <a:ln>
            <a:noFill/>
          </a:ln>
        </p:spPr>
      </p:sp>
      <p:sp>
        <p:nvSpPr>
          <p:cNvPr id="43" name="TextBox 43"/>
          <p:cNvSpPr txBox="1"/>
          <p:nvPr/>
        </p:nvSpPr>
        <p:spPr>
          <a:xfrm>
            <a:off x="7980474" y="5990749"/>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04 合规可控</a:t>
            </a:r>
          </a:p>
        </p:txBody>
      </p:sp>
      <p:sp>
        <p:nvSpPr>
          <p:cNvPr id="44" name="Rectangle 44"/>
          <p:cNvSpPr/>
          <p:nvPr/>
        </p:nvSpPr>
        <p:spPr>
          <a:xfrm>
            <a:off x="9544050" y="2000250"/>
            <a:ext cx="2095500" cy="4286250"/>
          </a:xfrm>
          <a:prstGeom prst="roundRect">
            <a:avLst>
              <a:gd name="adj" fmla="val 1818"/>
            </a:avLst>
          </a:prstGeom>
          <a:solidFill>
            <a:srgbClr val="1A1A2E"/>
          </a:solidFill>
          <a:ln>
            <a:noFill/>
          </a:ln>
        </p:spPr>
      </p:sp>
      <p:sp>
        <p:nvSpPr>
          <p:cNvPr id="45" name="Ellipse 45"/>
          <p:cNvSpPr/>
          <p:nvPr/>
        </p:nvSpPr>
        <p:spPr>
          <a:xfrm>
            <a:off x="10096500" y="2171700"/>
            <a:ext cx="990600" cy="990600"/>
          </a:xfrm>
          <a:prstGeom prst="ellipse">
            <a:avLst/>
          </a:prstGeom>
          <a:solidFill>
            <a:srgbClr val="FFFFFF">
              <a:alpha val="8000"/>
            </a:srgbClr>
          </a:solidFill>
          <a:ln>
            <a:noFill/>
          </a:ln>
        </p:spPr>
      </p:sp>
      <p:sp>
        <p:nvSpPr>
          <p:cNvPr id="46" name="TextBox 46"/>
          <p:cNvSpPr txBox="1"/>
          <p:nvPr/>
        </p:nvSpPr>
        <p:spPr>
          <a:xfrm>
            <a:off x="10349584" y="2261235"/>
            <a:ext cx="484432" cy="548640"/>
          </a:xfrm>
          <a:prstGeom prst="rect">
            <a:avLst/>
          </a:prstGeom>
          <a:noFill/>
          <a:ln>
            <a:noFill/>
          </a:ln>
        </p:spPr>
        <p:txBody>
          <a:bodyPr wrap="none" lIns="0" tIns="0" rIns="0" bIns="0" anchor="t" anchorCtr="0">
            <a:spAutoFit/>
          </a:bodyPr>
          <a:lstStyle/>
          <a:p>
            <a:pPr algn="ctr"/>
            <a:r>
              <a:rPr lang="en-US" sz="2700" b="1" dirty="0">
                <a:solidFill>
                  <a:srgbClr val="FFFFFF"/>
                </a:solidFill>
                <a:latin typeface="Arial"/>
                <a:ea typeface="Arial"/>
                <a:cs typeface="Arial"/>
              </a:rPr>
              <a:t>2+</a:t>
            </a:r>
          </a:p>
        </p:txBody>
      </p:sp>
      <p:sp>
        <p:nvSpPr>
          <p:cNvPr id="47" name="TextBox 47"/>
          <p:cNvSpPr txBox="1"/>
          <p:nvPr/>
        </p:nvSpPr>
        <p:spPr>
          <a:xfrm>
            <a:off x="10298430" y="2725102"/>
            <a:ext cx="586740" cy="213360"/>
          </a:xfrm>
          <a:prstGeom prst="rect">
            <a:avLst/>
          </a:prstGeom>
          <a:noFill/>
          <a:ln>
            <a:noFill/>
          </a:ln>
        </p:spPr>
        <p:txBody>
          <a:bodyPr wrap="none" lIns="0" tIns="0" rIns="0" bIns="0" anchor="t" anchorCtr="0">
            <a:spAutoFit/>
          </a:bodyPr>
          <a:lstStyle/>
          <a:p>
            <a:pPr algn="ctr"/>
            <a:r>
              <a:rPr lang="zh-CN" sz="1050" dirty="0">
                <a:solidFill>
                  <a:srgbClr val="E8EDF3"/>
                </a:solidFill>
                <a:latin typeface="Arial"/>
                <a:ea typeface="Microsoft YaHei"/>
                <a:cs typeface="Arial"/>
              </a:rPr>
              <a:t>付费意愿</a:t>
            </a:r>
          </a:p>
        </p:txBody>
      </p:sp>
      <p:sp>
        <p:nvSpPr>
          <p:cNvPr id="48" name="TextBox 48"/>
          <p:cNvSpPr txBox="1"/>
          <p:nvPr/>
        </p:nvSpPr>
        <p:spPr>
          <a:xfrm>
            <a:off x="10196608" y="3264218"/>
            <a:ext cx="79038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SimHei"/>
                <a:cs typeface="Arial"/>
              </a:rPr>
              <a:t>商业验证</a:t>
            </a:r>
          </a:p>
        </p:txBody>
      </p:sp>
      <p:sp>
        <p:nvSpPr>
          <p:cNvPr id="49" name="Line 49"/>
          <p:cNvSpPr/>
          <p:nvPr/>
        </p:nvSpPr>
        <p:spPr>
          <a:xfrm>
            <a:off x="9829800" y="3562350"/>
            <a:ext cx="1524000" cy="9525"/>
          </a:xfrm>
          <a:custGeom>
            <a:avLst/>
            <a:gdLst/>
            <a:ahLst/>
            <a:cxnLst/>
            <a:rect l="l" t="t" r="r" b="b"/>
            <a:pathLst>
              <a:path w="1524000" h="9525">
                <a:moveTo>
                  <a:pt x="0" y="0"/>
                </a:moveTo>
                <a:lnTo>
                  <a:pt x="1524000" y="0"/>
                </a:lnTo>
              </a:path>
            </a:pathLst>
          </a:custGeom>
          <a:noFill/>
          <a:ln w="9525">
            <a:solidFill>
              <a:srgbClr val="FFFFFF">
                <a:alpha val="20000"/>
              </a:srgbClr>
            </a:solidFill>
          </a:ln>
        </p:spPr>
      </p:sp>
      <p:sp>
        <p:nvSpPr>
          <p:cNvPr id="50" name="TextBox 50"/>
          <p:cNvSpPr txBox="1"/>
          <p:nvPr/>
        </p:nvSpPr>
        <p:spPr>
          <a:xfrm>
            <a:off x="9721215" y="3715702"/>
            <a:ext cx="940118" cy="1451610"/>
          </a:xfrm>
          <a:prstGeom prst="rect">
            <a:avLst/>
          </a:prstGeom>
          <a:noFill/>
          <a:ln>
            <a:noFill/>
          </a:ln>
        </p:spPr>
        <p:txBody>
          <a:bodyPr wrap="square" lIns="0" tIns="0" rIns="0" bIns="0" anchor="t" anchorCtr="0"/>
          <a:lstStyle/>
          <a:p>
            <a:pPr algn="l">
              <a:lnSpc>
                <a:spcPts val="1950"/>
              </a:lnSpc>
            </a:pPr>
            <a:r>
              <a:rPr lang="zh-CN" sz="1050" dirty="0">
                <a:solidFill>
                  <a:srgbClr val="E8EDF3"/>
                </a:solidFill>
                <a:latin typeface="Arial"/>
                <a:ea typeface="Microsoft YaHei"/>
                <a:cs typeface="Arial"/>
              </a:rPr>
              <a:t>· 2家以上企业</a:t>
            </a:r>
            <a:r>
              <a:rPr lang="zh-CN" sz="1050" dirty="0">
                <a:solidFill>
                  <a:srgbClr val="E8EDF3"/>
                </a:solidFill>
                <a:latin typeface="Arial"/>
                <a:ea typeface="Microsoft YaHei"/>
                <a:cs typeface="Arial"/>
              </a:rPr>
              <a:t>表达付费意愿</a:t>
            </a:r>
            <a:r>
              <a:rPr lang="zh-CN" sz="1050" dirty="0">
                <a:solidFill>
                  <a:srgbClr val="E8EDF3"/>
                </a:solidFill>
                <a:latin typeface="Arial"/>
                <a:ea typeface="Microsoft YaHei"/>
                <a:cs typeface="Arial"/>
              </a:rPr>
              <a:t>· 形成产品化</a:t>
            </a:r>
            <a:r>
              <a:rPr lang="zh-CN" sz="1050" dirty="0">
                <a:solidFill>
                  <a:srgbClr val="E8EDF3"/>
                </a:solidFill>
                <a:latin typeface="Arial"/>
                <a:ea typeface="Microsoft YaHei"/>
                <a:cs typeface="Arial"/>
              </a:rPr>
              <a:t>收费方案初稿</a:t>
            </a:r>
            <a:r>
              <a:rPr lang="zh-CN" sz="1050" dirty="0">
                <a:solidFill>
                  <a:srgbClr val="E8EDF3"/>
                </a:solidFill>
                <a:latin typeface="Arial"/>
                <a:ea typeface="Microsoft YaHei"/>
                <a:cs typeface="Arial"/>
              </a:rPr>
              <a:t>· 完成商业路径</a:t>
            </a:r>
            <a:r>
              <a:rPr lang="zh-CN" sz="1050" dirty="0">
                <a:solidFill>
                  <a:srgbClr val="E8EDF3"/>
                </a:solidFill>
                <a:latin typeface="Arial"/>
                <a:ea typeface="Microsoft YaHei"/>
                <a:cs typeface="Arial"/>
              </a:rPr>
              <a:t>可行性验证</a:t>
            </a:r>
          </a:p>
        </p:txBody>
      </p:sp>
      <p:sp>
        <p:nvSpPr>
          <p:cNvPr id="51" name="Rectangle 51"/>
          <p:cNvSpPr/>
          <p:nvPr/>
        </p:nvSpPr>
        <p:spPr>
          <a:xfrm>
            <a:off x="9829800" y="5924550"/>
            <a:ext cx="1524000" cy="247650"/>
          </a:xfrm>
          <a:prstGeom prst="roundRect">
            <a:avLst>
              <a:gd name="adj" fmla="val 50000"/>
            </a:avLst>
          </a:prstGeom>
          <a:solidFill>
            <a:srgbClr val="FFFFFF">
              <a:alpha val="12000"/>
            </a:srgbClr>
          </a:solidFill>
          <a:ln>
            <a:noFill/>
          </a:ln>
        </p:spPr>
      </p:sp>
      <p:sp>
        <p:nvSpPr>
          <p:cNvPr id="52" name="TextBox 52"/>
          <p:cNvSpPr txBox="1"/>
          <p:nvPr/>
        </p:nvSpPr>
        <p:spPr>
          <a:xfrm>
            <a:off x="10228374" y="5990749"/>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05 商业验证</a:t>
            </a:r>
          </a:p>
        </p:txBody>
      </p:sp>
      <p:sp>
        <p:nvSpPr>
          <p:cNvPr id="53" name="TextBox 53"/>
          <p:cNvSpPr txBox="1"/>
          <p:nvPr/>
        </p:nvSpPr>
        <p:spPr>
          <a:xfrm>
            <a:off x="3438239" y="6522720"/>
            <a:ext cx="5315522"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注：以上指标为先行验证期（90天）验收基准，具体数值根据参与企业规模在项目启动时双方确认。</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077912"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第四章 · 实施与运营</a:t>
            </a:r>
          </a:p>
        </p:txBody>
      </p:sp>
      <p:sp>
        <p:nvSpPr>
          <p:cNvPr id="4" name="TextBox 4"/>
          <p:cNvSpPr txBox="1"/>
          <p:nvPr/>
        </p:nvSpPr>
        <p:spPr>
          <a:xfrm>
            <a:off x="525780" y="1183005"/>
            <a:ext cx="5640038"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运营服务：五类产品化服务支撑商业可持续</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TextBox 6"/>
          <p:cNvSpPr txBox="1"/>
          <p:nvPr/>
        </p:nvSpPr>
        <p:spPr>
          <a:xfrm>
            <a:off x="2616279" y="1688306"/>
            <a:ext cx="6959441" cy="228600"/>
          </a:xfrm>
          <a:prstGeom prst="rect">
            <a:avLst/>
          </a:prstGeom>
          <a:noFill/>
          <a:ln>
            <a:noFill/>
          </a:ln>
        </p:spPr>
        <p:txBody>
          <a:bodyPr wrap="none" lIns="0" tIns="0" rIns="0" bIns="0" anchor="t" anchorCtr="0">
            <a:spAutoFit/>
          </a:bodyPr>
          <a:lstStyle/>
          <a:p>
            <a:pPr algn="ctr"/>
            <a:r>
              <a:rPr lang="zh-CN" sz="1125" dirty="0">
                <a:solidFill>
                  <a:srgbClr val="4A5568"/>
                </a:solidFill>
                <a:latin typeface="Arial"/>
                <a:ea typeface="Microsoft YaHei"/>
                <a:cs typeface="Arial"/>
              </a:rPr>
              <a:t>服务产品与定价逻辑形成于先行验证期积累，覆盖能力核验·题库授权·平台运维·数据服务·合规支持五类</a:t>
            </a:r>
          </a:p>
        </p:txBody>
      </p:sp>
      <p:sp>
        <p:nvSpPr>
          <p:cNvPr id="7" name="Rectangle 7"/>
          <p:cNvSpPr/>
          <p:nvPr/>
        </p:nvSpPr>
        <p:spPr>
          <a:xfrm>
            <a:off x="552450" y="2000250"/>
            <a:ext cx="2114550" cy="4476750"/>
          </a:xfrm>
          <a:prstGeom prst="roundRect">
            <a:avLst>
              <a:gd name="adj" fmla="val 1802"/>
            </a:avLst>
          </a:prstGeom>
          <a:solidFill>
            <a:srgbClr val="F0F4F8"/>
          </a:solidFill>
          <a:ln>
            <a:noFill/>
          </a:ln>
        </p:spPr>
      </p:sp>
      <p:sp>
        <p:nvSpPr>
          <p:cNvPr id="8" name="Rectangle 8"/>
          <p:cNvSpPr/>
          <p:nvPr/>
        </p:nvSpPr>
        <p:spPr>
          <a:xfrm>
            <a:off x="552450" y="2000250"/>
            <a:ext cx="2114550" cy="95250"/>
          </a:xfrm>
          <a:prstGeom prst="roundRect">
            <a:avLst>
              <a:gd name="adj" fmla="val 40000"/>
            </a:avLst>
          </a:prstGeom>
          <a:solidFill>
            <a:srgbClr val="003A70"/>
          </a:solidFill>
          <a:ln>
            <a:noFill/>
          </a:ln>
        </p:spPr>
      </p:sp>
      <p:sp>
        <p:nvSpPr>
          <p:cNvPr id="9" name="Freeform 9"/>
          <p:cNvSpPr/>
          <p:nvPr/>
        </p:nvSpPr>
        <p:spPr>
          <a:xfrm>
            <a:off x="783431" y="2228850"/>
            <a:ext cx="300038" cy="342900"/>
          </a:xfrm>
          <a:custGeom>
            <a:avLst/>
            <a:gdLst/>
            <a:ahLst/>
            <a:cxnLst/>
            <a:rect l="l" t="t" r="r" b="b"/>
            <a:pathLst>
              <a:path w="300038" h="342900">
                <a:moveTo>
                  <a:pt x="71797" y="287027"/>
                </a:moveTo>
                <a:lnTo>
                  <a:pt x="150019" y="342900"/>
                </a:lnTo>
                <a:lnTo>
                  <a:pt x="228241" y="287027"/>
                </a:lnTo>
                <a:cubicBezTo>
                  <a:pt x="273298" y="254843"/>
                  <a:pt x="300038" y="202883"/>
                  <a:pt x="300038" y="147513"/>
                </a:cubicBezTo>
                <a:lnTo>
                  <a:pt x="300038" y="64294"/>
                </a:lnTo>
                <a:lnTo>
                  <a:pt x="150019" y="0"/>
                </a:lnTo>
                <a:lnTo>
                  <a:pt x="0" y="64294"/>
                </a:lnTo>
                <a:lnTo>
                  <a:pt x="0" y="147513"/>
                </a:lnTo>
                <a:cubicBezTo>
                  <a:pt x="0" y="202883"/>
                  <a:pt x="26740" y="254843"/>
                  <a:pt x="71797" y="287027"/>
                </a:cubicBezTo>
                <a:close/>
              </a:path>
            </a:pathLst>
          </a:custGeom>
          <a:solidFill>
            <a:srgbClr val="003A70"/>
          </a:solidFill>
          <a:ln>
            <a:noFill/>
          </a:ln>
        </p:spPr>
      </p:sp>
      <p:sp>
        <p:nvSpPr>
          <p:cNvPr id="10" name="TextBox 10"/>
          <p:cNvSpPr txBox="1"/>
          <p:nvPr/>
        </p:nvSpPr>
        <p:spPr>
          <a:xfrm>
            <a:off x="1057966" y="2300764"/>
            <a:ext cx="1103519" cy="259080"/>
          </a:xfrm>
          <a:prstGeom prst="rect">
            <a:avLst/>
          </a:prstGeom>
          <a:noFill/>
          <a:ln>
            <a:noFill/>
          </a:ln>
        </p:spPr>
        <p:txBody>
          <a:bodyPr wrap="none" lIns="0" tIns="0" rIns="0" bIns="0" anchor="t" anchorCtr="0">
            <a:spAutoFit/>
          </a:bodyPr>
          <a:lstStyle/>
          <a:p>
            <a:pPr algn="ctr"/>
            <a:r>
              <a:rPr lang="zh-CN" sz="1275" b="1" dirty="0">
                <a:solidFill>
                  <a:srgbClr val="003A70"/>
                </a:solidFill>
                <a:latin typeface="Arial"/>
                <a:ea typeface="SimHei"/>
                <a:cs typeface="Arial"/>
              </a:rPr>
              <a:t>能力核验服务</a:t>
            </a:r>
          </a:p>
        </p:txBody>
      </p:sp>
      <p:sp>
        <p:nvSpPr>
          <p:cNvPr id="11" name="TextBox 11"/>
          <p:cNvSpPr txBox="1"/>
          <p:nvPr/>
        </p:nvSpPr>
        <p:spPr>
          <a:xfrm>
            <a:off x="1337310" y="2523649"/>
            <a:ext cx="544830"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核心产品</a:t>
            </a:r>
          </a:p>
        </p:txBody>
      </p:sp>
      <p:sp>
        <p:nvSpPr>
          <p:cNvPr id="12" name="Line 12"/>
          <p:cNvSpPr/>
          <p:nvPr/>
        </p:nvSpPr>
        <p:spPr>
          <a:xfrm>
            <a:off x="742950" y="27622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13" name="TextBox 13"/>
          <p:cNvSpPr txBox="1"/>
          <p:nvPr/>
        </p:nvSpPr>
        <p:spPr>
          <a:xfrm>
            <a:off x="729615" y="2896552"/>
            <a:ext cx="1500188" cy="1203960"/>
          </a:xfrm>
          <a:prstGeom prst="rect">
            <a:avLst/>
          </a:prstGeom>
          <a:noFill/>
          <a:ln>
            <a:noFill/>
          </a:ln>
        </p:spPr>
        <p:txBody>
          <a:bodyPr wrap="square" lIns="0" tIns="0" rIns="0" bIns="0" anchor="t" anchorCtr="0"/>
          <a:lstStyle/>
          <a:p>
            <a:pPr algn="l">
              <a:lnSpc>
                <a:spcPts val="1950"/>
              </a:lnSpc>
            </a:pPr>
            <a:r>
              <a:rPr lang="zh-CN" sz="1050" dirty="0">
                <a:solidFill>
                  <a:srgbClr val="1A1A2E"/>
                </a:solidFill>
                <a:latin typeface="Arial"/>
                <a:ea typeface="Microsoft YaHei"/>
                <a:cs typeface="Arial"/>
              </a:rPr>
              <a:t>· 安全能力在线核验</a:t>
            </a:r>
            <a:r>
              <a:rPr lang="zh-CN" sz="1050" dirty="0">
                <a:solidFill>
                  <a:srgbClr val="1A1A2E"/>
                </a:solidFill>
                <a:latin typeface="Arial"/>
                <a:ea typeface="Microsoft YaHei"/>
                <a:cs typeface="Arial"/>
              </a:rPr>
              <a:t>· 证照有效性核查</a:t>
            </a:r>
            <a:r>
              <a:rPr lang="zh-CN" sz="1050" dirty="0">
                <a:solidFill>
                  <a:srgbClr val="1A1A2E"/>
                </a:solidFill>
                <a:latin typeface="Arial"/>
                <a:ea typeface="Microsoft YaHei"/>
                <a:cs typeface="Arial"/>
              </a:rPr>
              <a:t>· 综合准入结论输出</a:t>
            </a:r>
            <a:r>
              <a:rPr lang="zh-CN" sz="1050" dirty="0">
                <a:solidFill>
                  <a:srgbClr val="1A1A2E"/>
                </a:solidFill>
                <a:latin typeface="Arial"/>
                <a:ea typeface="Microsoft YaHei"/>
                <a:cs typeface="Arial"/>
              </a:rPr>
              <a:t>· 核验报告（PDF/接口）</a:t>
            </a:r>
            <a:r>
              <a:rPr lang="zh-CN" sz="1050" dirty="0">
                <a:solidFill>
                  <a:srgbClr val="1A1A2E"/>
                </a:solidFill>
                <a:latin typeface="Arial"/>
                <a:ea typeface="Microsoft YaHei"/>
                <a:cs typeface="Arial"/>
              </a:rPr>
              <a:t>· 企业管理看板</a:t>
            </a:r>
          </a:p>
        </p:txBody>
      </p:sp>
      <p:sp>
        <p:nvSpPr>
          <p:cNvPr id="14" name="Line 14"/>
          <p:cNvSpPr/>
          <p:nvPr/>
        </p:nvSpPr>
        <p:spPr>
          <a:xfrm>
            <a:off x="742950" y="43243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15" name="TextBox 15"/>
          <p:cNvSpPr txBox="1"/>
          <p:nvPr/>
        </p:nvSpPr>
        <p:spPr>
          <a:xfrm>
            <a:off x="730568" y="4447699"/>
            <a:ext cx="5448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收费模式</a:t>
            </a:r>
          </a:p>
        </p:txBody>
      </p:sp>
      <p:sp>
        <p:nvSpPr>
          <p:cNvPr id="16" name="TextBox 16"/>
          <p:cNvSpPr txBox="1"/>
          <p:nvPr/>
        </p:nvSpPr>
        <p:spPr>
          <a:xfrm>
            <a:off x="729615" y="4668202"/>
            <a:ext cx="1006792" cy="213360"/>
          </a:xfrm>
          <a:prstGeom prst="rect">
            <a:avLst/>
          </a:prstGeom>
          <a:noFill/>
          <a:ln>
            <a:noFill/>
          </a:ln>
        </p:spPr>
        <p:txBody>
          <a:bodyPr wrap="none" lIns="0" tIns="0" rIns="0" bIns="0" anchor="t" anchorCtr="0">
            <a:spAutoFit/>
          </a:bodyPr>
          <a:lstStyle/>
          <a:p>
            <a:pPr algn="l"/>
            <a:r>
              <a:rPr lang="zh-CN" sz="1050" dirty="0">
                <a:solidFill>
                  <a:srgbClr val="003A70"/>
                </a:solidFill>
                <a:latin typeface="Arial"/>
                <a:ea typeface="Microsoft YaHei"/>
                <a:cs typeface="Arial"/>
              </a:rPr>
              <a:t>按核验人次收费</a:t>
            </a:r>
          </a:p>
        </p:txBody>
      </p:sp>
      <p:sp>
        <p:nvSpPr>
          <p:cNvPr id="17" name="TextBox 17"/>
          <p:cNvSpPr txBox="1"/>
          <p:nvPr/>
        </p:nvSpPr>
        <p:spPr>
          <a:xfrm>
            <a:off x="729615" y="4877752"/>
            <a:ext cx="1006792" cy="213360"/>
          </a:xfrm>
          <a:prstGeom prst="rect">
            <a:avLst/>
          </a:prstGeom>
          <a:noFill/>
          <a:ln>
            <a:noFill/>
          </a:ln>
        </p:spPr>
        <p:txBody>
          <a:bodyPr wrap="none" lIns="0" tIns="0" rIns="0" bIns="0" anchor="t" anchorCtr="0">
            <a:spAutoFit/>
          </a:bodyPr>
          <a:lstStyle/>
          <a:p>
            <a:pPr algn="l"/>
            <a:r>
              <a:rPr lang="zh-CN" sz="1050" dirty="0">
                <a:solidFill>
                  <a:srgbClr val="003A70"/>
                </a:solidFill>
                <a:latin typeface="Arial"/>
                <a:ea typeface="Microsoft YaHei"/>
                <a:cs typeface="Arial"/>
              </a:rPr>
              <a:t>或企业年度订阅</a:t>
            </a:r>
          </a:p>
        </p:txBody>
      </p:sp>
      <p:sp>
        <p:nvSpPr>
          <p:cNvPr id="18" name="Rectangle 18"/>
          <p:cNvSpPr/>
          <p:nvPr/>
        </p:nvSpPr>
        <p:spPr>
          <a:xfrm>
            <a:off x="742950" y="6172200"/>
            <a:ext cx="1524000" cy="228600"/>
          </a:xfrm>
          <a:prstGeom prst="roundRect">
            <a:avLst>
              <a:gd name="adj" fmla="val 16667"/>
            </a:avLst>
          </a:prstGeom>
          <a:solidFill>
            <a:srgbClr val="003A70"/>
          </a:solidFill>
          <a:ln>
            <a:noFill/>
          </a:ln>
        </p:spPr>
      </p:sp>
      <p:sp>
        <p:nvSpPr>
          <p:cNvPr id="19" name="TextBox 19"/>
          <p:cNvSpPr txBox="1"/>
          <p:nvPr/>
        </p:nvSpPr>
        <p:spPr>
          <a:xfrm>
            <a:off x="1141524" y="6228874"/>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01 核验服务</a:t>
            </a:r>
          </a:p>
        </p:txBody>
      </p:sp>
      <p:sp>
        <p:nvSpPr>
          <p:cNvPr id="20" name="Rectangle 20"/>
          <p:cNvSpPr/>
          <p:nvPr/>
        </p:nvSpPr>
        <p:spPr>
          <a:xfrm>
            <a:off x="2819400" y="2000250"/>
            <a:ext cx="2114550" cy="4476750"/>
          </a:xfrm>
          <a:prstGeom prst="roundRect">
            <a:avLst>
              <a:gd name="adj" fmla="val 1802"/>
            </a:avLst>
          </a:prstGeom>
          <a:solidFill>
            <a:srgbClr val="F0F4F8"/>
          </a:solidFill>
          <a:ln>
            <a:noFill/>
          </a:ln>
        </p:spPr>
      </p:sp>
      <p:sp>
        <p:nvSpPr>
          <p:cNvPr id="21" name="Rectangle 21"/>
          <p:cNvSpPr/>
          <p:nvPr/>
        </p:nvSpPr>
        <p:spPr>
          <a:xfrm>
            <a:off x="2819400" y="2000250"/>
            <a:ext cx="2114550" cy="95250"/>
          </a:xfrm>
          <a:prstGeom prst="roundRect">
            <a:avLst>
              <a:gd name="adj" fmla="val 40000"/>
            </a:avLst>
          </a:prstGeom>
          <a:solidFill>
            <a:srgbClr val="0077CC"/>
          </a:solidFill>
          <a:ln>
            <a:noFill/>
          </a:ln>
        </p:spPr>
      </p:sp>
      <p:grpSp>
        <p:nvGrpSpPr>
          <p:cNvPr id="24" name="Group 24"/>
          <p:cNvGrpSpPr/>
          <p:nvPr/>
        </p:nvGrpSpPr>
        <p:grpSpPr>
          <a:xfrm>
            <a:off x="3071812" y="2228850"/>
            <a:ext cx="257175" cy="342900"/>
            <a:chOff x="3071812" y="2228850"/>
            <a:chExt cx="257175" cy="342900"/>
          </a:xfrm>
        </p:grpSpPr>
        <p:sp>
          <p:nvSpPr>
            <p:cNvPr id="22" name="Freeform 22"/>
            <p:cNvSpPr/>
            <p:nvPr/>
          </p:nvSpPr>
          <p:spPr>
            <a:xfrm>
              <a:off x="3071812" y="2228850"/>
              <a:ext cx="257175" cy="342900"/>
            </a:xfrm>
            <a:custGeom>
              <a:avLst/>
              <a:gdLst/>
              <a:ahLst/>
              <a:cxnLst/>
              <a:rect l="l" t="t" r="r" b="b"/>
              <a:pathLst>
                <a:path w="257175" h="342900">
                  <a:moveTo>
                    <a:pt x="107156" y="0"/>
                  </a:moveTo>
                  <a:lnTo>
                    <a:pt x="0" y="0"/>
                  </a:lnTo>
                  <a:lnTo>
                    <a:pt x="0" y="342900"/>
                  </a:lnTo>
                  <a:lnTo>
                    <a:pt x="257175" y="342900"/>
                  </a:lnTo>
                  <a:lnTo>
                    <a:pt x="257175" y="150019"/>
                  </a:lnTo>
                  <a:lnTo>
                    <a:pt x="107156" y="150019"/>
                  </a:lnTo>
                  <a:lnTo>
                    <a:pt x="107156" y="0"/>
                  </a:lnTo>
                  <a:close/>
                </a:path>
              </a:pathLst>
            </a:custGeom>
            <a:solidFill>
              <a:srgbClr val="0077CC"/>
            </a:solidFill>
            <a:ln>
              <a:noFill/>
            </a:ln>
          </p:spPr>
        </p:sp>
        <p:sp>
          <p:nvSpPr>
            <p:cNvPr id="23" name="Freeform 23"/>
            <p:cNvSpPr/>
            <p:nvPr/>
          </p:nvSpPr>
          <p:spPr>
            <a:xfrm>
              <a:off x="3221831" y="2228850"/>
              <a:ext cx="107156" cy="107156"/>
            </a:xfrm>
            <a:custGeom>
              <a:avLst/>
              <a:gdLst/>
              <a:ahLst/>
              <a:cxnLst/>
              <a:rect l="l" t="t" r="r" b="b"/>
              <a:pathLst>
                <a:path w="107156" h="107156">
                  <a:moveTo>
                    <a:pt x="0" y="0"/>
                  </a:moveTo>
                  <a:lnTo>
                    <a:pt x="0" y="107156"/>
                  </a:lnTo>
                  <a:lnTo>
                    <a:pt x="107156" y="107156"/>
                  </a:lnTo>
                  <a:lnTo>
                    <a:pt x="0" y="0"/>
                  </a:lnTo>
                  <a:close/>
                </a:path>
              </a:pathLst>
            </a:custGeom>
            <a:solidFill>
              <a:srgbClr val="0077CC"/>
            </a:solidFill>
            <a:ln>
              <a:noFill/>
            </a:ln>
          </p:spPr>
        </p:sp>
      </p:grpSp>
      <p:sp>
        <p:nvSpPr>
          <p:cNvPr id="25" name="TextBox 25"/>
          <p:cNvSpPr txBox="1"/>
          <p:nvPr/>
        </p:nvSpPr>
        <p:spPr>
          <a:xfrm>
            <a:off x="3324916" y="2300764"/>
            <a:ext cx="1103519" cy="259080"/>
          </a:xfrm>
          <a:prstGeom prst="rect">
            <a:avLst/>
          </a:prstGeom>
          <a:noFill/>
          <a:ln>
            <a:noFill/>
          </a:ln>
        </p:spPr>
        <p:txBody>
          <a:bodyPr wrap="none" lIns="0" tIns="0" rIns="0" bIns="0" anchor="t" anchorCtr="0">
            <a:spAutoFit/>
          </a:bodyPr>
          <a:lstStyle/>
          <a:p>
            <a:pPr algn="ctr"/>
            <a:r>
              <a:rPr lang="zh-CN" sz="1275" b="1" dirty="0">
                <a:solidFill>
                  <a:srgbClr val="0077CC"/>
                </a:solidFill>
                <a:latin typeface="Arial"/>
                <a:ea typeface="SimHei"/>
                <a:cs typeface="Arial"/>
              </a:rPr>
              <a:t>题库授权服务</a:t>
            </a:r>
          </a:p>
        </p:txBody>
      </p:sp>
      <p:sp>
        <p:nvSpPr>
          <p:cNvPr id="26" name="TextBox 26"/>
          <p:cNvSpPr txBox="1"/>
          <p:nvPr/>
        </p:nvSpPr>
        <p:spPr>
          <a:xfrm>
            <a:off x="3474244" y="2523649"/>
            <a:ext cx="804862"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内容资产变现</a:t>
            </a:r>
          </a:p>
        </p:txBody>
      </p:sp>
      <p:sp>
        <p:nvSpPr>
          <p:cNvPr id="27" name="Line 27"/>
          <p:cNvSpPr/>
          <p:nvPr/>
        </p:nvSpPr>
        <p:spPr>
          <a:xfrm>
            <a:off x="3009900" y="27622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28" name="TextBox 28"/>
          <p:cNvSpPr txBox="1"/>
          <p:nvPr/>
        </p:nvSpPr>
        <p:spPr>
          <a:xfrm>
            <a:off x="2996565" y="2896552"/>
            <a:ext cx="1206818" cy="1203960"/>
          </a:xfrm>
          <a:prstGeom prst="rect">
            <a:avLst/>
          </a:prstGeom>
          <a:noFill/>
          <a:ln>
            <a:noFill/>
          </a:ln>
        </p:spPr>
        <p:txBody>
          <a:bodyPr wrap="square" lIns="0" tIns="0" rIns="0" bIns="0" anchor="t" anchorCtr="0"/>
          <a:lstStyle/>
          <a:p>
            <a:pPr algn="l">
              <a:lnSpc>
                <a:spcPts val="1950"/>
              </a:lnSpc>
            </a:pPr>
            <a:r>
              <a:rPr lang="zh-CN" sz="1050" dirty="0">
                <a:solidFill>
                  <a:srgbClr val="1A1A2E"/>
                </a:solidFill>
                <a:latin typeface="Arial"/>
                <a:ea typeface="Microsoft YaHei"/>
                <a:cs typeface="Arial"/>
              </a:rPr>
              <a:t>· 行业安规题库授权</a:t>
            </a:r>
            <a:r>
              <a:rPr lang="zh-CN" sz="1050" dirty="0">
                <a:solidFill>
                  <a:srgbClr val="1A1A2E"/>
                </a:solidFill>
                <a:latin typeface="Arial"/>
                <a:ea typeface="Microsoft YaHei"/>
                <a:cs typeface="Arial"/>
              </a:rPr>
              <a:t>· 岗位分级题库包</a:t>
            </a:r>
            <a:r>
              <a:rPr lang="zh-CN" sz="1050" dirty="0">
                <a:solidFill>
                  <a:srgbClr val="1A1A2E"/>
                </a:solidFill>
                <a:latin typeface="Arial"/>
                <a:ea typeface="Microsoft YaHei"/>
                <a:cs typeface="Arial"/>
              </a:rPr>
              <a:t>· 企业自定义扩展</a:t>
            </a:r>
            <a:r>
              <a:rPr lang="zh-CN" sz="1050" dirty="0">
                <a:solidFill>
                  <a:srgbClr val="1A1A2E"/>
                </a:solidFill>
                <a:latin typeface="Arial"/>
                <a:ea typeface="Microsoft YaHei"/>
                <a:cs typeface="Arial"/>
              </a:rPr>
              <a:t>· 题库定期更新服务</a:t>
            </a:r>
            <a:r>
              <a:rPr lang="zh-CN" sz="1050" dirty="0">
                <a:solidFill>
                  <a:srgbClr val="1A1A2E"/>
                </a:solidFill>
                <a:latin typeface="Arial"/>
                <a:ea typeface="Microsoft YaHei"/>
                <a:cs typeface="Arial"/>
              </a:rPr>
              <a:t>· API接入支持</a:t>
            </a:r>
          </a:p>
        </p:txBody>
      </p:sp>
      <p:sp>
        <p:nvSpPr>
          <p:cNvPr id="29" name="Line 29"/>
          <p:cNvSpPr/>
          <p:nvPr/>
        </p:nvSpPr>
        <p:spPr>
          <a:xfrm>
            <a:off x="3009900" y="43243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30" name="TextBox 30"/>
          <p:cNvSpPr txBox="1"/>
          <p:nvPr/>
        </p:nvSpPr>
        <p:spPr>
          <a:xfrm>
            <a:off x="2997518" y="4447699"/>
            <a:ext cx="5448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收费模式</a:t>
            </a:r>
          </a:p>
        </p:txBody>
      </p:sp>
      <p:sp>
        <p:nvSpPr>
          <p:cNvPr id="31" name="TextBox 31"/>
          <p:cNvSpPr txBox="1"/>
          <p:nvPr/>
        </p:nvSpPr>
        <p:spPr>
          <a:xfrm>
            <a:off x="2996565" y="4668202"/>
            <a:ext cx="1027795" cy="213360"/>
          </a:xfrm>
          <a:prstGeom prst="rect">
            <a:avLst/>
          </a:prstGeom>
          <a:noFill/>
          <a:ln>
            <a:noFill/>
          </a:ln>
        </p:spPr>
        <p:txBody>
          <a:bodyPr wrap="none" lIns="0" tIns="0" rIns="0" bIns="0" anchor="t" anchorCtr="0">
            <a:spAutoFit/>
          </a:bodyPr>
          <a:lstStyle/>
          <a:p>
            <a:pPr algn="l"/>
            <a:r>
              <a:rPr lang="zh-CN" sz="1050" dirty="0">
                <a:solidFill>
                  <a:srgbClr val="0077CC"/>
                </a:solidFill>
                <a:latin typeface="Arial"/>
                <a:ea typeface="Microsoft YaHei"/>
                <a:cs typeface="Arial"/>
              </a:rPr>
              <a:t>按题库包 / 企业</a:t>
            </a:r>
          </a:p>
        </p:txBody>
      </p:sp>
      <p:sp>
        <p:nvSpPr>
          <p:cNvPr id="32" name="TextBox 32"/>
          <p:cNvSpPr txBox="1"/>
          <p:nvPr/>
        </p:nvSpPr>
        <p:spPr>
          <a:xfrm>
            <a:off x="2996565" y="4877752"/>
            <a:ext cx="586740" cy="213360"/>
          </a:xfrm>
          <a:prstGeom prst="rect">
            <a:avLst/>
          </a:prstGeom>
          <a:noFill/>
          <a:ln>
            <a:noFill/>
          </a:ln>
        </p:spPr>
        <p:txBody>
          <a:bodyPr wrap="none" lIns="0" tIns="0" rIns="0" bIns="0" anchor="t" anchorCtr="0">
            <a:spAutoFit/>
          </a:bodyPr>
          <a:lstStyle/>
          <a:p>
            <a:pPr algn="l"/>
            <a:r>
              <a:rPr lang="zh-CN" sz="1050" dirty="0">
                <a:solidFill>
                  <a:srgbClr val="0077CC"/>
                </a:solidFill>
                <a:latin typeface="Arial"/>
                <a:ea typeface="Microsoft YaHei"/>
                <a:cs typeface="Arial"/>
              </a:rPr>
              <a:t>年度授权</a:t>
            </a:r>
          </a:p>
        </p:txBody>
      </p:sp>
      <p:sp>
        <p:nvSpPr>
          <p:cNvPr id="33" name="Rectangle 33"/>
          <p:cNvSpPr/>
          <p:nvPr/>
        </p:nvSpPr>
        <p:spPr>
          <a:xfrm>
            <a:off x="3009900" y="6172200"/>
            <a:ext cx="1524000" cy="228600"/>
          </a:xfrm>
          <a:prstGeom prst="roundRect">
            <a:avLst>
              <a:gd name="adj" fmla="val 16667"/>
            </a:avLst>
          </a:prstGeom>
          <a:solidFill>
            <a:srgbClr val="0077CC"/>
          </a:solidFill>
          <a:ln>
            <a:noFill/>
          </a:ln>
        </p:spPr>
      </p:sp>
      <p:sp>
        <p:nvSpPr>
          <p:cNvPr id="34" name="TextBox 34"/>
          <p:cNvSpPr txBox="1"/>
          <p:nvPr/>
        </p:nvSpPr>
        <p:spPr>
          <a:xfrm>
            <a:off x="3408474" y="6228874"/>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02 题库授权</a:t>
            </a:r>
          </a:p>
        </p:txBody>
      </p:sp>
      <p:sp>
        <p:nvSpPr>
          <p:cNvPr id="35" name="Rectangle 35"/>
          <p:cNvSpPr/>
          <p:nvPr/>
        </p:nvSpPr>
        <p:spPr>
          <a:xfrm>
            <a:off x="5086350" y="2000250"/>
            <a:ext cx="2114550" cy="4476750"/>
          </a:xfrm>
          <a:prstGeom prst="roundRect">
            <a:avLst>
              <a:gd name="adj" fmla="val 1802"/>
            </a:avLst>
          </a:prstGeom>
          <a:solidFill>
            <a:srgbClr val="F0F4F8"/>
          </a:solidFill>
          <a:ln>
            <a:noFill/>
          </a:ln>
        </p:spPr>
      </p:sp>
      <p:sp>
        <p:nvSpPr>
          <p:cNvPr id="36" name="Rectangle 36"/>
          <p:cNvSpPr/>
          <p:nvPr/>
        </p:nvSpPr>
        <p:spPr>
          <a:xfrm>
            <a:off x="5086350" y="2000250"/>
            <a:ext cx="2114550" cy="95250"/>
          </a:xfrm>
          <a:prstGeom prst="roundRect">
            <a:avLst>
              <a:gd name="adj" fmla="val 40000"/>
            </a:avLst>
          </a:prstGeom>
          <a:solidFill>
            <a:srgbClr val="4A90D9"/>
          </a:solidFill>
          <a:ln>
            <a:noFill/>
          </a:ln>
        </p:spPr>
      </p:sp>
      <p:sp>
        <p:nvSpPr>
          <p:cNvPr id="37" name="Freeform 37"/>
          <p:cNvSpPr/>
          <p:nvPr/>
        </p:nvSpPr>
        <p:spPr>
          <a:xfrm>
            <a:off x="5302797" y="2228850"/>
            <a:ext cx="329107" cy="342900"/>
          </a:xfrm>
          <a:custGeom>
            <a:avLst/>
            <a:gdLst/>
            <a:ahLst/>
            <a:cxnLst/>
            <a:rect l="l" t="t" r="r" b="b"/>
            <a:pathLst>
              <a:path w="329107" h="342900">
                <a:moveTo>
                  <a:pt x="132407" y="0"/>
                </a:moveTo>
                <a:lnTo>
                  <a:pt x="196700" y="0"/>
                </a:lnTo>
                <a:lnTo>
                  <a:pt x="209428" y="50910"/>
                </a:lnTo>
                <a:cubicBezTo>
                  <a:pt x="223009" y="55968"/>
                  <a:pt x="235506" y="63255"/>
                  <a:pt x="246470" y="72328"/>
                </a:cubicBezTo>
                <a:lnTo>
                  <a:pt x="296960" y="57885"/>
                </a:lnTo>
                <a:lnTo>
                  <a:pt x="329107" y="113565"/>
                </a:lnTo>
                <a:lnTo>
                  <a:pt x="291368" y="150054"/>
                </a:lnTo>
                <a:cubicBezTo>
                  <a:pt x="292534" y="157013"/>
                  <a:pt x="293141" y="164161"/>
                  <a:pt x="293141" y="171450"/>
                </a:cubicBezTo>
                <a:cubicBezTo>
                  <a:pt x="293141" y="178739"/>
                  <a:pt x="292534" y="185887"/>
                  <a:pt x="291368" y="192846"/>
                </a:cubicBezTo>
                <a:lnTo>
                  <a:pt x="329107" y="229336"/>
                </a:lnTo>
                <a:lnTo>
                  <a:pt x="296960" y="285014"/>
                </a:lnTo>
                <a:lnTo>
                  <a:pt x="246470" y="270572"/>
                </a:lnTo>
                <a:cubicBezTo>
                  <a:pt x="235506" y="279644"/>
                  <a:pt x="223009" y="286932"/>
                  <a:pt x="209428" y="291990"/>
                </a:cubicBezTo>
                <a:lnTo>
                  <a:pt x="196700" y="342900"/>
                </a:lnTo>
                <a:lnTo>
                  <a:pt x="132407" y="342900"/>
                </a:lnTo>
                <a:lnTo>
                  <a:pt x="119679" y="291990"/>
                </a:lnTo>
                <a:cubicBezTo>
                  <a:pt x="106098" y="286932"/>
                  <a:pt x="93602" y="279644"/>
                  <a:pt x="82636" y="270572"/>
                </a:cubicBezTo>
                <a:lnTo>
                  <a:pt x="32147" y="285014"/>
                </a:lnTo>
                <a:lnTo>
                  <a:pt x="0" y="229336"/>
                </a:lnTo>
                <a:lnTo>
                  <a:pt x="37738" y="192846"/>
                </a:lnTo>
                <a:cubicBezTo>
                  <a:pt x="36572" y="185887"/>
                  <a:pt x="35966" y="178739"/>
                  <a:pt x="35966" y="171450"/>
                </a:cubicBezTo>
                <a:cubicBezTo>
                  <a:pt x="35966" y="164161"/>
                  <a:pt x="36572" y="157013"/>
                  <a:pt x="37738" y="150054"/>
                </a:cubicBezTo>
                <a:lnTo>
                  <a:pt x="0" y="113565"/>
                </a:lnTo>
                <a:lnTo>
                  <a:pt x="32147" y="57885"/>
                </a:lnTo>
                <a:lnTo>
                  <a:pt x="82636" y="72328"/>
                </a:lnTo>
                <a:cubicBezTo>
                  <a:pt x="93602" y="63255"/>
                  <a:pt x="106098" y="55968"/>
                  <a:pt x="119679" y="50910"/>
                </a:cubicBezTo>
                <a:lnTo>
                  <a:pt x="132407" y="0"/>
                </a:lnTo>
                <a:close/>
                <a:moveTo>
                  <a:pt x="164553" y="214312"/>
                </a:moveTo>
                <a:cubicBezTo>
                  <a:pt x="188226" y="214312"/>
                  <a:pt x="207416" y="195122"/>
                  <a:pt x="207416" y="171450"/>
                </a:cubicBezTo>
                <a:cubicBezTo>
                  <a:pt x="207416" y="147778"/>
                  <a:pt x="188226" y="128588"/>
                  <a:pt x="164553" y="128588"/>
                </a:cubicBezTo>
                <a:cubicBezTo>
                  <a:pt x="140881" y="128588"/>
                  <a:pt x="121691" y="147778"/>
                  <a:pt x="121691" y="171450"/>
                </a:cubicBezTo>
                <a:cubicBezTo>
                  <a:pt x="121691" y="195122"/>
                  <a:pt x="140881" y="214312"/>
                  <a:pt x="164553" y="214312"/>
                </a:cubicBezTo>
                <a:close/>
              </a:path>
            </a:pathLst>
          </a:custGeom>
          <a:solidFill>
            <a:srgbClr val="4A90D9"/>
          </a:solidFill>
          <a:ln>
            <a:noFill/>
          </a:ln>
        </p:spPr>
      </p:sp>
      <p:sp>
        <p:nvSpPr>
          <p:cNvPr id="38" name="TextBox 38"/>
          <p:cNvSpPr txBox="1"/>
          <p:nvPr/>
        </p:nvSpPr>
        <p:spPr>
          <a:xfrm>
            <a:off x="5591866" y="2300764"/>
            <a:ext cx="1103519" cy="259080"/>
          </a:xfrm>
          <a:prstGeom prst="rect">
            <a:avLst/>
          </a:prstGeom>
          <a:noFill/>
          <a:ln>
            <a:noFill/>
          </a:ln>
        </p:spPr>
        <p:txBody>
          <a:bodyPr wrap="none" lIns="0" tIns="0" rIns="0" bIns="0" anchor="t" anchorCtr="0">
            <a:spAutoFit/>
          </a:bodyPr>
          <a:lstStyle/>
          <a:p>
            <a:pPr algn="ctr"/>
            <a:r>
              <a:rPr lang="zh-CN" sz="1275" b="1" dirty="0">
                <a:solidFill>
                  <a:srgbClr val="4A90D9"/>
                </a:solidFill>
                <a:latin typeface="Arial"/>
                <a:ea typeface="SimHei"/>
                <a:cs typeface="Arial"/>
              </a:rPr>
              <a:t>平台运维支持</a:t>
            </a:r>
          </a:p>
        </p:txBody>
      </p:sp>
      <p:sp>
        <p:nvSpPr>
          <p:cNvPr id="39" name="TextBox 39"/>
          <p:cNvSpPr txBox="1"/>
          <p:nvPr/>
        </p:nvSpPr>
        <p:spPr>
          <a:xfrm>
            <a:off x="5806202" y="2523649"/>
            <a:ext cx="674846"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稳定性保障</a:t>
            </a:r>
          </a:p>
        </p:txBody>
      </p:sp>
      <p:sp>
        <p:nvSpPr>
          <p:cNvPr id="40" name="Line 40"/>
          <p:cNvSpPr/>
          <p:nvPr/>
        </p:nvSpPr>
        <p:spPr>
          <a:xfrm>
            <a:off x="5276850" y="27622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41" name="TextBox 41"/>
          <p:cNvSpPr txBox="1"/>
          <p:nvPr/>
        </p:nvSpPr>
        <p:spPr>
          <a:xfrm>
            <a:off x="5263515" y="2896552"/>
            <a:ext cx="1233488" cy="1203960"/>
          </a:xfrm>
          <a:prstGeom prst="rect">
            <a:avLst/>
          </a:prstGeom>
          <a:noFill/>
          <a:ln>
            <a:noFill/>
          </a:ln>
        </p:spPr>
        <p:txBody>
          <a:bodyPr wrap="square" lIns="0" tIns="0" rIns="0" bIns="0" anchor="t" anchorCtr="0"/>
          <a:lstStyle/>
          <a:p>
            <a:pPr algn="l">
              <a:lnSpc>
                <a:spcPts val="1950"/>
              </a:lnSpc>
            </a:pPr>
            <a:r>
              <a:rPr lang="zh-CN" sz="1050" dirty="0">
                <a:solidFill>
                  <a:srgbClr val="1A1A2E"/>
                </a:solidFill>
                <a:latin typeface="Arial"/>
                <a:ea typeface="Microsoft YaHei"/>
                <a:cs typeface="Arial"/>
              </a:rPr>
              <a:t>· 7×24小时服务保障</a:t>
            </a:r>
            <a:r>
              <a:rPr lang="zh-CN" sz="1050" dirty="0">
                <a:solidFill>
                  <a:srgbClr val="1A1A2E"/>
                </a:solidFill>
                <a:latin typeface="Arial"/>
                <a:ea typeface="Microsoft YaHei"/>
                <a:cs typeface="Arial"/>
              </a:rPr>
              <a:t>· 企业接入技术支持</a:t>
            </a:r>
            <a:r>
              <a:rPr lang="zh-CN" sz="1050" dirty="0">
                <a:solidFill>
                  <a:srgbClr val="1A1A2E"/>
                </a:solidFill>
                <a:latin typeface="Arial"/>
                <a:ea typeface="Microsoft YaHei"/>
                <a:cs typeface="Arial"/>
              </a:rPr>
              <a:t>· 系统故障应急响应</a:t>
            </a:r>
            <a:r>
              <a:rPr lang="zh-CN" sz="1050" dirty="0">
                <a:solidFill>
                  <a:srgbClr val="1A1A2E"/>
                </a:solidFill>
                <a:latin typeface="Arial"/>
                <a:ea typeface="Microsoft YaHei"/>
                <a:cs typeface="Arial"/>
              </a:rPr>
              <a:t>· 核验规则配置协助</a:t>
            </a:r>
            <a:r>
              <a:rPr lang="zh-CN" sz="1050" dirty="0">
                <a:solidFill>
                  <a:srgbClr val="1A1A2E"/>
                </a:solidFill>
                <a:latin typeface="Arial"/>
                <a:ea typeface="Microsoft YaHei"/>
                <a:cs typeface="Arial"/>
              </a:rPr>
              <a:t>· 操作培训与手册</a:t>
            </a:r>
          </a:p>
        </p:txBody>
      </p:sp>
      <p:sp>
        <p:nvSpPr>
          <p:cNvPr id="42" name="Line 42"/>
          <p:cNvSpPr/>
          <p:nvPr/>
        </p:nvSpPr>
        <p:spPr>
          <a:xfrm>
            <a:off x="5276850" y="43243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43" name="TextBox 43"/>
          <p:cNvSpPr txBox="1"/>
          <p:nvPr/>
        </p:nvSpPr>
        <p:spPr>
          <a:xfrm>
            <a:off x="5264468" y="4447699"/>
            <a:ext cx="5448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收费模式</a:t>
            </a:r>
          </a:p>
        </p:txBody>
      </p:sp>
      <p:sp>
        <p:nvSpPr>
          <p:cNvPr id="44" name="TextBox 44"/>
          <p:cNvSpPr txBox="1"/>
          <p:nvPr/>
        </p:nvSpPr>
        <p:spPr>
          <a:xfrm>
            <a:off x="5263515" y="4668202"/>
            <a:ext cx="726758" cy="213360"/>
          </a:xfrm>
          <a:prstGeom prst="rect">
            <a:avLst/>
          </a:prstGeom>
          <a:noFill/>
          <a:ln>
            <a:noFill/>
          </a:ln>
        </p:spPr>
        <p:txBody>
          <a:bodyPr wrap="none" lIns="0" tIns="0" rIns="0" bIns="0" anchor="t" anchorCtr="0">
            <a:spAutoFit/>
          </a:bodyPr>
          <a:lstStyle/>
          <a:p>
            <a:pPr algn="l"/>
            <a:r>
              <a:rPr lang="zh-CN" sz="1050" dirty="0">
                <a:solidFill>
                  <a:srgbClr val="4A90D9"/>
                </a:solidFill>
                <a:latin typeface="Arial"/>
                <a:ea typeface="Microsoft YaHei"/>
                <a:cs typeface="Arial"/>
              </a:rPr>
              <a:t>按服务级别</a:t>
            </a:r>
          </a:p>
        </p:txBody>
      </p:sp>
      <p:sp>
        <p:nvSpPr>
          <p:cNvPr id="45" name="TextBox 45"/>
          <p:cNvSpPr txBox="1"/>
          <p:nvPr/>
        </p:nvSpPr>
        <p:spPr>
          <a:xfrm>
            <a:off x="5263515" y="4877752"/>
            <a:ext cx="726758" cy="213360"/>
          </a:xfrm>
          <a:prstGeom prst="rect">
            <a:avLst/>
          </a:prstGeom>
          <a:noFill/>
          <a:ln>
            <a:noFill/>
          </a:ln>
        </p:spPr>
        <p:txBody>
          <a:bodyPr wrap="none" lIns="0" tIns="0" rIns="0" bIns="0" anchor="t" anchorCtr="0">
            <a:spAutoFit/>
          </a:bodyPr>
          <a:lstStyle/>
          <a:p>
            <a:pPr algn="l"/>
            <a:r>
              <a:rPr lang="zh-CN" sz="1050" dirty="0">
                <a:solidFill>
                  <a:srgbClr val="4A90D9"/>
                </a:solidFill>
                <a:latin typeface="Arial"/>
                <a:ea typeface="Microsoft YaHei"/>
                <a:cs typeface="Arial"/>
              </a:rPr>
              <a:t>年度服务费</a:t>
            </a:r>
          </a:p>
        </p:txBody>
      </p:sp>
      <p:sp>
        <p:nvSpPr>
          <p:cNvPr id="46" name="Rectangle 46"/>
          <p:cNvSpPr/>
          <p:nvPr/>
        </p:nvSpPr>
        <p:spPr>
          <a:xfrm>
            <a:off x="5276850" y="6172200"/>
            <a:ext cx="1524000" cy="228600"/>
          </a:xfrm>
          <a:prstGeom prst="roundRect">
            <a:avLst>
              <a:gd name="adj" fmla="val 16667"/>
            </a:avLst>
          </a:prstGeom>
          <a:solidFill>
            <a:srgbClr val="4A90D9"/>
          </a:solidFill>
          <a:ln>
            <a:noFill/>
          </a:ln>
        </p:spPr>
      </p:sp>
      <p:sp>
        <p:nvSpPr>
          <p:cNvPr id="47" name="TextBox 47"/>
          <p:cNvSpPr txBox="1"/>
          <p:nvPr/>
        </p:nvSpPr>
        <p:spPr>
          <a:xfrm>
            <a:off x="5675424" y="6228874"/>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03 运维支持</a:t>
            </a:r>
          </a:p>
        </p:txBody>
      </p:sp>
      <p:sp>
        <p:nvSpPr>
          <p:cNvPr id="48" name="Rectangle 48"/>
          <p:cNvSpPr/>
          <p:nvPr/>
        </p:nvSpPr>
        <p:spPr>
          <a:xfrm>
            <a:off x="7353300" y="2000250"/>
            <a:ext cx="2114550" cy="4476750"/>
          </a:xfrm>
          <a:prstGeom prst="roundRect">
            <a:avLst>
              <a:gd name="adj" fmla="val 1802"/>
            </a:avLst>
          </a:prstGeom>
          <a:solidFill>
            <a:srgbClr val="F0F4F8"/>
          </a:solidFill>
          <a:ln>
            <a:noFill/>
          </a:ln>
        </p:spPr>
      </p:sp>
      <p:sp>
        <p:nvSpPr>
          <p:cNvPr id="49" name="Rectangle 49"/>
          <p:cNvSpPr/>
          <p:nvPr/>
        </p:nvSpPr>
        <p:spPr>
          <a:xfrm>
            <a:off x="7353300" y="2000250"/>
            <a:ext cx="2114550" cy="95250"/>
          </a:xfrm>
          <a:prstGeom prst="roundRect">
            <a:avLst>
              <a:gd name="adj" fmla="val 40000"/>
            </a:avLst>
          </a:prstGeom>
          <a:solidFill>
            <a:srgbClr val="2D7D46"/>
          </a:solidFill>
          <a:ln>
            <a:noFill/>
          </a:ln>
        </p:spPr>
      </p:sp>
      <p:grpSp>
        <p:nvGrpSpPr>
          <p:cNvPr id="53" name="Group 53"/>
          <p:cNvGrpSpPr/>
          <p:nvPr/>
        </p:nvGrpSpPr>
        <p:grpSpPr>
          <a:xfrm>
            <a:off x="7562850" y="2250281"/>
            <a:ext cx="342900" cy="300038"/>
            <a:chOff x="7562850" y="2250281"/>
            <a:chExt cx="342900" cy="300038"/>
          </a:xfrm>
        </p:grpSpPr>
        <p:sp>
          <p:nvSpPr>
            <p:cNvPr id="50" name="Freeform 50"/>
            <p:cNvSpPr/>
            <p:nvPr/>
          </p:nvSpPr>
          <p:spPr>
            <a:xfrm>
              <a:off x="7820025" y="2250281"/>
              <a:ext cx="85725" cy="300038"/>
            </a:xfrm>
            <a:custGeom>
              <a:avLst/>
              <a:gdLst/>
              <a:ahLst/>
              <a:cxnLst/>
              <a:rect l="l" t="t" r="r" b="b"/>
              <a:pathLst>
                <a:path w="85725" h="300038">
                  <a:moveTo>
                    <a:pt x="85725" y="0"/>
                  </a:moveTo>
                  <a:lnTo>
                    <a:pt x="0" y="0"/>
                  </a:lnTo>
                  <a:lnTo>
                    <a:pt x="0" y="300038"/>
                  </a:lnTo>
                  <a:lnTo>
                    <a:pt x="85725" y="300038"/>
                  </a:lnTo>
                  <a:lnTo>
                    <a:pt x="85725" y="0"/>
                  </a:lnTo>
                  <a:close/>
                </a:path>
              </a:pathLst>
            </a:custGeom>
            <a:solidFill>
              <a:srgbClr val="2D7D46"/>
            </a:solidFill>
            <a:ln>
              <a:noFill/>
            </a:ln>
          </p:spPr>
        </p:sp>
        <p:sp>
          <p:nvSpPr>
            <p:cNvPr id="51" name="Freeform 51"/>
            <p:cNvSpPr/>
            <p:nvPr/>
          </p:nvSpPr>
          <p:spPr>
            <a:xfrm>
              <a:off x="7691438" y="2336006"/>
              <a:ext cx="85725" cy="214312"/>
            </a:xfrm>
            <a:custGeom>
              <a:avLst/>
              <a:gdLst/>
              <a:ahLst/>
              <a:cxnLst/>
              <a:rect l="l" t="t" r="r" b="b"/>
              <a:pathLst>
                <a:path w="85725" h="214312">
                  <a:moveTo>
                    <a:pt x="0" y="0"/>
                  </a:moveTo>
                  <a:lnTo>
                    <a:pt x="85725" y="0"/>
                  </a:lnTo>
                  <a:lnTo>
                    <a:pt x="85725" y="214312"/>
                  </a:lnTo>
                  <a:lnTo>
                    <a:pt x="0" y="214312"/>
                  </a:lnTo>
                  <a:lnTo>
                    <a:pt x="0" y="0"/>
                  </a:lnTo>
                  <a:close/>
                </a:path>
              </a:pathLst>
            </a:custGeom>
            <a:solidFill>
              <a:srgbClr val="2D7D46"/>
            </a:solidFill>
            <a:ln>
              <a:noFill/>
            </a:ln>
          </p:spPr>
        </p:sp>
        <p:sp>
          <p:nvSpPr>
            <p:cNvPr id="52" name="Freeform 52"/>
            <p:cNvSpPr/>
            <p:nvPr/>
          </p:nvSpPr>
          <p:spPr>
            <a:xfrm>
              <a:off x="7562850" y="2421731"/>
              <a:ext cx="85725" cy="128588"/>
            </a:xfrm>
            <a:custGeom>
              <a:avLst/>
              <a:gdLst/>
              <a:ahLst/>
              <a:cxnLst/>
              <a:rect l="l" t="t" r="r" b="b"/>
              <a:pathLst>
                <a:path w="85725" h="128588">
                  <a:moveTo>
                    <a:pt x="0" y="0"/>
                  </a:moveTo>
                  <a:lnTo>
                    <a:pt x="85725" y="0"/>
                  </a:lnTo>
                  <a:lnTo>
                    <a:pt x="85725" y="128588"/>
                  </a:lnTo>
                  <a:lnTo>
                    <a:pt x="0" y="128588"/>
                  </a:lnTo>
                  <a:lnTo>
                    <a:pt x="0" y="0"/>
                  </a:lnTo>
                  <a:close/>
                </a:path>
              </a:pathLst>
            </a:custGeom>
            <a:solidFill>
              <a:srgbClr val="2D7D46"/>
            </a:solidFill>
            <a:ln>
              <a:noFill/>
            </a:ln>
          </p:spPr>
        </p:sp>
      </p:grpSp>
      <p:sp>
        <p:nvSpPr>
          <p:cNvPr id="54" name="TextBox 54"/>
          <p:cNvSpPr txBox="1"/>
          <p:nvPr/>
        </p:nvSpPr>
        <p:spPr>
          <a:xfrm>
            <a:off x="7858816" y="2300764"/>
            <a:ext cx="1103519" cy="259080"/>
          </a:xfrm>
          <a:prstGeom prst="rect">
            <a:avLst/>
          </a:prstGeom>
          <a:noFill/>
          <a:ln>
            <a:noFill/>
          </a:ln>
        </p:spPr>
        <p:txBody>
          <a:bodyPr wrap="none" lIns="0" tIns="0" rIns="0" bIns="0" anchor="t" anchorCtr="0">
            <a:spAutoFit/>
          </a:bodyPr>
          <a:lstStyle/>
          <a:p>
            <a:pPr algn="ctr"/>
            <a:r>
              <a:rPr lang="zh-CN" sz="1275" b="1" dirty="0">
                <a:solidFill>
                  <a:srgbClr val="2D7D46"/>
                </a:solidFill>
                <a:latin typeface="Arial"/>
                <a:ea typeface="SimHei"/>
                <a:cs typeface="Arial"/>
              </a:rPr>
              <a:t>行业数据服务</a:t>
            </a:r>
          </a:p>
        </p:txBody>
      </p:sp>
      <p:sp>
        <p:nvSpPr>
          <p:cNvPr id="55" name="TextBox 55"/>
          <p:cNvSpPr txBox="1"/>
          <p:nvPr/>
        </p:nvSpPr>
        <p:spPr>
          <a:xfrm>
            <a:off x="8008144" y="2523649"/>
            <a:ext cx="804862"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中期增值业务</a:t>
            </a:r>
          </a:p>
        </p:txBody>
      </p:sp>
      <p:sp>
        <p:nvSpPr>
          <p:cNvPr id="56" name="Line 56"/>
          <p:cNvSpPr/>
          <p:nvPr/>
        </p:nvSpPr>
        <p:spPr>
          <a:xfrm>
            <a:off x="7543800" y="27622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57" name="TextBox 57"/>
          <p:cNvSpPr txBox="1"/>
          <p:nvPr/>
        </p:nvSpPr>
        <p:spPr>
          <a:xfrm>
            <a:off x="7530465" y="2896552"/>
            <a:ext cx="1206818" cy="1203960"/>
          </a:xfrm>
          <a:prstGeom prst="rect">
            <a:avLst/>
          </a:prstGeom>
          <a:noFill/>
          <a:ln>
            <a:noFill/>
          </a:ln>
        </p:spPr>
        <p:txBody>
          <a:bodyPr wrap="square" lIns="0" tIns="0" rIns="0" bIns="0" anchor="t" anchorCtr="0"/>
          <a:lstStyle/>
          <a:p>
            <a:pPr algn="l">
              <a:lnSpc>
                <a:spcPts val="1950"/>
              </a:lnSpc>
            </a:pPr>
            <a:r>
              <a:rPr lang="zh-CN" sz="1050" dirty="0">
                <a:solidFill>
                  <a:srgbClr val="1A1A2E"/>
                </a:solidFill>
                <a:latin typeface="Arial"/>
                <a:ea typeface="Microsoft YaHei"/>
                <a:cs typeface="Arial"/>
              </a:rPr>
              <a:t>· 行业安全能力画像</a:t>
            </a:r>
            <a:r>
              <a:rPr lang="zh-CN" sz="1050" dirty="0">
                <a:solidFill>
                  <a:srgbClr val="1A1A2E"/>
                </a:solidFill>
                <a:latin typeface="Arial"/>
                <a:ea typeface="Microsoft YaHei"/>
                <a:cs typeface="Arial"/>
              </a:rPr>
              <a:t>· 岗位风险分布报告</a:t>
            </a:r>
            <a:r>
              <a:rPr lang="zh-CN" sz="1050" dirty="0">
                <a:solidFill>
                  <a:srgbClr val="1A1A2E"/>
                </a:solidFill>
                <a:latin typeface="Arial"/>
                <a:ea typeface="Microsoft YaHei"/>
                <a:cs typeface="Arial"/>
              </a:rPr>
              <a:t>· 企业对标分析</a:t>
            </a:r>
            <a:r>
              <a:rPr lang="zh-CN" sz="1050" dirty="0">
                <a:solidFill>
                  <a:srgbClr val="1A1A2E"/>
                </a:solidFill>
                <a:latin typeface="Arial"/>
                <a:ea typeface="Microsoft YaHei"/>
                <a:cs typeface="Arial"/>
              </a:rPr>
              <a:t>· 监管报送辅助材料</a:t>
            </a:r>
            <a:r>
              <a:rPr lang="zh-CN" sz="1050" dirty="0">
                <a:solidFill>
                  <a:srgbClr val="1A1A2E"/>
                </a:solidFill>
                <a:latin typeface="Arial"/>
                <a:ea typeface="Microsoft YaHei"/>
                <a:cs typeface="Arial"/>
              </a:rPr>
              <a:t>· 年度安全白皮书</a:t>
            </a:r>
          </a:p>
        </p:txBody>
      </p:sp>
      <p:sp>
        <p:nvSpPr>
          <p:cNvPr id="58" name="Line 58"/>
          <p:cNvSpPr/>
          <p:nvPr/>
        </p:nvSpPr>
        <p:spPr>
          <a:xfrm>
            <a:off x="7543800" y="43243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59" name="TextBox 59"/>
          <p:cNvSpPr txBox="1"/>
          <p:nvPr/>
        </p:nvSpPr>
        <p:spPr>
          <a:xfrm>
            <a:off x="7531418" y="4447699"/>
            <a:ext cx="5448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收费模式</a:t>
            </a:r>
          </a:p>
        </p:txBody>
      </p:sp>
      <p:sp>
        <p:nvSpPr>
          <p:cNvPr id="60" name="TextBox 60"/>
          <p:cNvSpPr txBox="1"/>
          <p:nvPr/>
        </p:nvSpPr>
        <p:spPr>
          <a:xfrm>
            <a:off x="7530465" y="4668202"/>
            <a:ext cx="866775" cy="213360"/>
          </a:xfrm>
          <a:prstGeom prst="rect">
            <a:avLst/>
          </a:prstGeom>
          <a:noFill/>
          <a:ln>
            <a:noFill/>
          </a:ln>
        </p:spPr>
        <p:txBody>
          <a:bodyPr wrap="none" lIns="0" tIns="0" rIns="0" bIns="0" anchor="t" anchorCtr="0">
            <a:spAutoFit/>
          </a:bodyPr>
          <a:lstStyle/>
          <a:p>
            <a:pPr algn="l"/>
            <a:r>
              <a:rPr lang="zh-CN" sz="1050" dirty="0">
                <a:solidFill>
                  <a:srgbClr val="2D7D46"/>
                </a:solidFill>
                <a:latin typeface="Arial"/>
                <a:ea typeface="Microsoft YaHei"/>
                <a:cs typeface="Arial"/>
              </a:rPr>
              <a:t>报告单次购买</a:t>
            </a:r>
          </a:p>
        </p:txBody>
      </p:sp>
      <p:sp>
        <p:nvSpPr>
          <p:cNvPr id="61" name="TextBox 61"/>
          <p:cNvSpPr txBox="1"/>
          <p:nvPr/>
        </p:nvSpPr>
        <p:spPr>
          <a:xfrm>
            <a:off x="7530465" y="4877752"/>
            <a:ext cx="1006792" cy="213360"/>
          </a:xfrm>
          <a:prstGeom prst="rect">
            <a:avLst/>
          </a:prstGeom>
          <a:noFill/>
          <a:ln>
            <a:noFill/>
          </a:ln>
        </p:spPr>
        <p:txBody>
          <a:bodyPr wrap="none" lIns="0" tIns="0" rIns="0" bIns="0" anchor="t" anchorCtr="0">
            <a:spAutoFit/>
          </a:bodyPr>
          <a:lstStyle/>
          <a:p>
            <a:pPr algn="l"/>
            <a:r>
              <a:rPr lang="zh-CN" sz="1050" dirty="0">
                <a:solidFill>
                  <a:srgbClr val="2D7D46"/>
                </a:solidFill>
                <a:latin typeface="Arial"/>
                <a:ea typeface="Microsoft YaHei"/>
                <a:cs typeface="Arial"/>
              </a:rPr>
              <a:t>或数据年度订阅</a:t>
            </a:r>
          </a:p>
        </p:txBody>
      </p:sp>
      <p:sp>
        <p:nvSpPr>
          <p:cNvPr id="62" name="Rectangle 62"/>
          <p:cNvSpPr/>
          <p:nvPr/>
        </p:nvSpPr>
        <p:spPr>
          <a:xfrm>
            <a:off x="7543800" y="6172200"/>
            <a:ext cx="1524000" cy="228600"/>
          </a:xfrm>
          <a:prstGeom prst="roundRect">
            <a:avLst>
              <a:gd name="adj" fmla="val 16667"/>
            </a:avLst>
          </a:prstGeom>
          <a:solidFill>
            <a:srgbClr val="2D7D46"/>
          </a:solidFill>
          <a:ln>
            <a:noFill/>
          </a:ln>
        </p:spPr>
      </p:sp>
      <p:sp>
        <p:nvSpPr>
          <p:cNvPr id="63" name="TextBox 63"/>
          <p:cNvSpPr txBox="1"/>
          <p:nvPr/>
        </p:nvSpPr>
        <p:spPr>
          <a:xfrm>
            <a:off x="7942374" y="6228874"/>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04 数据服务</a:t>
            </a:r>
          </a:p>
        </p:txBody>
      </p:sp>
      <p:sp>
        <p:nvSpPr>
          <p:cNvPr id="64" name="Rectangle 64"/>
          <p:cNvSpPr/>
          <p:nvPr/>
        </p:nvSpPr>
        <p:spPr>
          <a:xfrm>
            <a:off x="9620250" y="2000250"/>
            <a:ext cx="2114550" cy="4476750"/>
          </a:xfrm>
          <a:prstGeom prst="roundRect">
            <a:avLst>
              <a:gd name="adj" fmla="val 1802"/>
            </a:avLst>
          </a:prstGeom>
          <a:solidFill>
            <a:srgbClr val="F0F4F8"/>
          </a:solidFill>
          <a:ln>
            <a:noFill/>
          </a:ln>
        </p:spPr>
      </p:sp>
      <p:sp>
        <p:nvSpPr>
          <p:cNvPr id="65" name="Rectangle 65"/>
          <p:cNvSpPr/>
          <p:nvPr/>
        </p:nvSpPr>
        <p:spPr>
          <a:xfrm>
            <a:off x="9620250" y="2000250"/>
            <a:ext cx="2114550" cy="95250"/>
          </a:xfrm>
          <a:prstGeom prst="roundRect">
            <a:avLst>
              <a:gd name="adj" fmla="val 40000"/>
            </a:avLst>
          </a:prstGeom>
          <a:solidFill>
            <a:srgbClr val="C53030"/>
          </a:solidFill>
          <a:ln>
            <a:noFill/>
          </a:ln>
        </p:spPr>
      </p:sp>
      <p:sp>
        <p:nvSpPr>
          <p:cNvPr id="66" name="Freeform 66"/>
          <p:cNvSpPr/>
          <p:nvPr/>
        </p:nvSpPr>
        <p:spPr>
          <a:xfrm>
            <a:off x="9829800" y="2228850"/>
            <a:ext cx="342900" cy="342900"/>
          </a:xfrm>
          <a:custGeom>
            <a:avLst/>
            <a:gdLst/>
            <a:ahLst/>
            <a:cxnLst/>
            <a:rect l="l" t="t" r="r" b="b"/>
            <a:pathLst>
              <a:path w="342900" h="342900">
                <a:moveTo>
                  <a:pt x="342900" y="171450"/>
                </a:moveTo>
                <a:cubicBezTo>
                  <a:pt x="342900" y="147456"/>
                  <a:pt x="331634" y="126092"/>
                  <a:pt x="314103" y="112362"/>
                </a:cubicBezTo>
                <a:cubicBezTo>
                  <a:pt x="316790" y="90257"/>
                  <a:pt x="309652" y="67184"/>
                  <a:pt x="292684" y="50218"/>
                </a:cubicBezTo>
                <a:cubicBezTo>
                  <a:pt x="275717" y="33251"/>
                  <a:pt x="252644" y="26111"/>
                  <a:pt x="230540" y="28799"/>
                </a:cubicBezTo>
                <a:cubicBezTo>
                  <a:pt x="216809" y="11267"/>
                  <a:pt x="195445" y="0"/>
                  <a:pt x="171450" y="0"/>
                </a:cubicBezTo>
                <a:cubicBezTo>
                  <a:pt x="147456" y="0"/>
                  <a:pt x="126092" y="11266"/>
                  <a:pt x="112362" y="28798"/>
                </a:cubicBezTo>
                <a:cubicBezTo>
                  <a:pt x="90257" y="26110"/>
                  <a:pt x="67184" y="33249"/>
                  <a:pt x="50217" y="50216"/>
                </a:cubicBezTo>
                <a:cubicBezTo>
                  <a:pt x="33250" y="67183"/>
                  <a:pt x="26111" y="90256"/>
                  <a:pt x="28798" y="112361"/>
                </a:cubicBezTo>
                <a:cubicBezTo>
                  <a:pt x="11267" y="126092"/>
                  <a:pt x="0" y="147455"/>
                  <a:pt x="0" y="171450"/>
                </a:cubicBezTo>
                <a:cubicBezTo>
                  <a:pt x="0" y="195444"/>
                  <a:pt x="11266" y="216807"/>
                  <a:pt x="28798" y="230538"/>
                </a:cubicBezTo>
                <a:cubicBezTo>
                  <a:pt x="26110" y="252644"/>
                  <a:pt x="33249" y="275717"/>
                  <a:pt x="50216" y="292682"/>
                </a:cubicBezTo>
                <a:cubicBezTo>
                  <a:pt x="67183" y="309649"/>
                  <a:pt x="90256" y="316790"/>
                  <a:pt x="112361" y="314101"/>
                </a:cubicBezTo>
                <a:cubicBezTo>
                  <a:pt x="126092" y="331634"/>
                  <a:pt x="147455" y="342900"/>
                  <a:pt x="171450" y="342900"/>
                </a:cubicBezTo>
                <a:cubicBezTo>
                  <a:pt x="195444" y="342900"/>
                  <a:pt x="216807" y="331634"/>
                  <a:pt x="230538" y="314103"/>
                </a:cubicBezTo>
                <a:cubicBezTo>
                  <a:pt x="252642" y="316790"/>
                  <a:pt x="275715" y="309652"/>
                  <a:pt x="292682" y="292684"/>
                </a:cubicBezTo>
                <a:cubicBezTo>
                  <a:pt x="309649" y="275717"/>
                  <a:pt x="316788" y="252644"/>
                  <a:pt x="314101" y="230540"/>
                </a:cubicBezTo>
                <a:cubicBezTo>
                  <a:pt x="331634" y="216809"/>
                  <a:pt x="342900" y="195445"/>
                  <a:pt x="342900" y="171450"/>
                </a:cubicBezTo>
                <a:close/>
              </a:path>
            </a:pathLst>
          </a:custGeom>
          <a:solidFill>
            <a:srgbClr val="C53030"/>
          </a:solidFill>
          <a:ln>
            <a:noFill/>
          </a:ln>
        </p:spPr>
      </p:sp>
      <p:sp>
        <p:nvSpPr>
          <p:cNvPr id="67" name="TextBox 67"/>
          <p:cNvSpPr txBox="1"/>
          <p:nvPr/>
        </p:nvSpPr>
        <p:spPr>
          <a:xfrm>
            <a:off x="10125766" y="2300764"/>
            <a:ext cx="1103519" cy="259080"/>
          </a:xfrm>
          <a:prstGeom prst="rect">
            <a:avLst/>
          </a:prstGeom>
          <a:noFill/>
          <a:ln>
            <a:noFill/>
          </a:ln>
        </p:spPr>
        <p:txBody>
          <a:bodyPr wrap="none" lIns="0" tIns="0" rIns="0" bIns="0" anchor="t" anchorCtr="0">
            <a:spAutoFit/>
          </a:bodyPr>
          <a:lstStyle/>
          <a:p>
            <a:pPr algn="ctr"/>
            <a:r>
              <a:rPr lang="zh-CN" sz="1275" b="1" dirty="0">
                <a:solidFill>
                  <a:srgbClr val="C53030"/>
                </a:solidFill>
                <a:latin typeface="Arial"/>
                <a:ea typeface="SimHei"/>
                <a:cs typeface="Arial"/>
              </a:rPr>
              <a:t>合规咨询服务</a:t>
            </a:r>
          </a:p>
        </p:txBody>
      </p:sp>
      <p:sp>
        <p:nvSpPr>
          <p:cNvPr id="68" name="TextBox 68"/>
          <p:cNvSpPr txBox="1"/>
          <p:nvPr/>
        </p:nvSpPr>
        <p:spPr>
          <a:xfrm>
            <a:off x="10275094" y="2523649"/>
            <a:ext cx="804862" cy="198120"/>
          </a:xfrm>
          <a:prstGeom prst="rect">
            <a:avLst/>
          </a:prstGeom>
          <a:noFill/>
          <a:ln>
            <a:noFill/>
          </a:ln>
        </p:spPr>
        <p:txBody>
          <a:bodyPr wrap="none" lIns="0" tIns="0" rIns="0" bIns="0" anchor="t" anchorCtr="0">
            <a:spAutoFit/>
          </a:bodyPr>
          <a:lstStyle/>
          <a:p>
            <a:pPr algn="ctr"/>
            <a:r>
              <a:rPr lang="zh-CN" sz="975" dirty="0">
                <a:solidFill>
                  <a:srgbClr val="4A5568"/>
                </a:solidFill>
                <a:latin typeface="Arial"/>
                <a:ea typeface="Microsoft YaHei"/>
                <a:cs typeface="Arial"/>
              </a:rPr>
              <a:t>专家增值服务</a:t>
            </a:r>
          </a:p>
        </p:txBody>
      </p:sp>
      <p:sp>
        <p:nvSpPr>
          <p:cNvPr id="69" name="Line 69"/>
          <p:cNvSpPr/>
          <p:nvPr/>
        </p:nvSpPr>
        <p:spPr>
          <a:xfrm>
            <a:off x="9810750" y="27622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70" name="TextBox 70"/>
          <p:cNvSpPr txBox="1"/>
          <p:nvPr/>
        </p:nvSpPr>
        <p:spPr>
          <a:xfrm>
            <a:off x="9797415" y="2896552"/>
            <a:ext cx="1206818" cy="1203960"/>
          </a:xfrm>
          <a:prstGeom prst="rect">
            <a:avLst/>
          </a:prstGeom>
          <a:noFill/>
          <a:ln>
            <a:noFill/>
          </a:ln>
        </p:spPr>
        <p:txBody>
          <a:bodyPr wrap="square" lIns="0" tIns="0" rIns="0" bIns="0" anchor="t" anchorCtr="0"/>
          <a:lstStyle/>
          <a:p>
            <a:pPr algn="l">
              <a:lnSpc>
                <a:spcPts val="1950"/>
              </a:lnSpc>
            </a:pPr>
            <a:r>
              <a:rPr lang="zh-CN" sz="1050" dirty="0">
                <a:solidFill>
                  <a:srgbClr val="1A1A2E"/>
                </a:solidFill>
                <a:latin typeface="Arial"/>
                <a:ea typeface="Microsoft YaHei"/>
                <a:cs typeface="Arial"/>
              </a:rPr>
              <a:t>· 企业准入规则定制</a:t>
            </a:r>
            <a:r>
              <a:rPr lang="zh-CN" sz="1050" dirty="0">
                <a:solidFill>
                  <a:srgbClr val="1A1A2E"/>
                </a:solidFill>
                <a:latin typeface="Arial"/>
                <a:ea typeface="Microsoft YaHei"/>
                <a:cs typeface="Arial"/>
              </a:rPr>
              <a:t>· 数据合规方案咨询</a:t>
            </a:r>
            <a:r>
              <a:rPr lang="zh-CN" sz="1050" dirty="0">
                <a:solidFill>
                  <a:srgbClr val="1A1A2E"/>
                </a:solidFill>
                <a:latin typeface="Arial"/>
                <a:ea typeface="Microsoft YaHei"/>
                <a:cs typeface="Arial"/>
              </a:rPr>
              <a:t>· 个人信息保护评估</a:t>
            </a:r>
            <a:r>
              <a:rPr lang="zh-CN" sz="1050" dirty="0">
                <a:solidFill>
                  <a:srgbClr val="1A1A2E"/>
                </a:solidFill>
                <a:latin typeface="Arial"/>
                <a:ea typeface="Microsoft YaHei"/>
                <a:cs typeface="Arial"/>
              </a:rPr>
              <a:t>· 安全管理制度优化</a:t>
            </a:r>
            <a:r>
              <a:rPr lang="zh-CN" sz="1050" dirty="0">
                <a:solidFill>
                  <a:srgbClr val="1A1A2E"/>
                </a:solidFill>
                <a:latin typeface="Arial"/>
                <a:ea typeface="Microsoft YaHei"/>
                <a:cs typeface="Arial"/>
              </a:rPr>
              <a:t>· 专家顾问服务</a:t>
            </a:r>
          </a:p>
        </p:txBody>
      </p:sp>
      <p:sp>
        <p:nvSpPr>
          <p:cNvPr id="71" name="Line 71"/>
          <p:cNvSpPr/>
          <p:nvPr/>
        </p:nvSpPr>
        <p:spPr>
          <a:xfrm>
            <a:off x="9810750" y="4324350"/>
            <a:ext cx="1733550" cy="9525"/>
          </a:xfrm>
          <a:custGeom>
            <a:avLst/>
            <a:gdLst/>
            <a:ahLst/>
            <a:cxnLst/>
            <a:rect l="l" t="t" r="r" b="b"/>
            <a:pathLst>
              <a:path w="1733550" h="9525">
                <a:moveTo>
                  <a:pt x="0" y="0"/>
                </a:moveTo>
                <a:lnTo>
                  <a:pt x="1733550" y="0"/>
                </a:lnTo>
              </a:path>
            </a:pathLst>
          </a:custGeom>
          <a:noFill/>
          <a:ln w="9525">
            <a:solidFill>
              <a:srgbClr val="CBD5E0"/>
            </a:solidFill>
          </a:ln>
        </p:spPr>
      </p:sp>
      <p:sp>
        <p:nvSpPr>
          <p:cNvPr id="72" name="TextBox 72"/>
          <p:cNvSpPr txBox="1"/>
          <p:nvPr/>
        </p:nvSpPr>
        <p:spPr>
          <a:xfrm>
            <a:off x="9798368" y="4447699"/>
            <a:ext cx="544830" cy="198120"/>
          </a:xfrm>
          <a:prstGeom prst="rect">
            <a:avLst/>
          </a:prstGeom>
          <a:noFill/>
          <a:ln>
            <a:noFill/>
          </a:ln>
        </p:spPr>
        <p:txBody>
          <a:bodyPr wrap="none" lIns="0" tIns="0" rIns="0" bIns="0" anchor="t" anchorCtr="0">
            <a:spAutoFit/>
          </a:bodyPr>
          <a:lstStyle/>
          <a:p>
            <a:pPr algn="l"/>
            <a:r>
              <a:rPr lang="zh-CN" sz="975" dirty="0">
                <a:solidFill>
                  <a:srgbClr val="718096"/>
                </a:solidFill>
                <a:latin typeface="Arial"/>
                <a:ea typeface="Microsoft YaHei"/>
                <a:cs typeface="Arial"/>
              </a:rPr>
              <a:t>收费模式</a:t>
            </a:r>
          </a:p>
        </p:txBody>
      </p:sp>
      <p:sp>
        <p:nvSpPr>
          <p:cNvPr id="73" name="TextBox 73"/>
          <p:cNvSpPr txBox="1"/>
          <p:nvPr/>
        </p:nvSpPr>
        <p:spPr>
          <a:xfrm>
            <a:off x="9797415" y="4668202"/>
            <a:ext cx="803767" cy="213360"/>
          </a:xfrm>
          <a:prstGeom prst="rect">
            <a:avLst/>
          </a:prstGeom>
          <a:noFill/>
          <a:ln>
            <a:noFill/>
          </a:ln>
        </p:spPr>
        <p:txBody>
          <a:bodyPr wrap="none" lIns="0" tIns="0" rIns="0" bIns="0" anchor="t" anchorCtr="0">
            <a:spAutoFit/>
          </a:bodyPr>
          <a:lstStyle/>
          <a:p>
            <a:pPr algn="l"/>
            <a:r>
              <a:rPr lang="zh-CN" sz="1050" dirty="0">
                <a:solidFill>
                  <a:srgbClr val="C53030"/>
                </a:solidFill>
                <a:latin typeface="Arial"/>
                <a:ea typeface="Microsoft YaHei"/>
                <a:cs typeface="Arial"/>
              </a:rPr>
              <a:t>按项目/天数</a:t>
            </a:r>
          </a:p>
        </p:txBody>
      </p:sp>
      <p:sp>
        <p:nvSpPr>
          <p:cNvPr id="74" name="TextBox 74"/>
          <p:cNvSpPr txBox="1"/>
          <p:nvPr/>
        </p:nvSpPr>
        <p:spPr>
          <a:xfrm>
            <a:off x="9797415" y="4877752"/>
            <a:ext cx="446722" cy="213360"/>
          </a:xfrm>
          <a:prstGeom prst="rect">
            <a:avLst/>
          </a:prstGeom>
          <a:noFill/>
          <a:ln>
            <a:noFill/>
          </a:ln>
        </p:spPr>
        <p:txBody>
          <a:bodyPr wrap="none" lIns="0" tIns="0" rIns="0" bIns="0" anchor="t" anchorCtr="0">
            <a:spAutoFit/>
          </a:bodyPr>
          <a:lstStyle/>
          <a:p>
            <a:pPr algn="l"/>
            <a:r>
              <a:rPr lang="zh-CN" sz="1050" dirty="0">
                <a:solidFill>
                  <a:srgbClr val="C53030"/>
                </a:solidFill>
                <a:latin typeface="Arial"/>
                <a:ea typeface="Microsoft YaHei"/>
                <a:cs typeface="Arial"/>
              </a:rPr>
              <a:t>咨询费</a:t>
            </a:r>
          </a:p>
        </p:txBody>
      </p:sp>
      <p:sp>
        <p:nvSpPr>
          <p:cNvPr id="75" name="Rectangle 75"/>
          <p:cNvSpPr/>
          <p:nvPr/>
        </p:nvSpPr>
        <p:spPr>
          <a:xfrm>
            <a:off x="9810750" y="6172200"/>
            <a:ext cx="1524000" cy="228600"/>
          </a:xfrm>
          <a:prstGeom prst="roundRect">
            <a:avLst>
              <a:gd name="adj" fmla="val 16667"/>
            </a:avLst>
          </a:prstGeom>
          <a:solidFill>
            <a:srgbClr val="C53030"/>
          </a:solidFill>
          <a:ln>
            <a:noFill/>
          </a:ln>
        </p:spPr>
      </p:sp>
      <p:sp>
        <p:nvSpPr>
          <p:cNvPr id="76" name="TextBox 76"/>
          <p:cNvSpPr txBox="1"/>
          <p:nvPr/>
        </p:nvSpPr>
        <p:spPr>
          <a:xfrm>
            <a:off x="10209324" y="6228874"/>
            <a:ext cx="726853"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Microsoft YaHei"/>
                <a:cs typeface="Arial"/>
              </a:rPr>
              <a:t>05 合规咨询</a:t>
            </a:r>
          </a:p>
        </p:txBody>
      </p:sp>
      <p:sp>
        <p:nvSpPr>
          <p:cNvPr id="77" name="TextBox 77"/>
          <p:cNvSpPr txBox="1"/>
          <p:nvPr/>
        </p:nvSpPr>
        <p:spPr>
          <a:xfrm>
            <a:off x="3744277" y="6522720"/>
            <a:ext cx="4703445" cy="182880"/>
          </a:xfrm>
          <a:prstGeom prst="rect">
            <a:avLst/>
          </a:prstGeom>
          <a:noFill/>
          <a:ln>
            <a:noFill/>
          </a:ln>
        </p:spPr>
        <p:txBody>
          <a:bodyPr wrap="none" lIns="0" tIns="0" rIns="0" bIns="0" anchor="t" anchorCtr="0">
            <a:spAutoFit/>
          </a:bodyPr>
          <a:lstStyle/>
          <a:p>
            <a:pPr algn="ctr"/>
            <a:r>
              <a:rPr lang="zh-CN" sz="900" dirty="0">
                <a:solidFill>
                  <a:srgbClr val="718096"/>
                </a:solidFill>
                <a:latin typeface="Arial"/>
                <a:ea typeface="Microsoft YaHei"/>
                <a:cs typeface="Arial"/>
              </a:rPr>
              <a:t>注：运营服务产品体系在先行验证期完成设计，定价方案经验证期数据校准后正式发布。</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sp>
        <p:nvSpPr>
          <p:cNvPr id="3" name="TextBox 3"/>
          <p:cNvSpPr txBox="1"/>
          <p:nvPr/>
        </p:nvSpPr>
        <p:spPr>
          <a:xfrm>
            <a:off x="541972" y="1034891"/>
            <a:ext cx="1077912" cy="167640"/>
          </a:xfrm>
          <a:prstGeom prst="rect">
            <a:avLst/>
          </a:prstGeom>
          <a:noFill/>
          <a:ln>
            <a:noFill/>
          </a:ln>
        </p:spPr>
        <p:txBody>
          <a:bodyPr wrap="none" lIns="0" tIns="0" rIns="0" bIns="0" anchor="t" anchorCtr="0">
            <a:spAutoFit/>
          </a:bodyPr>
          <a:lstStyle/>
          <a:p>
            <a:pPr algn="l"/>
            <a:r>
              <a:rPr lang="zh-CN" sz="825" b="1" dirty="0">
                <a:solidFill>
                  <a:srgbClr val="0077CC"/>
                </a:solidFill>
                <a:latin typeface="Arial"/>
                <a:ea typeface="SimHei"/>
                <a:cs typeface="Arial"/>
              </a:rPr>
              <a:t>第四章 · 实施与运营</a:t>
            </a:r>
          </a:p>
        </p:txBody>
      </p:sp>
      <p:sp>
        <p:nvSpPr>
          <p:cNvPr id="4" name="TextBox 4"/>
          <p:cNvSpPr txBox="1"/>
          <p:nvPr/>
        </p:nvSpPr>
        <p:spPr>
          <a:xfrm>
            <a:off x="525780" y="1183005"/>
            <a:ext cx="5640038" cy="426720"/>
          </a:xfrm>
          <a:prstGeom prst="rect">
            <a:avLst/>
          </a:prstGeom>
          <a:noFill/>
          <a:ln>
            <a:noFill/>
          </a:ln>
        </p:spPr>
        <p:txBody>
          <a:bodyPr wrap="none" lIns="0" tIns="0" rIns="0" bIns="0" anchor="t" anchorCtr="0">
            <a:spAutoFit/>
          </a:bodyPr>
          <a:lstStyle/>
          <a:p>
            <a:pPr algn="l"/>
            <a:r>
              <a:rPr lang="zh-CN" sz="2100" b="1" dirty="0">
                <a:solidFill>
                  <a:srgbClr val="003A70"/>
                </a:solidFill>
                <a:latin typeface="Arial"/>
                <a:ea typeface="SimHei"/>
                <a:cs typeface="Arial"/>
              </a:rPr>
              <a:t>风险管控：五类主要风险及前置化控制措施</a:t>
            </a:r>
          </a:p>
        </p:txBody>
      </p:sp>
      <p:sp>
        <p:nvSpPr>
          <p:cNvPr id="5" name="Line 5"/>
          <p:cNvSpPr/>
          <p:nvPr/>
        </p:nvSpPr>
        <p:spPr>
          <a:xfrm>
            <a:off x="552450" y="1524000"/>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 name="Rectangle 6"/>
          <p:cNvSpPr/>
          <p:nvPr/>
        </p:nvSpPr>
        <p:spPr>
          <a:xfrm>
            <a:off x="552450" y="1666875"/>
            <a:ext cx="11087100" cy="361950"/>
          </a:xfrm>
          <a:prstGeom prst="rect">
            <a:avLst/>
          </a:prstGeom>
          <a:solidFill>
            <a:srgbClr val="003A70"/>
          </a:solidFill>
          <a:ln>
            <a:noFill/>
          </a:ln>
        </p:spPr>
      </p:sp>
      <p:sp>
        <p:nvSpPr>
          <p:cNvPr id="7" name="TextBox 7"/>
          <p:cNvSpPr txBox="1"/>
          <p:nvPr/>
        </p:nvSpPr>
        <p:spPr>
          <a:xfrm>
            <a:off x="1149953" y="1791652"/>
            <a:ext cx="614744"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SimHei"/>
                <a:cs typeface="Arial"/>
              </a:rPr>
              <a:t>风险类型</a:t>
            </a:r>
          </a:p>
        </p:txBody>
      </p:sp>
      <p:sp>
        <p:nvSpPr>
          <p:cNvPr id="8" name="TextBox 8"/>
          <p:cNvSpPr txBox="1"/>
          <p:nvPr/>
        </p:nvSpPr>
        <p:spPr>
          <a:xfrm>
            <a:off x="3600569" y="1791652"/>
            <a:ext cx="761762"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SimHei"/>
                <a:cs typeface="Arial"/>
              </a:rPr>
              <a:t>主要风险点</a:t>
            </a:r>
          </a:p>
        </p:txBody>
      </p:sp>
      <p:sp>
        <p:nvSpPr>
          <p:cNvPr id="9" name="TextBox 9"/>
          <p:cNvSpPr txBox="1"/>
          <p:nvPr/>
        </p:nvSpPr>
        <p:spPr>
          <a:xfrm>
            <a:off x="5916597" y="1791652"/>
            <a:ext cx="32070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SimHei"/>
                <a:cs typeface="Arial"/>
              </a:rPr>
              <a:t>等级</a:t>
            </a:r>
          </a:p>
        </p:txBody>
      </p:sp>
      <p:sp>
        <p:nvSpPr>
          <p:cNvPr id="10" name="TextBox 10"/>
          <p:cNvSpPr txBox="1"/>
          <p:nvPr/>
        </p:nvSpPr>
        <p:spPr>
          <a:xfrm>
            <a:off x="7908560" y="1791652"/>
            <a:ext cx="90878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SimHei"/>
                <a:cs typeface="Arial"/>
              </a:rPr>
              <a:t>前置控制措施</a:t>
            </a:r>
          </a:p>
        </p:txBody>
      </p:sp>
      <p:sp>
        <p:nvSpPr>
          <p:cNvPr id="11" name="TextBox 11"/>
          <p:cNvSpPr txBox="1"/>
          <p:nvPr/>
        </p:nvSpPr>
        <p:spPr>
          <a:xfrm>
            <a:off x="10672262" y="1791652"/>
            <a:ext cx="467725"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SimHei"/>
                <a:cs typeface="Arial"/>
              </a:rPr>
              <a:t>责任方</a:t>
            </a:r>
          </a:p>
        </p:txBody>
      </p:sp>
      <p:sp>
        <p:nvSpPr>
          <p:cNvPr id="12" name="Line 12"/>
          <p:cNvSpPr/>
          <p:nvPr/>
        </p:nvSpPr>
        <p:spPr>
          <a:xfrm>
            <a:off x="2362200" y="1666875"/>
            <a:ext cx="9525" cy="361950"/>
          </a:xfrm>
          <a:custGeom>
            <a:avLst/>
            <a:gdLst/>
            <a:ahLst/>
            <a:cxnLst/>
            <a:rect l="l" t="t" r="r" b="b"/>
            <a:pathLst>
              <a:path w="9525" h="361950">
                <a:moveTo>
                  <a:pt x="0" y="0"/>
                </a:moveTo>
                <a:lnTo>
                  <a:pt x="0" y="361950"/>
                </a:lnTo>
              </a:path>
            </a:pathLst>
          </a:custGeom>
          <a:noFill/>
          <a:ln w="5715">
            <a:solidFill>
              <a:srgbClr val="FFFFFF">
                <a:alpha val="30000"/>
              </a:srgbClr>
            </a:solidFill>
          </a:ln>
        </p:spPr>
      </p:sp>
      <p:sp>
        <p:nvSpPr>
          <p:cNvPr id="13" name="Line 13"/>
          <p:cNvSpPr/>
          <p:nvPr/>
        </p:nvSpPr>
        <p:spPr>
          <a:xfrm>
            <a:off x="5600700" y="1666875"/>
            <a:ext cx="9525" cy="361950"/>
          </a:xfrm>
          <a:custGeom>
            <a:avLst/>
            <a:gdLst/>
            <a:ahLst/>
            <a:cxnLst/>
            <a:rect l="l" t="t" r="r" b="b"/>
            <a:pathLst>
              <a:path w="9525" h="361950">
                <a:moveTo>
                  <a:pt x="0" y="0"/>
                </a:moveTo>
                <a:lnTo>
                  <a:pt x="0" y="361950"/>
                </a:lnTo>
              </a:path>
            </a:pathLst>
          </a:custGeom>
          <a:noFill/>
          <a:ln w="5715">
            <a:solidFill>
              <a:srgbClr val="FFFFFF">
                <a:alpha val="30000"/>
              </a:srgbClr>
            </a:solidFill>
          </a:ln>
        </p:spPr>
      </p:sp>
      <p:sp>
        <p:nvSpPr>
          <p:cNvPr id="14" name="Line 14"/>
          <p:cNvSpPr/>
          <p:nvPr/>
        </p:nvSpPr>
        <p:spPr>
          <a:xfrm>
            <a:off x="6553200" y="1666875"/>
            <a:ext cx="9525" cy="361950"/>
          </a:xfrm>
          <a:custGeom>
            <a:avLst/>
            <a:gdLst/>
            <a:ahLst/>
            <a:cxnLst/>
            <a:rect l="l" t="t" r="r" b="b"/>
            <a:pathLst>
              <a:path w="9525" h="361950">
                <a:moveTo>
                  <a:pt x="0" y="0"/>
                </a:moveTo>
                <a:lnTo>
                  <a:pt x="0" y="361950"/>
                </a:lnTo>
              </a:path>
            </a:pathLst>
          </a:custGeom>
          <a:noFill/>
          <a:ln w="5715">
            <a:solidFill>
              <a:srgbClr val="FFFFFF">
                <a:alpha val="30000"/>
              </a:srgbClr>
            </a:solidFill>
          </a:ln>
        </p:spPr>
      </p:sp>
      <p:sp>
        <p:nvSpPr>
          <p:cNvPr id="15" name="Line 15"/>
          <p:cNvSpPr/>
          <p:nvPr/>
        </p:nvSpPr>
        <p:spPr>
          <a:xfrm>
            <a:off x="10172700" y="1666875"/>
            <a:ext cx="9525" cy="361950"/>
          </a:xfrm>
          <a:custGeom>
            <a:avLst/>
            <a:gdLst/>
            <a:ahLst/>
            <a:cxnLst/>
            <a:rect l="l" t="t" r="r" b="b"/>
            <a:pathLst>
              <a:path w="9525" h="361950">
                <a:moveTo>
                  <a:pt x="0" y="0"/>
                </a:moveTo>
                <a:lnTo>
                  <a:pt x="0" y="361950"/>
                </a:lnTo>
              </a:path>
            </a:pathLst>
          </a:custGeom>
          <a:noFill/>
          <a:ln w="5715">
            <a:solidFill>
              <a:srgbClr val="FFFFFF">
                <a:alpha val="30000"/>
              </a:srgbClr>
            </a:solidFill>
          </a:ln>
        </p:spPr>
      </p:sp>
      <p:sp>
        <p:nvSpPr>
          <p:cNvPr id="16" name="Line 16"/>
          <p:cNvSpPr/>
          <p:nvPr/>
        </p:nvSpPr>
        <p:spPr>
          <a:xfrm>
            <a:off x="2362200" y="2028825"/>
            <a:ext cx="9525" cy="4572000"/>
          </a:xfrm>
          <a:custGeom>
            <a:avLst/>
            <a:gdLst/>
            <a:ahLst/>
            <a:cxnLst/>
            <a:rect l="l" t="t" r="r" b="b"/>
            <a:pathLst>
              <a:path w="9525" h="4572000">
                <a:moveTo>
                  <a:pt x="0" y="0"/>
                </a:moveTo>
                <a:lnTo>
                  <a:pt x="0" y="4572000"/>
                </a:lnTo>
              </a:path>
            </a:pathLst>
          </a:custGeom>
          <a:noFill/>
          <a:ln w="9525">
            <a:solidFill>
              <a:srgbClr val="CBD5E0"/>
            </a:solidFill>
          </a:ln>
        </p:spPr>
      </p:sp>
      <p:sp>
        <p:nvSpPr>
          <p:cNvPr id="17" name="Line 17"/>
          <p:cNvSpPr/>
          <p:nvPr/>
        </p:nvSpPr>
        <p:spPr>
          <a:xfrm>
            <a:off x="5600700" y="2028825"/>
            <a:ext cx="9525" cy="4572000"/>
          </a:xfrm>
          <a:custGeom>
            <a:avLst/>
            <a:gdLst/>
            <a:ahLst/>
            <a:cxnLst/>
            <a:rect l="l" t="t" r="r" b="b"/>
            <a:pathLst>
              <a:path w="9525" h="4572000">
                <a:moveTo>
                  <a:pt x="0" y="0"/>
                </a:moveTo>
                <a:lnTo>
                  <a:pt x="0" y="4572000"/>
                </a:lnTo>
              </a:path>
            </a:pathLst>
          </a:custGeom>
          <a:noFill/>
          <a:ln w="9525">
            <a:solidFill>
              <a:srgbClr val="CBD5E0"/>
            </a:solidFill>
          </a:ln>
        </p:spPr>
      </p:sp>
      <p:sp>
        <p:nvSpPr>
          <p:cNvPr id="18" name="Line 18"/>
          <p:cNvSpPr/>
          <p:nvPr/>
        </p:nvSpPr>
        <p:spPr>
          <a:xfrm>
            <a:off x="6553200" y="2028825"/>
            <a:ext cx="9525" cy="4572000"/>
          </a:xfrm>
          <a:custGeom>
            <a:avLst/>
            <a:gdLst/>
            <a:ahLst/>
            <a:cxnLst/>
            <a:rect l="l" t="t" r="r" b="b"/>
            <a:pathLst>
              <a:path w="9525" h="4572000">
                <a:moveTo>
                  <a:pt x="0" y="0"/>
                </a:moveTo>
                <a:lnTo>
                  <a:pt x="0" y="4572000"/>
                </a:lnTo>
              </a:path>
            </a:pathLst>
          </a:custGeom>
          <a:noFill/>
          <a:ln w="9525">
            <a:solidFill>
              <a:srgbClr val="CBD5E0"/>
            </a:solidFill>
          </a:ln>
        </p:spPr>
      </p:sp>
      <p:sp>
        <p:nvSpPr>
          <p:cNvPr id="19" name="Line 19"/>
          <p:cNvSpPr/>
          <p:nvPr/>
        </p:nvSpPr>
        <p:spPr>
          <a:xfrm>
            <a:off x="10172700" y="2028825"/>
            <a:ext cx="9525" cy="4572000"/>
          </a:xfrm>
          <a:custGeom>
            <a:avLst/>
            <a:gdLst/>
            <a:ahLst/>
            <a:cxnLst/>
            <a:rect l="l" t="t" r="r" b="b"/>
            <a:pathLst>
              <a:path w="9525" h="4572000">
                <a:moveTo>
                  <a:pt x="0" y="0"/>
                </a:moveTo>
                <a:lnTo>
                  <a:pt x="0" y="4572000"/>
                </a:lnTo>
              </a:path>
            </a:pathLst>
          </a:custGeom>
          <a:noFill/>
          <a:ln w="9525">
            <a:solidFill>
              <a:srgbClr val="CBD5E0"/>
            </a:solidFill>
          </a:ln>
        </p:spPr>
      </p:sp>
      <p:sp>
        <p:nvSpPr>
          <p:cNvPr id="20" name="Rectangle 20"/>
          <p:cNvSpPr/>
          <p:nvPr/>
        </p:nvSpPr>
        <p:spPr>
          <a:xfrm>
            <a:off x="552450" y="2028825"/>
            <a:ext cx="11087100" cy="914400"/>
          </a:xfrm>
          <a:prstGeom prst="rect">
            <a:avLst/>
          </a:prstGeom>
          <a:solidFill>
            <a:srgbClr val="FFF5F5"/>
          </a:solidFill>
          <a:ln>
            <a:noFill/>
          </a:ln>
        </p:spPr>
      </p:sp>
      <p:sp>
        <p:nvSpPr>
          <p:cNvPr id="21" name="Rectangle 21"/>
          <p:cNvSpPr/>
          <p:nvPr/>
        </p:nvSpPr>
        <p:spPr>
          <a:xfrm>
            <a:off x="552450" y="2028825"/>
            <a:ext cx="57150" cy="914400"/>
          </a:xfrm>
          <a:prstGeom prst="rect">
            <a:avLst/>
          </a:prstGeom>
          <a:solidFill>
            <a:srgbClr val="C53030"/>
          </a:solidFill>
          <a:ln>
            <a:noFill/>
          </a:ln>
        </p:spPr>
      </p:sp>
      <p:sp>
        <p:nvSpPr>
          <p:cNvPr id="22" name="TextBox 22"/>
          <p:cNvSpPr txBox="1"/>
          <p:nvPr/>
        </p:nvSpPr>
        <p:spPr>
          <a:xfrm>
            <a:off x="728662" y="2202656"/>
            <a:ext cx="973693" cy="228600"/>
          </a:xfrm>
          <a:prstGeom prst="rect">
            <a:avLst/>
          </a:prstGeom>
          <a:noFill/>
          <a:ln>
            <a:noFill/>
          </a:ln>
        </p:spPr>
        <p:txBody>
          <a:bodyPr wrap="none" lIns="0" tIns="0" rIns="0" bIns="0" anchor="t" anchorCtr="0">
            <a:spAutoFit/>
          </a:bodyPr>
          <a:lstStyle/>
          <a:p>
            <a:pPr algn="l"/>
            <a:r>
              <a:rPr lang="zh-CN" sz="1125" b="1" dirty="0">
                <a:solidFill>
                  <a:srgbClr val="C53030"/>
                </a:solidFill>
                <a:latin typeface="Arial"/>
                <a:ea typeface="SimHei"/>
                <a:cs typeface="Arial"/>
              </a:rPr>
              <a:t>数据合规风险</a:t>
            </a:r>
          </a:p>
        </p:txBody>
      </p:sp>
      <p:sp>
        <p:nvSpPr>
          <p:cNvPr id="23" name="TextBox 23"/>
          <p:cNvSpPr txBox="1"/>
          <p:nvPr/>
        </p:nvSpPr>
        <p:spPr>
          <a:xfrm>
            <a:off x="730568" y="2447449"/>
            <a:ext cx="80486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个人信息保护</a:t>
            </a:r>
          </a:p>
        </p:txBody>
      </p:sp>
      <p:sp>
        <p:nvSpPr>
          <p:cNvPr id="24" name="TextBox 24"/>
          <p:cNvSpPr txBox="1"/>
          <p:nvPr/>
        </p:nvSpPr>
        <p:spPr>
          <a:xfrm>
            <a:off x="2520315" y="2210752"/>
            <a:ext cx="1493520"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身份证号等敏感信息</a:t>
            </a:r>
            <a:r>
              <a:rPr lang="zh-CN" sz="1050" dirty="0">
                <a:solidFill>
                  <a:srgbClr val="1A1A2E"/>
                </a:solidFill>
                <a:latin typeface="Arial"/>
                <a:ea typeface="Microsoft YaHei"/>
                <a:cs typeface="Arial"/>
              </a:rPr>
              <a:t>采集使用存在</a:t>
            </a:r>
            <a:r>
              <a:rPr lang="zh-CN" sz="1050" dirty="0">
                <a:solidFill>
                  <a:srgbClr val="1A1A2E"/>
                </a:solidFill>
                <a:latin typeface="Arial"/>
                <a:ea typeface="Microsoft YaHei"/>
                <a:cs typeface="Arial"/>
              </a:rPr>
              <a:t>个人信息保护法合规风险</a:t>
            </a:r>
          </a:p>
        </p:txBody>
      </p:sp>
      <p:sp>
        <p:nvSpPr>
          <p:cNvPr id="25" name="Rectangle 25"/>
          <p:cNvSpPr/>
          <p:nvPr/>
        </p:nvSpPr>
        <p:spPr>
          <a:xfrm>
            <a:off x="5753100" y="2190750"/>
            <a:ext cx="647700" cy="247650"/>
          </a:xfrm>
          <a:prstGeom prst="roundRect">
            <a:avLst>
              <a:gd name="adj" fmla="val 50000"/>
            </a:avLst>
          </a:prstGeom>
          <a:solidFill>
            <a:srgbClr val="C53030"/>
          </a:solidFill>
          <a:ln>
            <a:noFill/>
          </a:ln>
        </p:spPr>
      </p:sp>
      <p:sp>
        <p:nvSpPr>
          <p:cNvPr id="26" name="TextBox 26"/>
          <p:cNvSpPr txBox="1"/>
          <p:nvPr/>
        </p:nvSpPr>
        <p:spPr>
          <a:xfrm>
            <a:off x="5999559" y="2256949"/>
            <a:ext cx="15478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SimHei"/>
                <a:cs typeface="Arial"/>
              </a:rPr>
              <a:t>高</a:t>
            </a:r>
          </a:p>
        </p:txBody>
      </p:sp>
      <p:sp>
        <p:nvSpPr>
          <p:cNvPr id="27" name="TextBox 27"/>
          <p:cNvSpPr txBox="1"/>
          <p:nvPr/>
        </p:nvSpPr>
        <p:spPr>
          <a:xfrm>
            <a:off x="6711315" y="2210752"/>
            <a:ext cx="160686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授权先行，最小必要原则</a:t>
            </a:r>
            <a:r>
              <a:rPr lang="zh-CN" sz="1050" dirty="0">
                <a:solidFill>
                  <a:srgbClr val="1A1A2E"/>
                </a:solidFill>
                <a:latin typeface="Arial"/>
                <a:ea typeface="Microsoft YaHei"/>
                <a:cs typeface="Arial"/>
              </a:rPr>
              <a:t>· 法律顾问审核合规文本</a:t>
            </a:r>
            <a:r>
              <a:rPr lang="zh-CN" sz="1050" dirty="0">
                <a:solidFill>
                  <a:srgbClr val="1A1A2E"/>
                </a:solidFill>
                <a:latin typeface="Arial"/>
                <a:ea typeface="Microsoft YaHei"/>
                <a:cs typeface="Arial"/>
              </a:rPr>
              <a:t>· 个人信息保护影响评估</a:t>
            </a:r>
          </a:p>
        </p:txBody>
      </p:sp>
      <p:sp>
        <p:nvSpPr>
          <p:cNvPr id="28" name="TextBox 28"/>
          <p:cNvSpPr txBox="1"/>
          <p:nvPr/>
        </p:nvSpPr>
        <p:spPr>
          <a:xfrm>
            <a:off x="10050780" y="2401252"/>
            <a:ext cx="586740"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数智科技</a:t>
            </a:r>
          </a:p>
        </p:txBody>
      </p:sp>
      <p:sp>
        <p:nvSpPr>
          <p:cNvPr id="29" name="TextBox 29"/>
          <p:cNvSpPr txBox="1"/>
          <p:nvPr/>
        </p:nvSpPr>
        <p:spPr>
          <a:xfrm>
            <a:off x="10071735" y="2637949"/>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法律顾问</a:t>
            </a:r>
          </a:p>
        </p:txBody>
      </p:sp>
      <p:sp>
        <p:nvSpPr>
          <p:cNvPr id="30" name="Line 30"/>
          <p:cNvSpPr/>
          <p:nvPr/>
        </p:nvSpPr>
        <p:spPr>
          <a:xfrm>
            <a:off x="552450" y="29432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31" name="Rectangle 31"/>
          <p:cNvSpPr/>
          <p:nvPr/>
        </p:nvSpPr>
        <p:spPr>
          <a:xfrm>
            <a:off x="552450" y="2943225"/>
            <a:ext cx="11087100" cy="914400"/>
          </a:xfrm>
          <a:prstGeom prst="rect">
            <a:avLst/>
          </a:prstGeom>
          <a:solidFill>
            <a:srgbClr val="FFFFFF"/>
          </a:solidFill>
          <a:ln>
            <a:noFill/>
          </a:ln>
        </p:spPr>
      </p:sp>
      <p:sp>
        <p:nvSpPr>
          <p:cNvPr id="32" name="Rectangle 32"/>
          <p:cNvSpPr/>
          <p:nvPr/>
        </p:nvSpPr>
        <p:spPr>
          <a:xfrm>
            <a:off x="552450" y="2943225"/>
            <a:ext cx="57150" cy="914400"/>
          </a:xfrm>
          <a:prstGeom prst="rect">
            <a:avLst/>
          </a:prstGeom>
          <a:solidFill>
            <a:srgbClr val="0077CC"/>
          </a:solidFill>
          <a:ln>
            <a:noFill/>
          </a:ln>
        </p:spPr>
      </p:sp>
      <p:sp>
        <p:nvSpPr>
          <p:cNvPr id="33" name="TextBox 33"/>
          <p:cNvSpPr txBox="1"/>
          <p:nvPr/>
        </p:nvSpPr>
        <p:spPr>
          <a:xfrm>
            <a:off x="728662" y="3117056"/>
            <a:ext cx="973693" cy="228600"/>
          </a:xfrm>
          <a:prstGeom prst="rect">
            <a:avLst/>
          </a:prstGeom>
          <a:noFill/>
          <a:ln>
            <a:noFill/>
          </a:ln>
        </p:spPr>
        <p:txBody>
          <a:bodyPr wrap="none" lIns="0" tIns="0" rIns="0" bIns="0" anchor="t" anchorCtr="0">
            <a:spAutoFit/>
          </a:bodyPr>
          <a:lstStyle/>
          <a:p>
            <a:pPr algn="l"/>
            <a:r>
              <a:rPr lang="zh-CN" sz="1125" b="1" dirty="0">
                <a:solidFill>
                  <a:srgbClr val="0077CC"/>
                </a:solidFill>
                <a:latin typeface="Arial"/>
                <a:ea typeface="SimHei"/>
                <a:cs typeface="Arial"/>
              </a:rPr>
              <a:t>数据质量风险</a:t>
            </a:r>
          </a:p>
        </p:txBody>
      </p:sp>
      <p:sp>
        <p:nvSpPr>
          <p:cNvPr id="34" name="TextBox 34"/>
          <p:cNvSpPr txBox="1"/>
          <p:nvPr/>
        </p:nvSpPr>
        <p:spPr>
          <a:xfrm>
            <a:off x="730568" y="3361849"/>
            <a:ext cx="934879"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核验结果可信度</a:t>
            </a:r>
          </a:p>
        </p:txBody>
      </p:sp>
      <p:sp>
        <p:nvSpPr>
          <p:cNvPr id="35" name="TextBox 35"/>
          <p:cNvSpPr txBox="1"/>
          <p:nvPr/>
        </p:nvSpPr>
        <p:spPr>
          <a:xfrm>
            <a:off x="2520315" y="3125152"/>
            <a:ext cx="1360170"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来源数据不完整或存在</a:t>
            </a:r>
            <a:r>
              <a:rPr lang="zh-CN" sz="1050" dirty="0">
                <a:solidFill>
                  <a:srgbClr val="1A1A2E"/>
                </a:solidFill>
                <a:latin typeface="Arial"/>
                <a:ea typeface="Microsoft YaHei"/>
                <a:cs typeface="Arial"/>
              </a:rPr>
              <a:t>错误，导致核验结论</a:t>
            </a:r>
            <a:r>
              <a:rPr lang="zh-CN" sz="1050" dirty="0">
                <a:solidFill>
                  <a:srgbClr val="1A1A2E"/>
                </a:solidFill>
                <a:latin typeface="Arial"/>
                <a:ea typeface="Microsoft YaHei"/>
                <a:cs typeface="Arial"/>
              </a:rPr>
              <a:t>失真影响企业决策</a:t>
            </a:r>
          </a:p>
        </p:txBody>
      </p:sp>
      <p:sp>
        <p:nvSpPr>
          <p:cNvPr id="36" name="Rectangle 36"/>
          <p:cNvSpPr/>
          <p:nvPr/>
        </p:nvSpPr>
        <p:spPr>
          <a:xfrm>
            <a:off x="5753100" y="3105150"/>
            <a:ext cx="647700" cy="247650"/>
          </a:xfrm>
          <a:prstGeom prst="roundRect">
            <a:avLst>
              <a:gd name="adj" fmla="val 50000"/>
            </a:avLst>
          </a:prstGeom>
          <a:solidFill>
            <a:srgbClr val="0077CC"/>
          </a:solidFill>
          <a:ln>
            <a:noFill/>
          </a:ln>
        </p:spPr>
      </p:sp>
      <p:sp>
        <p:nvSpPr>
          <p:cNvPr id="37" name="TextBox 37"/>
          <p:cNvSpPr txBox="1"/>
          <p:nvPr/>
        </p:nvSpPr>
        <p:spPr>
          <a:xfrm>
            <a:off x="5999559" y="3171349"/>
            <a:ext cx="15478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SimHei"/>
                <a:cs typeface="Arial"/>
              </a:rPr>
              <a:t>中</a:t>
            </a:r>
          </a:p>
        </p:txBody>
      </p:sp>
      <p:sp>
        <p:nvSpPr>
          <p:cNvPr id="38" name="TextBox 38"/>
          <p:cNvSpPr txBox="1"/>
          <p:nvPr/>
        </p:nvSpPr>
        <p:spPr>
          <a:xfrm>
            <a:off x="6711315" y="3125152"/>
            <a:ext cx="147351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多源交叉验证机制</a:t>
            </a:r>
            <a:r>
              <a:rPr lang="zh-CN" sz="1050" dirty="0">
                <a:solidFill>
                  <a:srgbClr val="1A1A2E"/>
                </a:solidFill>
                <a:latin typeface="Arial"/>
                <a:ea typeface="Microsoft YaHei"/>
                <a:cs typeface="Arial"/>
              </a:rPr>
              <a:t>· 数据质量自动校验规则</a:t>
            </a:r>
            <a:r>
              <a:rPr lang="zh-CN" sz="1050" dirty="0">
                <a:solidFill>
                  <a:srgbClr val="1A1A2E"/>
                </a:solidFill>
                <a:latin typeface="Arial"/>
                <a:ea typeface="Microsoft YaHei"/>
                <a:cs typeface="Arial"/>
              </a:rPr>
              <a:t>· 异常结论人工复核通道</a:t>
            </a:r>
          </a:p>
        </p:txBody>
      </p:sp>
      <p:sp>
        <p:nvSpPr>
          <p:cNvPr id="39" name="TextBox 39"/>
          <p:cNvSpPr txBox="1"/>
          <p:nvPr/>
        </p:nvSpPr>
        <p:spPr>
          <a:xfrm>
            <a:off x="10050780" y="3315652"/>
            <a:ext cx="586740"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数智科技</a:t>
            </a:r>
          </a:p>
        </p:txBody>
      </p:sp>
      <p:sp>
        <p:nvSpPr>
          <p:cNvPr id="40" name="TextBox 40"/>
          <p:cNvSpPr txBox="1"/>
          <p:nvPr/>
        </p:nvSpPr>
        <p:spPr>
          <a:xfrm>
            <a:off x="10006727" y="3552349"/>
            <a:ext cx="67484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技术服务方</a:t>
            </a:r>
          </a:p>
        </p:txBody>
      </p:sp>
      <p:sp>
        <p:nvSpPr>
          <p:cNvPr id="41" name="Line 41"/>
          <p:cNvSpPr/>
          <p:nvPr/>
        </p:nvSpPr>
        <p:spPr>
          <a:xfrm>
            <a:off x="552450" y="38576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42" name="Rectangle 42"/>
          <p:cNvSpPr/>
          <p:nvPr/>
        </p:nvSpPr>
        <p:spPr>
          <a:xfrm>
            <a:off x="552450" y="3857625"/>
            <a:ext cx="11087100" cy="914400"/>
          </a:xfrm>
          <a:prstGeom prst="rect">
            <a:avLst/>
          </a:prstGeom>
          <a:solidFill>
            <a:srgbClr val="F0F4F8"/>
          </a:solidFill>
          <a:ln>
            <a:noFill/>
          </a:ln>
        </p:spPr>
      </p:sp>
      <p:sp>
        <p:nvSpPr>
          <p:cNvPr id="43" name="Rectangle 43"/>
          <p:cNvSpPr/>
          <p:nvPr/>
        </p:nvSpPr>
        <p:spPr>
          <a:xfrm>
            <a:off x="552450" y="3857625"/>
            <a:ext cx="57150" cy="914400"/>
          </a:xfrm>
          <a:prstGeom prst="rect">
            <a:avLst/>
          </a:prstGeom>
          <a:solidFill>
            <a:srgbClr val="4A90D9"/>
          </a:solidFill>
          <a:ln>
            <a:noFill/>
          </a:ln>
        </p:spPr>
      </p:sp>
      <p:sp>
        <p:nvSpPr>
          <p:cNvPr id="44" name="TextBox 44"/>
          <p:cNvSpPr txBox="1"/>
          <p:nvPr/>
        </p:nvSpPr>
        <p:spPr>
          <a:xfrm>
            <a:off x="728662" y="4031456"/>
            <a:ext cx="1131213" cy="228600"/>
          </a:xfrm>
          <a:prstGeom prst="rect">
            <a:avLst/>
          </a:prstGeom>
          <a:noFill/>
          <a:ln>
            <a:noFill/>
          </a:ln>
        </p:spPr>
        <p:txBody>
          <a:bodyPr wrap="none" lIns="0" tIns="0" rIns="0" bIns="0" anchor="t" anchorCtr="0">
            <a:spAutoFit/>
          </a:bodyPr>
          <a:lstStyle/>
          <a:p>
            <a:pPr algn="l"/>
            <a:r>
              <a:rPr lang="zh-CN" sz="1125" b="1" dirty="0">
                <a:solidFill>
                  <a:srgbClr val="4A90D9"/>
                </a:solidFill>
                <a:latin typeface="Arial"/>
                <a:ea typeface="SimHei"/>
                <a:cs typeface="Arial"/>
              </a:rPr>
              <a:t>企业接受度风险</a:t>
            </a:r>
          </a:p>
        </p:txBody>
      </p:sp>
      <p:sp>
        <p:nvSpPr>
          <p:cNvPr id="45" name="TextBox 45"/>
          <p:cNvSpPr txBox="1"/>
          <p:nvPr/>
        </p:nvSpPr>
        <p:spPr>
          <a:xfrm>
            <a:off x="730568" y="4276249"/>
            <a:ext cx="544830"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推广阻力</a:t>
            </a:r>
          </a:p>
        </p:txBody>
      </p:sp>
      <p:sp>
        <p:nvSpPr>
          <p:cNvPr id="46" name="TextBox 46"/>
          <p:cNvSpPr txBox="1"/>
          <p:nvPr/>
        </p:nvSpPr>
        <p:spPr>
          <a:xfrm>
            <a:off x="2520315" y="4039552"/>
            <a:ext cx="1360170"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企业担忧合规负担增加</a:t>
            </a:r>
            <a:r>
              <a:rPr lang="zh-CN" sz="1050" dirty="0">
                <a:solidFill>
                  <a:srgbClr val="1A1A2E"/>
                </a:solidFill>
                <a:latin typeface="Arial"/>
                <a:ea typeface="Microsoft YaHei"/>
                <a:cs typeface="Arial"/>
              </a:rPr>
              <a:t>或操作流程复杂，</a:t>
            </a:r>
            <a:r>
              <a:rPr lang="zh-CN" sz="1050" dirty="0">
                <a:solidFill>
                  <a:srgbClr val="1A1A2E"/>
                </a:solidFill>
                <a:latin typeface="Arial"/>
                <a:ea typeface="Microsoft YaHei"/>
                <a:cs typeface="Arial"/>
              </a:rPr>
              <a:t>导致落地意愿不足</a:t>
            </a:r>
          </a:p>
        </p:txBody>
      </p:sp>
      <p:sp>
        <p:nvSpPr>
          <p:cNvPr id="47" name="Rectangle 47"/>
          <p:cNvSpPr/>
          <p:nvPr/>
        </p:nvSpPr>
        <p:spPr>
          <a:xfrm>
            <a:off x="5753100" y="4019550"/>
            <a:ext cx="647700" cy="247650"/>
          </a:xfrm>
          <a:prstGeom prst="roundRect">
            <a:avLst>
              <a:gd name="adj" fmla="val 50000"/>
            </a:avLst>
          </a:prstGeom>
          <a:solidFill>
            <a:srgbClr val="4A90D9"/>
          </a:solidFill>
          <a:ln>
            <a:noFill/>
          </a:ln>
        </p:spPr>
      </p:sp>
      <p:sp>
        <p:nvSpPr>
          <p:cNvPr id="48" name="TextBox 48"/>
          <p:cNvSpPr txBox="1"/>
          <p:nvPr/>
        </p:nvSpPr>
        <p:spPr>
          <a:xfrm>
            <a:off x="5999559" y="4085749"/>
            <a:ext cx="15478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SimHei"/>
                <a:cs typeface="Arial"/>
              </a:rPr>
              <a:t>中</a:t>
            </a:r>
          </a:p>
        </p:txBody>
      </p:sp>
      <p:sp>
        <p:nvSpPr>
          <p:cNvPr id="49" name="TextBox 49"/>
          <p:cNvSpPr txBox="1"/>
          <p:nvPr/>
        </p:nvSpPr>
        <p:spPr>
          <a:xfrm>
            <a:off x="6711315" y="4039552"/>
            <a:ext cx="134016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先行企业手把手对接</a:t>
            </a:r>
            <a:r>
              <a:rPr lang="zh-CN" sz="1050" dirty="0">
                <a:solidFill>
                  <a:srgbClr val="1A1A2E"/>
                </a:solidFill>
                <a:latin typeface="Arial"/>
                <a:ea typeface="Microsoft YaHei"/>
                <a:cs typeface="Arial"/>
              </a:rPr>
              <a:t>· 操作手册+专项培训</a:t>
            </a:r>
            <a:r>
              <a:rPr lang="zh-CN" sz="1050" dirty="0">
                <a:solidFill>
                  <a:srgbClr val="1A1A2E"/>
                </a:solidFill>
                <a:latin typeface="Arial"/>
                <a:ea typeface="Microsoft YaHei"/>
                <a:cs typeface="Arial"/>
              </a:rPr>
              <a:t>· 老带新企业推荐激励</a:t>
            </a:r>
          </a:p>
        </p:txBody>
      </p:sp>
      <p:sp>
        <p:nvSpPr>
          <p:cNvPr id="50" name="TextBox 50"/>
          <p:cNvSpPr txBox="1"/>
          <p:nvPr/>
        </p:nvSpPr>
        <p:spPr>
          <a:xfrm>
            <a:off x="10050780" y="4230052"/>
            <a:ext cx="586740"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项目团队</a:t>
            </a:r>
          </a:p>
        </p:txBody>
      </p:sp>
      <p:sp>
        <p:nvSpPr>
          <p:cNvPr id="51" name="TextBox 51"/>
          <p:cNvSpPr txBox="1"/>
          <p:nvPr/>
        </p:nvSpPr>
        <p:spPr>
          <a:xfrm>
            <a:off x="10006727" y="4466749"/>
            <a:ext cx="674846"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中电联机构</a:t>
            </a:r>
          </a:p>
        </p:txBody>
      </p:sp>
      <p:sp>
        <p:nvSpPr>
          <p:cNvPr id="52" name="Line 52"/>
          <p:cNvSpPr/>
          <p:nvPr/>
        </p:nvSpPr>
        <p:spPr>
          <a:xfrm>
            <a:off x="552450" y="47720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53" name="Rectangle 53"/>
          <p:cNvSpPr/>
          <p:nvPr/>
        </p:nvSpPr>
        <p:spPr>
          <a:xfrm>
            <a:off x="552450" y="4772025"/>
            <a:ext cx="11087100" cy="914400"/>
          </a:xfrm>
          <a:prstGeom prst="rect">
            <a:avLst/>
          </a:prstGeom>
          <a:solidFill>
            <a:srgbClr val="FFFFFF"/>
          </a:solidFill>
          <a:ln>
            <a:noFill/>
          </a:ln>
        </p:spPr>
      </p:sp>
      <p:sp>
        <p:nvSpPr>
          <p:cNvPr id="54" name="Rectangle 54"/>
          <p:cNvSpPr/>
          <p:nvPr/>
        </p:nvSpPr>
        <p:spPr>
          <a:xfrm>
            <a:off x="552450" y="4772025"/>
            <a:ext cx="57150" cy="914400"/>
          </a:xfrm>
          <a:prstGeom prst="rect">
            <a:avLst/>
          </a:prstGeom>
          <a:solidFill>
            <a:srgbClr val="718096"/>
          </a:solidFill>
          <a:ln>
            <a:noFill/>
          </a:ln>
        </p:spPr>
      </p:sp>
      <p:sp>
        <p:nvSpPr>
          <p:cNvPr id="55" name="TextBox 55"/>
          <p:cNvSpPr txBox="1"/>
          <p:nvPr/>
        </p:nvSpPr>
        <p:spPr>
          <a:xfrm>
            <a:off x="728662" y="4945856"/>
            <a:ext cx="1131213" cy="228600"/>
          </a:xfrm>
          <a:prstGeom prst="rect">
            <a:avLst/>
          </a:prstGeom>
          <a:noFill/>
          <a:ln>
            <a:noFill/>
          </a:ln>
        </p:spPr>
        <p:txBody>
          <a:bodyPr wrap="none" lIns="0" tIns="0" rIns="0" bIns="0" anchor="t" anchorCtr="0">
            <a:spAutoFit/>
          </a:bodyPr>
          <a:lstStyle/>
          <a:p>
            <a:pPr algn="l"/>
            <a:r>
              <a:rPr lang="zh-CN" sz="1125" b="1" dirty="0">
                <a:solidFill>
                  <a:srgbClr val="718096"/>
                </a:solidFill>
                <a:latin typeface="Arial"/>
                <a:ea typeface="SimHei"/>
                <a:cs typeface="Arial"/>
              </a:rPr>
              <a:t>系统稳定性风险</a:t>
            </a:r>
          </a:p>
        </p:txBody>
      </p:sp>
      <p:sp>
        <p:nvSpPr>
          <p:cNvPr id="56" name="TextBox 56"/>
          <p:cNvSpPr txBox="1"/>
          <p:nvPr/>
        </p:nvSpPr>
        <p:spPr>
          <a:xfrm>
            <a:off x="730568" y="5190649"/>
            <a:ext cx="674846"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可用性保障</a:t>
            </a:r>
          </a:p>
        </p:txBody>
      </p:sp>
      <p:sp>
        <p:nvSpPr>
          <p:cNvPr id="57" name="TextBox 57"/>
          <p:cNvSpPr txBox="1"/>
          <p:nvPr/>
        </p:nvSpPr>
        <p:spPr>
          <a:xfrm>
            <a:off x="2520315" y="4953952"/>
            <a:ext cx="1226820"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验证期系统故障导致</a:t>
            </a:r>
            <a:r>
              <a:rPr lang="zh-CN" sz="1050" dirty="0">
                <a:solidFill>
                  <a:srgbClr val="1A1A2E"/>
                </a:solidFill>
                <a:latin typeface="Arial"/>
                <a:ea typeface="Microsoft YaHei"/>
                <a:cs typeface="Arial"/>
              </a:rPr>
              <a:t>核验中断，影响</a:t>
            </a:r>
            <a:r>
              <a:rPr lang="zh-CN" sz="1050" dirty="0">
                <a:solidFill>
                  <a:srgbClr val="1A1A2E"/>
                </a:solidFill>
                <a:latin typeface="Arial"/>
                <a:ea typeface="Microsoft YaHei"/>
                <a:cs typeface="Arial"/>
              </a:rPr>
              <a:t>企业业务连续性</a:t>
            </a:r>
          </a:p>
        </p:txBody>
      </p:sp>
      <p:sp>
        <p:nvSpPr>
          <p:cNvPr id="58" name="Rectangle 58"/>
          <p:cNvSpPr/>
          <p:nvPr/>
        </p:nvSpPr>
        <p:spPr>
          <a:xfrm>
            <a:off x="5753100" y="4933950"/>
            <a:ext cx="647700" cy="247650"/>
          </a:xfrm>
          <a:prstGeom prst="roundRect">
            <a:avLst>
              <a:gd name="adj" fmla="val 50000"/>
            </a:avLst>
          </a:prstGeom>
          <a:solidFill>
            <a:srgbClr val="718096"/>
          </a:solidFill>
          <a:ln>
            <a:noFill/>
          </a:ln>
        </p:spPr>
      </p:sp>
      <p:sp>
        <p:nvSpPr>
          <p:cNvPr id="59" name="TextBox 59"/>
          <p:cNvSpPr txBox="1"/>
          <p:nvPr/>
        </p:nvSpPr>
        <p:spPr>
          <a:xfrm>
            <a:off x="5999559" y="5000149"/>
            <a:ext cx="15478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SimHei"/>
                <a:cs typeface="Arial"/>
              </a:rPr>
              <a:t>低</a:t>
            </a:r>
          </a:p>
        </p:txBody>
      </p:sp>
      <p:sp>
        <p:nvSpPr>
          <p:cNvPr id="60" name="TextBox 60"/>
          <p:cNvSpPr txBox="1"/>
          <p:nvPr/>
        </p:nvSpPr>
        <p:spPr>
          <a:xfrm>
            <a:off x="6711315" y="4953952"/>
            <a:ext cx="1560195"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SLA协议明确可用性目标</a:t>
            </a:r>
            <a:r>
              <a:rPr lang="zh-CN" sz="1050" dirty="0">
                <a:solidFill>
                  <a:srgbClr val="1A1A2E"/>
                </a:solidFill>
                <a:latin typeface="Arial"/>
                <a:ea typeface="Microsoft YaHei"/>
                <a:cs typeface="Arial"/>
              </a:rPr>
              <a:t>· 灾备方案与应急预案</a:t>
            </a:r>
            <a:r>
              <a:rPr lang="zh-CN" sz="1050" dirty="0">
                <a:solidFill>
                  <a:srgbClr val="1A1A2E"/>
                </a:solidFill>
                <a:latin typeface="Arial"/>
                <a:ea typeface="Microsoft YaHei"/>
                <a:cs typeface="Arial"/>
              </a:rPr>
              <a:t>· 手工核验备用流程</a:t>
            </a:r>
          </a:p>
        </p:txBody>
      </p:sp>
      <p:sp>
        <p:nvSpPr>
          <p:cNvPr id="61" name="TextBox 61"/>
          <p:cNvSpPr txBox="1"/>
          <p:nvPr/>
        </p:nvSpPr>
        <p:spPr>
          <a:xfrm>
            <a:off x="9980771" y="5144452"/>
            <a:ext cx="726758"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技术服务方</a:t>
            </a:r>
          </a:p>
        </p:txBody>
      </p:sp>
      <p:sp>
        <p:nvSpPr>
          <p:cNvPr id="62" name="TextBox 62"/>
          <p:cNvSpPr txBox="1"/>
          <p:nvPr/>
        </p:nvSpPr>
        <p:spPr>
          <a:xfrm>
            <a:off x="10071735" y="5381149"/>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数智科技</a:t>
            </a:r>
          </a:p>
        </p:txBody>
      </p:sp>
      <p:sp>
        <p:nvSpPr>
          <p:cNvPr id="63" name="Line 63"/>
          <p:cNvSpPr/>
          <p:nvPr/>
        </p:nvSpPr>
        <p:spPr>
          <a:xfrm>
            <a:off x="552450" y="5686425"/>
            <a:ext cx="11087100" cy="9525"/>
          </a:xfrm>
          <a:custGeom>
            <a:avLst/>
            <a:gdLst/>
            <a:ahLst/>
            <a:cxnLst/>
            <a:rect l="l" t="t" r="r" b="b"/>
            <a:pathLst>
              <a:path w="11087100" h="9525">
                <a:moveTo>
                  <a:pt x="0" y="0"/>
                </a:moveTo>
                <a:lnTo>
                  <a:pt x="11087100" y="0"/>
                </a:lnTo>
              </a:path>
            </a:pathLst>
          </a:custGeom>
          <a:noFill/>
          <a:ln w="9525">
            <a:solidFill>
              <a:srgbClr val="CBD5E0"/>
            </a:solidFill>
          </a:ln>
        </p:spPr>
      </p:sp>
      <p:sp>
        <p:nvSpPr>
          <p:cNvPr id="64" name="Rectangle 64"/>
          <p:cNvSpPr/>
          <p:nvPr/>
        </p:nvSpPr>
        <p:spPr>
          <a:xfrm>
            <a:off x="552450" y="5686425"/>
            <a:ext cx="11087100" cy="914400"/>
          </a:xfrm>
          <a:prstGeom prst="rect">
            <a:avLst/>
          </a:prstGeom>
          <a:solidFill>
            <a:srgbClr val="F0F4F8"/>
          </a:solidFill>
          <a:ln>
            <a:noFill/>
          </a:ln>
        </p:spPr>
      </p:sp>
      <p:sp>
        <p:nvSpPr>
          <p:cNvPr id="65" name="Rectangle 65"/>
          <p:cNvSpPr/>
          <p:nvPr/>
        </p:nvSpPr>
        <p:spPr>
          <a:xfrm>
            <a:off x="552450" y="5686425"/>
            <a:ext cx="57150" cy="914400"/>
          </a:xfrm>
          <a:prstGeom prst="rect">
            <a:avLst/>
          </a:prstGeom>
          <a:solidFill>
            <a:srgbClr val="2D7D46"/>
          </a:solidFill>
          <a:ln>
            <a:noFill/>
          </a:ln>
        </p:spPr>
      </p:sp>
      <p:sp>
        <p:nvSpPr>
          <p:cNvPr id="66" name="TextBox 66"/>
          <p:cNvSpPr txBox="1"/>
          <p:nvPr/>
        </p:nvSpPr>
        <p:spPr>
          <a:xfrm>
            <a:off x="728662" y="5860256"/>
            <a:ext cx="973693" cy="228600"/>
          </a:xfrm>
          <a:prstGeom prst="rect">
            <a:avLst/>
          </a:prstGeom>
          <a:noFill/>
          <a:ln>
            <a:noFill/>
          </a:ln>
        </p:spPr>
        <p:txBody>
          <a:bodyPr wrap="none" lIns="0" tIns="0" rIns="0" bIns="0" anchor="t" anchorCtr="0">
            <a:spAutoFit/>
          </a:bodyPr>
          <a:lstStyle/>
          <a:p>
            <a:pPr algn="l"/>
            <a:r>
              <a:rPr lang="zh-CN" sz="1125" b="1" dirty="0">
                <a:solidFill>
                  <a:srgbClr val="2D7D46"/>
                </a:solidFill>
                <a:latin typeface="Arial"/>
                <a:ea typeface="SimHei"/>
                <a:cs typeface="Arial"/>
              </a:rPr>
              <a:t>政策变化风险</a:t>
            </a:r>
          </a:p>
        </p:txBody>
      </p:sp>
      <p:sp>
        <p:nvSpPr>
          <p:cNvPr id="67" name="TextBox 67"/>
          <p:cNvSpPr txBox="1"/>
          <p:nvPr/>
        </p:nvSpPr>
        <p:spPr>
          <a:xfrm>
            <a:off x="730568" y="6105049"/>
            <a:ext cx="804862" cy="198120"/>
          </a:xfrm>
          <a:prstGeom prst="rect">
            <a:avLst/>
          </a:prstGeom>
          <a:noFill/>
          <a:ln>
            <a:noFill/>
          </a:ln>
        </p:spPr>
        <p:txBody>
          <a:bodyPr wrap="none" lIns="0" tIns="0" rIns="0" bIns="0" anchor="t" anchorCtr="0">
            <a:spAutoFit/>
          </a:bodyPr>
          <a:lstStyle/>
          <a:p>
            <a:pPr algn="l"/>
            <a:r>
              <a:rPr lang="zh-CN" sz="975" dirty="0">
                <a:solidFill>
                  <a:srgbClr val="4A5568"/>
                </a:solidFill>
                <a:latin typeface="Arial"/>
                <a:ea typeface="Microsoft YaHei"/>
                <a:cs typeface="Arial"/>
              </a:rPr>
              <a:t>监管不确定性</a:t>
            </a:r>
          </a:p>
        </p:txBody>
      </p:sp>
      <p:sp>
        <p:nvSpPr>
          <p:cNvPr id="68" name="TextBox 68"/>
          <p:cNvSpPr txBox="1"/>
          <p:nvPr/>
        </p:nvSpPr>
        <p:spPr>
          <a:xfrm>
            <a:off x="2520315" y="5868352"/>
            <a:ext cx="1360170"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数据安全监管新政出台</a:t>
            </a:r>
            <a:r>
              <a:rPr lang="zh-CN" sz="1050" dirty="0">
                <a:solidFill>
                  <a:srgbClr val="1A1A2E"/>
                </a:solidFill>
                <a:latin typeface="Arial"/>
                <a:ea typeface="Microsoft YaHei"/>
                <a:cs typeface="Arial"/>
              </a:rPr>
              <a:t>或行业主管部门</a:t>
            </a:r>
            <a:r>
              <a:rPr lang="zh-CN" sz="1050" dirty="0">
                <a:solidFill>
                  <a:srgbClr val="1A1A2E"/>
                </a:solidFill>
                <a:latin typeface="Arial"/>
                <a:ea typeface="Microsoft YaHei"/>
                <a:cs typeface="Arial"/>
              </a:rPr>
              <a:t>政策调整影响方案</a:t>
            </a:r>
          </a:p>
        </p:txBody>
      </p:sp>
      <p:sp>
        <p:nvSpPr>
          <p:cNvPr id="69" name="Rectangle 69"/>
          <p:cNvSpPr/>
          <p:nvPr/>
        </p:nvSpPr>
        <p:spPr>
          <a:xfrm>
            <a:off x="5753100" y="5848350"/>
            <a:ext cx="647700" cy="247650"/>
          </a:xfrm>
          <a:prstGeom prst="roundRect">
            <a:avLst>
              <a:gd name="adj" fmla="val 50000"/>
            </a:avLst>
          </a:prstGeom>
          <a:solidFill>
            <a:srgbClr val="2D7D46"/>
          </a:solidFill>
          <a:ln>
            <a:noFill/>
          </a:ln>
        </p:spPr>
      </p:sp>
      <p:sp>
        <p:nvSpPr>
          <p:cNvPr id="70" name="TextBox 70"/>
          <p:cNvSpPr txBox="1"/>
          <p:nvPr/>
        </p:nvSpPr>
        <p:spPr>
          <a:xfrm>
            <a:off x="5999559" y="5914549"/>
            <a:ext cx="154781" cy="198120"/>
          </a:xfrm>
          <a:prstGeom prst="rect">
            <a:avLst/>
          </a:prstGeom>
          <a:noFill/>
          <a:ln>
            <a:noFill/>
          </a:ln>
        </p:spPr>
        <p:txBody>
          <a:bodyPr wrap="none" lIns="0" tIns="0" rIns="0" bIns="0" anchor="t" anchorCtr="0">
            <a:spAutoFit/>
          </a:bodyPr>
          <a:lstStyle/>
          <a:p>
            <a:pPr algn="ctr"/>
            <a:r>
              <a:rPr lang="zh-CN" sz="975" dirty="0">
                <a:solidFill>
                  <a:srgbClr val="FFFFFF"/>
                </a:solidFill>
                <a:latin typeface="Arial"/>
                <a:ea typeface="SimHei"/>
                <a:cs typeface="Arial"/>
              </a:rPr>
              <a:t>低</a:t>
            </a:r>
          </a:p>
        </p:txBody>
      </p:sp>
      <p:sp>
        <p:nvSpPr>
          <p:cNvPr id="71" name="TextBox 71"/>
          <p:cNvSpPr txBox="1"/>
          <p:nvPr/>
        </p:nvSpPr>
        <p:spPr>
          <a:xfrm>
            <a:off x="6711315" y="5868352"/>
            <a:ext cx="1606868" cy="632460"/>
          </a:xfrm>
          <a:prstGeom prst="rect">
            <a:avLst/>
          </a:prstGeom>
          <a:noFill/>
          <a:ln>
            <a:noFill/>
          </a:ln>
        </p:spPr>
        <p:txBody>
          <a:bodyPr wrap="square" lIns="0" tIns="0" rIns="0" bIns="0" anchor="t" anchorCtr="0"/>
          <a:lstStyle/>
          <a:p>
            <a:pPr algn="l">
              <a:lnSpc>
                <a:spcPts val="1650"/>
              </a:lnSpc>
            </a:pPr>
            <a:r>
              <a:rPr lang="zh-CN" sz="1050" dirty="0">
                <a:solidFill>
                  <a:srgbClr val="1A1A2E"/>
                </a:solidFill>
                <a:latin typeface="Arial"/>
                <a:ea typeface="Microsoft YaHei"/>
                <a:cs typeface="Arial"/>
              </a:rPr>
              <a:t>· 政策追踪与合规动态评估</a:t>
            </a:r>
            <a:r>
              <a:rPr lang="zh-CN" sz="1050" dirty="0">
                <a:solidFill>
                  <a:srgbClr val="1A1A2E"/>
                </a:solidFill>
                <a:latin typeface="Arial"/>
                <a:ea typeface="Microsoft YaHei"/>
                <a:cs typeface="Arial"/>
              </a:rPr>
              <a:t>· 监管部门主动沟通</a:t>
            </a:r>
            <a:r>
              <a:rPr lang="zh-CN" sz="1050" dirty="0">
                <a:solidFill>
                  <a:srgbClr val="1A1A2E"/>
                </a:solidFill>
                <a:latin typeface="Arial"/>
                <a:ea typeface="Microsoft YaHei"/>
                <a:cs typeface="Arial"/>
              </a:rPr>
              <a:t>· 方案架构保持弹性</a:t>
            </a:r>
          </a:p>
        </p:txBody>
      </p:sp>
      <p:sp>
        <p:nvSpPr>
          <p:cNvPr id="72" name="TextBox 72"/>
          <p:cNvSpPr txBox="1"/>
          <p:nvPr/>
        </p:nvSpPr>
        <p:spPr>
          <a:xfrm>
            <a:off x="10120789" y="6058852"/>
            <a:ext cx="446722"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中电联</a:t>
            </a:r>
          </a:p>
        </p:txBody>
      </p:sp>
      <p:sp>
        <p:nvSpPr>
          <p:cNvPr id="73" name="TextBox 73"/>
          <p:cNvSpPr txBox="1"/>
          <p:nvPr/>
        </p:nvSpPr>
        <p:spPr>
          <a:xfrm>
            <a:off x="10071735" y="6295549"/>
            <a:ext cx="544830"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数智科技</a:t>
            </a:r>
          </a:p>
        </p:txBody>
      </p:sp>
      <p:sp>
        <p:nvSpPr>
          <p:cNvPr id="74" name="Rectangle 74"/>
          <p:cNvSpPr/>
          <p:nvPr/>
        </p:nvSpPr>
        <p:spPr>
          <a:xfrm>
            <a:off x="552450" y="1666875"/>
            <a:ext cx="11087100" cy="4933950"/>
          </a:xfrm>
          <a:prstGeom prst="rect">
            <a:avLst/>
          </a:prstGeom>
          <a:noFill/>
          <a:ln w="9525">
            <a:solidFill>
              <a:srgbClr val="CBD5E0"/>
            </a:solidFill>
          </a:ln>
        </p:spPr>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03A70"/>
              </a:gs>
              <a:gs pos="60000">
                <a:srgbClr val="002A55"/>
              </a:gs>
              <a:gs pos="100000">
                <a:srgbClr val="001A35"/>
              </a:gs>
            </a:gsLst>
            <a:lin ang="2700000" scaled="1"/>
          </a:gradFill>
          <a:ln>
            <a:noFill/>
          </a:ln>
        </p:spPr>
      </p:sp>
      <p:sp>
        <p:nvSpPr>
          <p:cNvPr id="3" name="Line 3"/>
          <p:cNvSpPr/>
          <p:nvPr/>
        </p:nvSpPr>
        <p:spPr>
          <a:xfrm>
            <a:off x="0" y="0"/>
            <a:ext cx="6858000" cy="6858000"/>
          </a:xfrm>
          <a:custGeom>
            <a:avLst/>
            <a:gdLst/>
            <a:ahLst/>
            <a:cxnLst/>
            <a:rect l="l" t="t" r="r" b="b"/>
            <a:pathLst>
              <a:path w="6858000" h="6858000">
                <a:moveTo>
                  <a:pt x="0" y="6858000"/>
                </a:moveTo>
                <a:lnTo>
                  <a:pt x="6858000" y="0"/>
                </a:lnTo>
              </a:path>
            </a:pathLst>
          </a:custGeom>
          <a:noFill/>
          <a:ln w="4762">
            <a:solidFill>
              <a:srgbClr val="FFFFFF">
                <a:alpha val="3000"/>
              </a:srgbClr>
            </a:solidFill>
          </a:ln>
        </p:spPr>
      </p:sp>
      <p:sp>
        <p:nvSpPr>
          <p:cNvPr id="4" name="Line 4"/>
          <p:cNvSpPr/>
          <p:nvPr/>
        </p:nvSpPr>
        <p:spPr>
          <a:xfrm>
            <a:off x="1905000" y="0"/>
            <a:ext cx="6858000" cy="6858000"/>
          </a:xfrm>
          <a:custGeom>
            <a:avLst/>
            <a:gdLst/>
            <a:ahLst/>
            <a:cxnLst/>
            <a:rect l="l" t="t" r="r" b="b"/>
            <a:pathLst>
              <a:path w="6858000" h="6858000">
                <a:moveTo>
                  <a:pt x="0" y="6858000"/>
                </a:moveTo>
                <a:lnTo>
                  <a:pt x="6858000" y="0"/>
                </a:lnTo>
              </a:path>
            </a:pathLst>
          </a:custGeom>
          <a:noFill/>
          <a:ln w="4762">
            <a:solidFill>
              <a:srgbClr val="FFFFFF">
                <a:alpha val="3000"/>
              </a:srgbClr>
            </a:solidFill>
          </a:ln>
        </p:spPr>
      </p:sp>
      <p:sp>
        <p:nvSpPr>
          <p:cNvPr id="5" name="Line 5"/>
          <p:cNvSpPr/>
          <p:nvPr/>
        </p:nvSpPr>
        <p:spPr>
          <a:xfrm>
            <a:off x="3810000" y="0"/>
            <a:ext cx="6858000" cy="6858000"/>
          </a:xfrm>
          <a:custGeom>
            <a:avLst/>
            <a:gdLst/>
            <a:ahLst/>
            <a:cxnLst/>
            <a:rect l="l" t="t" r="r" b="b"/>
            <a:pathLst>
              <a:path w="6858000" h="6858000">
                <a:moveTo>
                  <a:pt x="0" y="6858000"/>
                </a:moveTo>
                <a:lnTo>
                  <a:pt x="6858000" y="0"/>
                </a:lnTo>
              </a:path>
            </a:pathLst>
          </a:custGeom>
          <a:noFill/>
          <a:ln w="4762">
            <a:solidFill>
              <a:srgbClr val="FFFFFF">
                <a:alpha val="3000"/>
              </a:srgbClr>
            </a:solidFill>
          </a:ln>
        </p:spPr>
      </p:sp>
      <p:sp>
        <p:nvSpPr>
          <p:cNvPr id="6" name="Line 6"/>
          <p:cNvSpPr/>
          <p:nvPr/>
        </p:nvSpPr>
        <p:spPr>
          <a:xfrm>
            <a:off x="5715000" y="762000"/>
            <a:ext cx="6477000" cy="6096000"/>
          </a:xfrm>
          <a:custGeom>
            <a:avLst/>
            <a:gdLst/>
            <a:ahLst/>
            <a:cxnLst/>
            <a:rect l="l" t="t" r="r" b="b"/>
            <a:pathLst>
              <a:path w="6477000" h="6096000">
                <a:moveTo>
                  <a:pt x="0" y="6096000"/>
                </a:moveTo>
                <a:lnTo>
                  <a:pt x="6477000" y="0"/>
                </a:lnTo>
              </a:path>
            </a:pathLst>
          </a:custGeom>
          <a:noFill/>
          <a:ln w="4762">
            <a:solidFill>
              <a:srgbClr val="FFFFFF">
                <a:alpha val="3000"/>
              </a:srgbClr>
            </a:solidFill>
          </a:ln>
        </p:spPr>
      </p:sp>
      <p:sp>
        <p:nvSpPr>
          <p:cNvPr id="7" name="TextBox 7"/>
          <p:cNvSpPr txBox="1"/>
          <p:nvPr/>
        </p:nvSpPr>
        <p:spPr>
          <a:xfrm>
            <a:off x="541972" y="653891"/>
            <a:ext cx="1077912" cy="167640"/>
          </a:xfrm>
          <a:prstGeom prst="rect">
            <a:avLst/>
          </a:prstGeom>
          <a:noFill/>
          <a:ln>
            <a:noFill/>
          </a:ln>
        </p:spPr>
        <p:txBody>
          <a:bodyPr wrap="none" lIns="0" tIns="0" rIns="0" bIns="0" anchor="t" anchorCtr="0">
            <a:spAutoFit/>
          </a:bodyPr>
          <a:lstStyle/>
          <a:p>
            <a:pPr algn="l"/>
            <a:r>
              <a:rPr lang="zh-CN" sz="825" b="1" dirty="0">
                <a:solidFill>
                  <a:srgbClr val="4A90D9"/>
                </a:solidFill>
                <a:latin typeface="Arial"/>
                <a:ea typeface="SimHei"/>
                <a:cs typeface="Arial"/>
              </a:rPr>
              <a:t>第四章 · 实施与运营</a:t>
            </a:r>
          </a:p>
        </p:txBody>
      </p:sp>
      <p:sp>
        <p:nvSpPr>
          <p:cNvPr id="8" name="TextBox 8"/>
          <p:cNvSpPr txBox="1"/>
          <p:nvPr/>
        </p:nvSpPr>
        <p:spPr>
          <a:xfrm>
            <a:off x="523875" y="804862"/>
            <a:ext cx="5727859"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SimHei"/>
                <a:cs typeface="Arial"/>
              </a:rPr>
              <a:t>六条行动建议：近期工作重点与推进路径</a:t>
            </a:r>
          </a:p>
        </p:txBody>
      </p:sp>
      <p:sp>
        <p:nvSpPr>
          <p:cNvPr id="9" name="Rectangle 9"/>
          <p:cNvSpPr/>
          <p:nvPr/>
        </p:nvSpPr>
        <p:spPr>
          <a:xfrm>
            <a:off x="552450" y="1181100"/>
            <a:ext cx="2667000" cy="28575"/>
          </a:xfrm>
          <a:prstGeom prst="roundRect">
            <a:avLst>
              <a:gd name="adj" fmla="val 50000"/>
            </a:avLst>
          </a:prstGeom>
          <a:gradFill>
            <a:gsLst>
              <a:gs pos="0">
                <a:srgbClr val="0077CC"/>
              </a:gs>
              <a:gs pos="100000">
                <a:srgbClr val="4A90D9">
                  <a:alpha val="0"/>
                </a:srgbClr>
              </a:gs>
            </a:gsLst>
            <a:lin ang="0" scaled="1"/>
          </a:gradFill>
          <a:ln>
            <a:noFill/>
          </a:ln>
        </p:spPr>
      </p:sp>
      <p:sp>
        <p:nvSpPr>
          <p:cNvPr id="10" name="TextBox 10"/>
          <p:cNvSpPr txBox="1"/>
          <p:nvPr/>
        </p:nvSpPr>
        <p:spPr>
          <a:xfrm>
            <a:off x="538162" y="1345406"/>
            <a:ext cx="4079081" cy="228600"/>
          </a:xfrm>
          <a:prstGeom prst="rect">
            <a:avLst/>
          </a:prstGeom>
          <a:noFill/>
          <a:ln>
            <a:noFill/>
          </a:ln>
        </p:spPr>
        <p:txBody>
          <a:bodyPr wrap="none" lIns="0" tIns="0" rIns="0" bIns="0" anchor="t" anchorCtr="0">
            <a:spAutoFit/>
          </a:bodyPr>
          <a:lstStyle/>
          <a:p>
            <a:pPr algn="l"/>
            <a:r>
              <a:rPr lang="zh-CN" sz="1125" dirty="0">
                <a:solidFill>
                  <a:srgbClr val="E8EDF3"/>
                </a:solidFill>
                <a:latin typeface="Arial"/>
                <a:ea typeface="Microsoft YaHei"/>
                <a:cs typeface="Arial"/>
              </a:rPr>
              <a:t>基于先行验证期定位，明确中电联数智科技近期六个工作方向</a:t>
            </a:r>
          </a:p>
        </p:txBody>
      </p:sp>
      <p:sp>
        <p:nvSpPr>
          <p:cNvPr id="11" name="Rectangle 11"/>
          <p:cNvSpPr/>
          <p:nvPr/>
        </p:nvSpPr>
        <p:spPr>
          <a:xfrm>
            <a:off x="552450" y="1695450"/>
            <a:ext cx="3543300" cy="2286000"/>
          </a:xfrm>
          <a:prstGeom prst="roundRect">
            <a:avLst>
              <a:gd name="adj" fmla="val 1667"/>
            </a:avLst>
          </a:prstGeom>
          <a:solidFill>
            <a:srgbClr val="FFFFFF">
              <a:alpha val="7000"/>
            </a:srgbClr>
          </a:solidFill>
          <a:ln>
            <a:noFill/>
          </a:ln>
        </p:spPr>
      </p:sp>
      <p:sp>
        <p:nvSpPr>
          <p:cNvPr id="12" name="Rectangle 12"/>
          <p:cNvSpPr/>
          <p:nvPr/>
        </p:nvSpPr>
        <p:spPr>
          <a:xfrm>
            <a:off x="552450" y="1695450"/>
            <a:ext cx="57150" cy="2286000"/>
          </a:xfrm>
          <a:prstGeom prst="roundRect">
            <a:avLst>
              <a:gd name="adj" fmla="val 50000"/>
            </a:avLst>
          </a:prstGeom>
          <a:solidFill>
            <a:srgbClr val="0077CC"/>
          </a:solidFill>
          <a:ln>
            <a:noFill/>
          </a:ln>
        </p:spPr>
      </p:sp>
      <p:sp>
        <p:nvSpPr>
          <p:cNvPr id="13" name="TextBox 13"/>
          <p:cNvSpPr txBox="1"/>
          <p:nvPr/>
        </p:nvSpPr>
        <p:spPr>
          <a:xfrm>
            <a:off x="781050" y="1752600"/>
            <a:ext cx="538258" cy="609600"/>
          </a:xfrm>
          <a:prstGeom prst="rect">
            <a:avLst/>
          </a:prstGeom>
          <a:noFill/>
          <a:ln>
            <a:noFill/>
          </a:ln>
        </p:spPr>
        <p:txBody>
          <a:bodyPr wrap="none" lIns="0" tIns="0" rIns="0" bIns="0" anchor="t" anchorCtr="0">
            <a:spAutoFit/>
          </a:bodyPr>
          <a:lstStyle/>
          <a:p>
            <a:pPr algn="l"/>
            <a:r>
              <a:rPr lang="en-US" sz="3000" b="1" dirty="0">
                <a:solidFill>
                  <a:srgbClr val="0077CC">
                    <a:alphaMod val="40000"/>
                  </a:srgbClr>
                </a:solidFill>
                <a:latin typeface="Arial"/>
                <a:ea typeface="Arial"/>
                <a:cs typeface="Arial"/>
              </a:rPr>
              <a:t>01</a:t>
            </a:r>
          </a:p>
        </p:txBody>
      </p:sp>
      <p:sp>
        <p:nvSpPr>
          <p:cNvPr id="14" name="TextBox 14"/>
          <p:cNvSpPr txBox="1"/>
          <p:nvPr/>
        </p:nvSpPr>
        <p:spPr>
          <a:xfrm>
            <a:off x="802005" y="2292668"/>
            <a:ext cx="1924526"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签署先行企业合作协议</a:t>
            </a:r>
          </a:p>
        </p:txBody>
      </p:sp>
      <p:sp>
        <p:nvSpPr>
          <p:cNvPr id="15" name="Line 15"/>
          <p:cNvSpPr/>
          <p:nvPr/>
        </p:nvSpPr>
        <p:spPr>
          <a:xfrm>
            <a:off x="819150" y="2571750"/>
            <a:ext cx="3086100" cy="9525"/>
          </a:xfrm>
          <a:custGeom>
            <a:avLst/>
            <a:gdLst/>
            <a:ahLst/>
            <a:cxnLst/>
            <a:rect l="l" t="t" r="r" b="b"/>
            <a:pathLst>
              <a:path w="3086100" h="9525">
                <a:moveTo>
                  <a:pt x="0" y="0"/>
                </a:moveTo>
                <a:lnTo>
                  <a:pt x="3086100" y="0"/>
                </a:lnTo>
              </a:path>
            </a:pathLst>
          </a:custGeom>
          <a:noFill/>
          <a:ln w="9525">
            <a:solidFill>
              <a:srgbClr val="0077CC">
                <a:alpha val="40000"/>
              </a:srgbClr>
            </a:solidFill>
          </a:ln>
        </p:spPr>
      </p:sp>
      <p:sp>
        <p:nvSpPr>
          <p:cNvPr id="16" name="TextBox 16"/>
          <p:cNvSpPr txBox="1"/>
          <p:nvPr/>
        </p:nvSpPr>
        <p:spPr>
          <a:xfrm>
            <a:off x="804862" y="2697956"/>
            <a:ext cx="1821656"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锁定3家以上意向企业，完成</a:t>
            </a:r>
            <a:r>
              <a:rPr lang="zh-CN" sz="1125" dirty="0">
                <a:solidFill>
                  <a:srgbClr val="E8EDF3"/>
                </a:solidFill>
                <a:latin typeface="Arial"/>
                <a:ea typeface="Microsoft YaHei"/>
                <a:cs typeface="Arial"/>
              </a:rPr>
              <a:t>战略合作协议签署及接入</a:t>
            </a:r>
            <a:r>
              <a:rPr lang="zh-CN" sz="1125" dirty="0">
                <a:solidFill>
                  <a:srgbClr val="E8EDF3"/>
                </a:solidFill>
                <a:latin typeface="Arial"/>
                <a:ea typeface="Microsoft YaHei"/>
                <a:cs typeface="Arial"/>
              </a:rPr>
              <a:t>意向确认，建立工作群组</a:t>
            </a:r>
          </a:p>
        </p:txBody>
      </p:sp>
      <p:sp>
        <p:nvSpPr>
          <p:cNvPr id="17" name="Rectangle 17"/>
          <p:cNvSpPr/>
          <p:nvPr/>
        </p:nvSpPr>
        <p:spPr>
          <a:xfrm>
            <a:off x="4324350" y="1695450"/>
            <a:ext cx="3543300" cy="2286000"/>
          </a:xfrm>
          <a:prstGeom prst="roundRect">
            <a:avLst>
              <a:gd name="adj" fmla="val 1667"/>
            </a:avLst>
          </a:prstGeom>
          <a:solidFill>
            <a:srgbClr val="FFFFFF">
              <a:alpha val="7000"/>
            </a:srgbClr>
          </a:solidFill>
          <a:ln>
            <a:noFill/>
          </a:ln>
        </p:spPr>
      </p:sp>
      <p:sp>
        <p:nvSpPr>
          <p:cNvPr id="18" name="Rectangle 18"/>
          <p:cNvSpPr/>
          <p:nvPr/>
        </p:nvSpPr>
        <p:spPr>
          <a:xfrm>
            <a:off x="4324350" y="1695450"/>
            <a:ext cx="57150" cy="2286000"/>
          </a:xfrm>
          <a:prstGeom prst="roundRect">
            <a:avLst>
              <a:gd name="adj" fmla="val 50000"/>
            </a:avLst>
          </a:prstGeom>
          <a:solidFill>
            <a:srgbClr val="4A90D9"/>
          </a:solidFill>
          <a:ln>
            <a:noFill/>
          </a:ln>
        </p:spPr>
      </p:sp>
      <p:sp>
        <p:nvSpPr>
          <p:cNvPr id="19" name="TextBox 19"/>
          <p:cNvSpPr txBox="1"/>
          <p:nvPr/>
        </p:nvSpPr>
        <p:spPr>
          <a:xfrm>
            <a:off x="4552950" y="1752600"/>
            <a:ext cx="538258" cy="609600"/>
          </a:xfrm>
          <a:prstGeom prst="rect">
            <a:avLst/>
          </a:prstGeom>
          <a:noFill/>
          <a:ln>
            <a:noFill/>
          </a:ln>
        </p:spPr>
        <p:txBody>
          <a:bodyPr wrap="none" lIns="0" tIns="0" rIns="0" bIns="0" anchor="t" anchorCtr="0">
            <a:spAutoFit/>
          </a:bodyPr>
          <a:lstStyle/>
          <a:p>
            <a:pPr algn="l"/>
            <a:r>
              <a:rPr lang="en-US" sz="3000" b="1" dirty="0">
                <a:solidFill>
                  <a:srgbClr val="4A90D9">
                    <a:alphaMod val="40000"/>
                  </a:srgbClr>
                </a:solidFill>
                <a:latin typeface="Arial"/>
                <a:ea typeface="Arial"/>
                <a:cs typeface="Arial"/>
              </a:rPr>
              <a:t>02</a:t>
            </a:r>
          </a:p>
        </p:txBody>
      </p:sp>
      <p:sp>
        <p:nvSpPr>
          <p:cNvPr id="20" name="TextBox 20"/>
          <p:cNvSpPr txBox="1"/>
          <p:nvPr/>
        </p:nvSpPr>
        <p:spPr>
          <a:xfrm>
            <a:off x="4573905" y="2292668"/>
            <a:ext cx="1924526"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完成数据合规顶层设计</a:t>
            </a:r>
          </a:p>
        </p:txBody>
      </p:sp>
      <p:sp>
        <p:nvSpPr>
          <p:cNvPr id="21" name="Line 21"/>
          <p:cNvSpPr/>
          <p:nvPr/>
        </p:nvSpPr>
        <p:spPr>
          <a:xfrm>
            <a:off x="4591050" y="2571750"/>
            <a:ext cx="3086100" cy="9525"/>
          </a:xfrm>
          <a:custGeom>
            <a:avLst/>
            <a:gdLst/>
            <a:ahLst/>
            <a:cxnLst/>
            <a:rect l="l" t="t" r="r" b="b"/>
            <a:pathLst>
              <a:path w="3086100" h="9525">
                <a:moveTo>
                  <a:pt x="0" y="0"/>
                </a:moveTo>
                <a:lnTo>
                  <a:pt x="3086100" y="0"/>
                </a:lnTo>
              </a:path>
            </a:pathLst>
          </a:custGeom>
          <a:noFill/>
          <a:ln w="9525">
            <a:solidFill>
              <a:srgbClr val="4A90D9">
                <a:alpha val="40000"/>
              </a:srgbClr>
            </a:solidFill>
          </a:ln>
        </p:spPr>
      </p:sp>
      <p:sp>
        <p:nvSpPr>
          <p:cNvPr id="22" name="TextBox 22"/>
          <p:cNvSpPr txBox="1"/>
          <p:nvPr/>
        </p:nvSpPr>
        <p:spPr>
          <a:xfrm>
            <a:off x="4576762" y="2697956"/>
            <a:ext cx="1743075"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委托法律顾问起草个人信息</a:t>
            </a:r>
            <a:r>
              <a:rPr lang="zh-CN" sz="1125" dirty="0">
                <a:solidFill>
                  <a:srgbClr val="E8EDF3"/>
                </a:solidFill>
                <a:latin typeface="Arial"/>
                <a:ea typeface="Microsoft YaHei"/>
                <a:cs typeface="Arial"/>
              </a:rPr>
              <a:t>授权文本，完成数据安全</a:t>
            </a:r>
            <a:r>
              <a:rPr lang="zh-CN" sz="1125" dirty="0">
                <a:solidFill>
                  <a:srgbClr val="E8EDF3"/>
                </a:solidFill>
                <a:latin typeface="Arial"/>
                <a:ea typeface="Microsoft YaHei"/>
                <a:cs typeface="Arial"/>
              </a:rPr>
              <a:t>合规评估，形成合规底座</a:t>
            </a:r>
          </a:p>
        </p:txBody>
      </p:sp>
      <p:sp>
        <p:nvSpPr>
          <p:cNvPr id="23" name="Rectangle 23"/>
          <p:cNvSpPr/>
          <p:nvPr/>
        </p:nvSpPr>
        <p:spPr>
          <a:xfrm>
            <a:off x="8096250" y="1695450"/>
            <a:ext cx="3543300" cy="2286000"/>
          </a:xfrm>
          <a:prstGeom prst="roundRect">
            <a:avLst>
              <a:gd name="adj" fmla="val 1667"/>
            </a:avLst>
          </a:prstGeom>
          <a:solidFill>
            <a:srgbClr val="FFFFFF">
              <a:alpha val="7000"/>
            </a:srgbClr>
          </a:solidFill>
          <a:ln>
            <a:noFill/>
          </a:ln>
        </p:spPr>
      </p:sp>
      <p:sp>
        <p:nvSpPr>
          <p:cNvPr id="24" name="Rectangle 24"/>
          <p:cNvSpPr/>
          <p:nvPr/>
        </p:nvSpPr>
        <p:spPr>
          <a:xfrm>
            <a:off x="8096250" y="1695450"/>
            <a:ext cx="57150" cy="2286000"/>
          </a:xfrm>
          <a:prstGeom prst="roundRect">
            <a:avLst>
              <a:gd name="adj" fmla="val 50000"/>
            </a:avLst>
          </a:prstGeom>
          <a:solidFill>
            <a:srgbClr val="E8EDF3">
              <a:alpha val="60000"/>
            </a:srgbClr>
          </a:solidFill>
          <a:ln>
            <a:noFill/>
          </a:ln>
        </p:spPr>
      </p:sp>
      <p:sp>
        <p:nvSpPr>
          <p:cNvPr id="25" name="TextBox 25"/>
          <p:cNvSpPr txBox="1"/>
          <p:nvPr/>
        </p:nvSpPr>
        <p:spPr>
          <a:xfrm>
            <a:off x="8324850" y="1752600"/>
            <a:ext cx="538258" cy="609600"/>
          </a:xfrm>
          <a:prstGeom prst="rect">
            <a:avLst/>
          </a:prstGeom>
          <a:noFill/>
          <a:ln>
            <a:noFill/>
          </a:ln>
        </p:spPr>
        <p:txBody>
          <a:bodyPr wrap="none" lIns="0" tIns="0" rIns="0" bIns="0" anchor="t" anchorCtr="0">
            <a:spAutoFit/>
          </a:bodyPr>
          <a:lstStyle/>
          <a:p>
            <a:pPr algn="l"/>
            <a:r>
              <a:rPr lang="en-US" sz="3000" b="1" dirty="0">
                <a:solidFill>
                  <a:srgbClr val="E8EDF3">
                    <a:alphaMod val="30000"/>
                  </a:srgbClr>
                </a:solidFill>
                <a:latin typeface="Arial"/>
                <a:ea typeface="Arial"/>
                <a:cs typeface="Arial"/>
              </a:rPr>
              <a:t>03</a:t>
            </a:r>
          </a:p>
        </p:txBody>
      </p:sp>
      <p:sp>
        <p:nvSpPr>
          <p:cNvPr id="26" name="TextBox 26"/>
          <p:cNvSpPr txBox="1"/>
          <p:nvPr/>
        </p:nvSpPr>
        <p:spPr>
          <a:xfrm>
            <a:off x="8345805" y="2292668"/>
            <a:ext cx="1546479"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建设最小可用产品</a:t>
            </a:r>
          </a:p>
        </p:txBody>
      </p:sp>
      <p:sp>
        <p:nvSpPr>
          <p:cNvPr id="27" name="Line 27"/>
          <p:cNvSpPr/>
          <p:nvPr/>
        </p:nvSpPr>
        <p:spPr>
          <a:xfrm>
            <a:off x="8362950" y="2571750"/>
            <a:ext cx="3086100" cy="9525"/>
          </a:xfrm>
          <a:custGeom>
            <a:avLst/>
            <a:gdLst/>
            <a:ahLst/>
            <a:cxnLst/>
            <a:rect l="l" t="t" r="r" b="b"/>
            <a:pathLst>
              <a:path w="3086100" h="9525">
                <a:moveTo>
                  <a:pt x="0" y="0"/>
                </a:moveTo>
                <a:lnTo>
                  <a:pt x="3086100" y="0"/>
                </a:lnTo>
              </a:path>
            </a:pathLst>
          </a:custGeom>
          <a:noFill/>
          <a:ln w="9525">
            <a:solidFill>
              <a:srgbClr val="E8EDF3">
                <a:alpha val="30000"/>
              </a:srgbClr>
            </a:solidFill>
          </a:ln>
        </p:spPr>
      </p:sp>
      <p:sp>
        <p:nvSpPr>
          <p:cNvPr id="28" name="TextBox 28"/>
          <p:cNvSpPr txBox="1"/>
          <p:nvPr/>
        </p:nvSpPr>
        <p:spPr>
          <a:xfrm>
            <a:off x="8348662" y="2697956"/>
            <a:ext cx="1743075"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开发训考核验+证照查验+</a:t>
            </a:r>
            <a:r>
              <a:rPr lang="zh-CN" sz="1125" dirty="0">
                <a:solidFill>
                  <a:srgbClr val="E8EDF3"/>
                </a:solidFill>
                <a:latin typeface="Arial"/>
                <a:ea typeface="Microsoft YaHei"/>
                <a:cs typeface="Arial"/>
              </a:rPr>
              <a:t>准入规则引擎三核心模块，</a:t>
            </a:r>
            <a:r>
              <a:rPr lang="zh-CN" sz="1125" dirty="0">
                <a:solidFill>
                  <a:srgbClr val="E8EDF3"/>
                </a:solidFill>
                <a:latin typeface="Arial"/>
                <a:ea typeface="Microsoft YaHei"/>
                <a:cs typeface="Arial"/>
              </a:rPr>
              <a:t>完成W5-W8系统上线</a:t>
            </a:r>
          </a:p>
        </p:txBody>
      </p:sp>
      <p:sp>
        <p:nvSpPr>
          <p:cNvPr id="29" name="Rectangle 29"/>
          <p:cNvSpPr/>
          <p:nvPr/>
        </p:nvSpPr>
        <p:spPr>
          <a:xfrm>
            <a:off x="552450" y="4191000"/>
            <a:ext cx="3543300" cy="2286000"/>
          </a:xfrm>
          <a:prstGeom prst="roundRect">
            <a:avLst>
              <a:gd name="adj" fmla="val 1667"/>
            </a:avLst>
          </a:prstGeom>
          <a:solidFill>
            <a:srgbClr val="FFFFFF">
              <a:alpha val="7000"/>
            </a:srgbClr>
          </a:solidFill>
          <a:ln>
            <a:noFill/>
          </a:ln>
        </p:spPr>
      </p:sp>
      <p:sp>
        <p:nvSpPr>
          <p:cNvPr id="30" name="Rectangle 30"/>
          <p:cNvSpPr/>
          <p:nvPr/>
        </p:nvSpPr>
        <p:spPr>
          <a:xfrm>
            <a:off x="552450" y="4191000"/>
            <a:ext cx="57150" cy="2286000"/>
          </a:xfrm>
          <a:prstGeom prst="roundRect">
            <a:avLst>
              <a:gd name="adj" fmla="val 50000"/>
            </a:avLst>
          </a:prstGeom>
          <a:solidFill>
            <a:srgbClr val="C53030"/>
          </a:solidFill>
          <a:ln>
            <a:noFill/>
          </a:ln>
        </p:spPr>
      </p:sp>
      <p:sp>
        <p:nvSpPr>
          <p:cNvPr id="31" name="TextBox 31"/>
          <p:cNvSpPr txBox="1"/>
          <p:nvPr/>
        </p:nvSpPr>
        <p:spPr>
          <a:xfrm>
            <a:off x="781050" y="4248150"/>
            <a:ext cx="538258" cy="609600"/>
          </a:xfrm>
          <a:prstGeom prst="rect">
            <a:avLst/>
          </a:prstGeom>
          <a:noFill/>
          <a:ln>
            <a:noFill/>
          </a:ln>
        </p:spPr>
        <p:txBody>
          <a:bodyPr wrap="none" lIns="0" tIns="0" rIns="0" bIns="0" anchor="t" anchorCtr="0">
            <a:spAutoFit/>
          </a:bodyPr>
          <a:lstStyle/>
          <a:p>
            <a:pPr algn="l"/>
            <a:r>
              <a:rPr lang="en-US" sz="3000" b="1" dirty="0">
                <a:solidFill>
                  <a:srgbClr val="C53030">
                    <a:alphaMod val="50000"/>
                  </a:srgbClr>
                </a:solidFill>
                <a:latin typeface="Arial"/>
                <a:ea typeface="Arial"/>
                <a:cs typeface="Arial"/>
              </a:rPr>
              <a:t>04</a:t>
            </a:r>
          </a:p>
        </p:txBody>
      </p:sp>
      <p:sp>
        <p:nvSpPr>
          <p:cNvPr id="32" name="TextBox 32"/>
          <p:cNvSpPr txBox="1"/>
          <p:nvPr/>
        </p:nvSpPr>
        <p:spPr>
          <a:xfrm>
            <a:off x="802005" y="4788218"/>
            <a:ext cx="173550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组织先行验证期运行</a:t>
            </a:r>
          </a:p>
        </p:txBody>
      </p:sp>
      <p:sp>
        <p:nvSpPr>
          <p:cNvPr id="33" name="Line 33"/>
          <p:cNvSpPr/>
          <p:nvPr/>
        </p:nvSpPr>
        <p:spPr>
          <a:xfrm>
            <a:off x="819150" y="5067300"/>
            <a:ext cx="3086100" cy="9525"/>
          </a:xfrm>
          <a:custGeom>
            <a:avLst/>
            <a:gdLst/>
            <a:ahLst/>
            <a:cxnLst/>
            <a:rect l="l" t="t" r="r" b="b"/>
            <a:pathLst>
              <a:path w="3086100" h="9525">
                <a:moveTo>
                  <a:pt x="0" y="0"/>
                </a:moveTo>
                <a:lnTo>
                  <a:pt x="3086100" y="0"/>
                </a:lnTo>
              </a:path>
            </a:pathLst>
          </a:custGeom>
          <a:noFill/>
          <a:ln w="9525">
            <a:solidFill>
              <a:srgbClr val="C53030">
                <a:alpha val="40000"/>
              </a:srgbClr>
            </a:solidFill>
          </a:ln>
        </p:spPr>
      </p:sp>
      <p:sp>
        <p:nvSpPr>
          <p:cNvPr id="34" name="TextBox 34"/>
          <p:cNvSpPr txBox="1"/>
          <p:nvPr/>
        </p:nvSpPr>
        <p:spPr>
          <a:xfrm>
            <a:off x="804862" y="5193506"/>
            <a:ext cx="1600200"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真实外委场景核验运行，</a:t>
            </a:r>
            <a:r>
              <a:rPr lang="zh-CN" sz="1125" dirty="0">
                <a:solidFill>
                  <a:srgbClr val="E8EDF3"/>
                </a:solidFill>
                <a:latin typeface="Arial"/>
                <a:ea typeface="Microsoft YaHei"/>
                <a:cs typeface="Arial"/>
              </a:rPr>
              <a:t>记录问题与优化需求，</a:t>
            </a:r>
            <a:r>
              <a:rPr lang="zh-CN" sz="1125" dirty="0">
                <a:solidFill>
                  <a:srgbClr val="E8EDF3"/>
                </a:solidFill>
                <a:latin typeface="Arial"/>
                <a:ea typeface="Microsoft YaHei"/>
                <a:cs typeface="Arial"/>
              </a:rPr>
              <a:t>W9-W11实战闭环</a:t>
            </a:r>
          </a:p>
        </p:txBody>
      </p:sp>
      <p:sp>
        <p:nvSpPr>
          <p:cNvPr id="35" name="Rectangle 35"/>
          <p:cNvSpPr/>
          <p:nvPr/>
        </p:nvSpPr>
        <p:spPr>
          <a:xfrm>
            <a:off x="4324350" y="4191000"/>
            <a:ext cx="3543300" cy="2286000"/>
          </a:xfrm>
          <a:prstGeom prst="roundRect">
            <a:avLst>
              <a:gd name="adj" fmla="val 1667"/>
            </a:avLst>
          </a:prstGeom>
          <a:solidFill>
            <a:srgbClr val="FFFFFF">
              <a:alpha val="7000"/>
            </a:srgbClr>
          </a:solidFill>
          <a:ln>
            <a:noFill/>
          </a:ln>
        </p:spPr>
      </p:sp>
      <p:sp>
        <p:nvSpPr>
          <p:cNvPr id="36" name="Rectangle 36"/>
          <p:cNvSpPr/>
          <p:nvPr/>
        </p:nvSpPr>
        <p:spPr>
          <a:xfrm>
            <a:off x="4324350" y="4191000"/>
            <a:ext cx="57150" cy="2286000"/>
          </a:xfrm>
          <a:prstGeom prst="roundRect">
            <a:avLst>
              <a:gd name="adj" fmla="val 50000"/>
            </a:avLst>
          </a:prstGeom>
          <a:solidFill>
            <a:srgbClr val="2D7D46"/>
          </a:solidFill>
          <a:ln>
            <a:noFill/>
          </a:ln>
        </p:spPr>
      </p:sp>
      <p:sp>
        <p:nvSpPr>
          <p:cNvPr id="37" name="TextBox 37"/>
          <p:cNvSpPr txBox="1"/>
          <p:nvPr/>
        </p:nvSpPr>
        <p:spPr>
          <a:xfrm>
            <a:off x="4552950" y="4248150"/>
            <a:ext cx="538258" cy="609600"/>
          </a:xfrm>
          <a:prstGeom prst="rect">
            <a:avLst/>
          </a:prstGeom>
          <a:noFill/>
          <a:ln>
            <a:noFill/>
          </a:ln>
        </p:spPr>
        <p:txBody>
          <a:bodyPr wrap="none" lIns="0" tIns="0" rIns="0" bIns="0" anchor="t" anchorCtr="0">
            <a:spAutoFit/>
          </a:bodyPr>
          <a:lstStyle/>
          <a:p>
            <a:pPr algn="l"/>
            <a:r>
              <a:rPr lang="en-US" sz="3000" b="1" dirty="0">
                <a:solidFill>
                  <a:srgbClr val="2D7D46">
                    <a:alphaMod val="50000"/>
                  </a:srgbClr>
                </a:solidFill>
                <a:latin typeface="Arial"/>
                <a:ea typeface="Arial"/>
                <a:cs typeface="Arial"/>
              </a:rPr>
              <a:t>05</a:t>
            </a:r>
          </a:p>
        </p:txBody>
      </p:sp>
      <p:sp>
        <p:nvSpPr>
          <p:cNvPr id="38" name="TextBox 38"/>
          <p:cNvSpPr txBox="1"/>
          <p:nvPr/>
        </p:nvSpPr>
        <p:spPr>
          <a:xfrm>
            <a:off x="4573905" y="4788218"/>
            <a:ext cx="173550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形成复盘与推广材料</a:t>
            </a:r>
          </a:p>
        </p:txBody>
      </p:sp>
      <p:sp>
        <p:nvSpPr>
          <p:cNvPr id="39" name="Line 39"/>
          <p:cNvSpPr/>
          <p:nvPr/>
        </p:nvSpPr>
        <p:spPr>
          <a:xfrm>
            <a:off x="4591050" y="5067300"/>
            <a:ext cx="3086100" cy="9525"/>
          </a:xfrm>
          <a:custGeom>
            <a:avLst/>
            <a:gdLst/>
            <a:ahLst/>
            <a:cxnLst/>
            <a:rect l="l" t="t" r="r" b="b"/>
            <a:pathLst>
              <a:path w="3086100" h="9525">
                <a:moveTo>
                  <a:pt x="0" y="0"/>
                </a:moveTo>
                <a:lnTo>
                  <a:pt x="3086100" y="0"/>
                </a:lnTo>
              </a:path>
            </a:pathLst>
          </a:custGeom>
          <a:noFill/>
          <a:ln w="9525">
            <a:solidFill>
              <a:srgbClr val="2D7D46">
                <a:alpha val="40000"/>
              </a:srgbClr>
            </a:solidFill>
          </a:ln>
        </p:spPr>
      </p:sp>
      <p:sp>
        <p:nvSpPr>
          <p:cNvPr id="40" name="TextBox 40"/>
          <p:cNvSpPr txBox="1"/>
          <p:nvPr/>
        </p:nvSpPr>
        <p:spPr>
          <a:xfrm>
            <a:off x="4576762" y="5193506"/>
            <a:ext cx="1471612"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第12周完成验证报告，</a:t>
            </a:r>
            <a:r>
              <a:rPr lang="zh-CN" sz="1125" dirty="0">
                <a:solidFill>
                  <a:srgbClr val="E8EDF3"/>
                </a:solidFill>
                <a:latin typeface="Arial"/>
                <a:ea typeface="Microsoft YaHei"/>
                <a:cs typeface="Arial"/>
              </a:rPr>
              <a:t>总结成果与问题，形成</a:t>
            </a:r>
            <a:r>
              <a:rPr lang="zh-CN" sz="1125" dirty="0">
                <a:solidFill>
                  <a:srgbClr val="E8EDF3"/>
                </a:solidFill>
                <a:latin typeface="Arial"/>
                <a:ea typeface="Microsoft YaHei"/>
                <a:cs typeface="Arial"/>
              </a:rPr>
              <a:t>可复制的推广方法论</a:t>
            </a:r>
          </a:p>
        </p:txBody>
      </p:sp>
      <p:sp>
        <p:nvSpPr>
          <p:cNvPr id="41" name="Rectangle 41"/>
          <p:cNvSpPr/>
          <p:nvPr/>
        </p:nvSpPr>
        <p:spPr>
          <a:xfrm>
            <a:off x="8096250" y="4191000"/>
            <a:ext cx="3543300" cy="2286000"/>
          </a:xfrm>
          <a:prstGeom prst="roundRect">
            <a:avLst>
              <a:gd name="adj" fmla="val 1667"/>
            </a:avLst>
          </a:prstGeom>
          <a:solidFill>
            <a:srgbClr val="FFFFFF">
              <a:alpha val="7000"/>
            </a:srgbClr>
          </a:solidFill>
          <a:ln>
            <a:noFill/>
          </a:ln>
        </p:spPr>
      </p:sp>
      <p:sp>
        <p:nvSpPr>
          <p:cNvPr id="42" name="Rectangle 42"/>
          <p:cNvSpPr/>
          <p:nvPr/>
        </p:nvSpPr>
        <p:spPr>
          <a:xfrm>
            <a:off x="8096250" y="4191000"/>
            <a:ext cx="57150" cy="2286000"/>
          </a:xfrm>
          <a:prstGeom prst="roundRect">
            <a:avLst>
              <a:gd name="adj" fmla="val 50000"/>
            </a:avLst>
          </a:prstGeom>
          <a:solidFill>
            <a:srgbClr val="F6C90E"/>
          </a:solidFill>
          <a:ln>
            <a:noFill/>
          </a:ln>
        </p:spPr>
      </p:sp>
      <p:sp>
        <p:nvSpPr>
          <p:cNvPr id="43" name="TextBox 43"/>
          <p:cNvSpPr txBox="1"/>
          <p:nvPr/>
        </p:nvSpPr>
        <p:spPr>
          <a:xfrm>
            <a:off x="8324850" y="4248150"/>
            <a:ext cx="538258" cy="609600"/>
          </a:xfrm>
          <a:prstGeom prst="rect">
            <a:avLst/>
          </a:prstGeom>
          <a:noFill/>
          <a:ln>
            <a:noFill/>
          </a:ln>
        </p:spPr>
        <p:txBody>
          <a:bodyPr wrap="none" lIns="0" tIns="0" rIns="0" bIns="0" anchor="t" anchorCtr="0">
            <a:spAutoFit/>
          </a:bodyPr>
          <a:lstStyle/>
          <a:p>
            <a:pPr algn="l"/>
            <a:r>
              <a:rPr lang="en-US" sz="3000" b="1" dirty="0">
                <a:solidFill>
                  <a:srgbClr val="F6C90E">
                    <a:alphaMod val="40000"/>
                  </a:srgbClr>
                </a:solidFill>
                <a:latin typeface="Arial"/>
                <a:ea typeface="Arial"/>
                <a:cs typeface="Arial"/>
              </a:rPr>
              <a:t>06</a:t>
            </a:r>
          </a:p>
        </p:txBody>
      </p:sp>
      <p:sp>
        <p:nvSpPr>
          <p:cNvPr id="44" name="TextBox 44"/>
          <p:cNvSpPr txBox="1"/>
          <p:nvPr/>
        </p:nvSpPr>
        <p:spPr>
          <a:xfrm>
            <a:off x="8345805" y="4788218"/>
            <a:ext cx="1735503"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SimHei"/>
                <a:cs typeface="Arial"/>
              </a:rPr>
              <a:t>启动产品成型期规划</a:t>
            </a:r>
          </a:p>
        </p:txBody>
      </p:sp>
      <p:sp>
        <p:nvSpPr>
          <p:cNvPr id="45" name="Line 45"/>
          <p:cNvSpPr/>
          <p:nvPr/>
        </p:nvSpPr>
        <p:spPr>
          <a:xfrm>
            <a:off x="8362950" y="5067300"/>
            <a:ext cx="3086100" cy="9525"/>
          </a:xfrm>
          <a:custGeom>
            <a:avLst/>
            <a:gdLst/>
            <a:ahLst/>
            <a:cxnLst/>
            <a:rect l="l" t="t" r="r" b="b"/>
            <a:pathLst>
              <a:path w="3086100" h="9525">
                <a:moveTo>
                  <a:pt x="0" y="0"/>
                </a:moveTo>
                <a:lnTo>
                  <a:pt x="3086100" y="0"/>
                </a:lnTo>
              </a:path>
            </a:pathLst>
          </a:custGeom>
          <a:noFill/>
          <a:ln w="9525">
            <a:solidFill>
              <a:srgbClr val="F6C90E">
                <a:alpha val="40000"/>
              </a:srgbClr>
            </a:solidFill>
          </a:ln>
        </p:spPr>
      </p:sp>
      <p:sp>
        <p:nvSpPr>
          <p:cNvPr id="46" name="TextBox 46"/>
          <p:cNvSpPr txBox="1"/>
          <p:nvPr/>
        </p:nvSpPr>
        <p:spPr>
          <a:xfrm>
            <a:off x="8348662" y="5193506"/>
            <a:ext cx="1314450" cy="723900"/>
          </a:xfrm>
          <a:prstGeom prst="rect">
            <a:avLst/>
          </a:prstGeom>
          <a:noFill/>
          <a:ln>
            <a:noFill/>
          </a:ln>
        </p:spPr>
        <p:txBody>
          <a:bodyPr wrap="square" lIns="0" tIns="0" rIns="0" bIns="0" anchor="t" anchorCtr="0"/>
          <a:lstStyle/>
          <a:p>
            <a:pPr algn="l">
              <a:lnSpc>
                <a:spcPts val="1950"/>
              </a:lnSpc>
            </a:pPr>
            <a:r>
              <a:rPr lang="zh-CN" sz="1125" dirty="0">
                <a:solidFill>
                  <a:srgbClr val="E8EDF3"/>
                </a:solidFill>
                <a:latin typeface="Arial"/>
                <a:ea typeface="Microsoft YaHei"/>
                <a:cs typeface="Arial"/>
              </a:rPr>
              <a:t>基于验证期数据制定</a:t>
            </a:r>
            <a:r>
              <a:rPr lang="zh-CN" sz="1125" dirty="0">
                <a:solidFill>
                  <a:srgbClr val="E8EDF3"/>
                </a:solidFill>
                <a:latin typeface="Arial"/>
                <a:ea typeface="Microsoft YaHei"/>
                <a:cs typeface="Arial"/>
              </a:rPr>
              <a:t>产品成型期路线图，</a:t>
            </a:r>
            <a:r>
              <a:rPr lang="zh-CN" sz="1125" dirty="0">
                <a:solidFill>
                  <a:srgbClr val="E8EDF3"/>
                </a:solidFill>
                <a:latin typeface="Arial"/>
                <a:ea typeface="Microsoft YaHei"/>
                <a:cs typeface="Arial"/>
              </a:rPr>
              <a:t>确认商业模式与定价</a:t>
            </a:r>
          </a:p>
        </p:txBody>
      </p:sp>
      <p:sp>
        <p:nvSpPr>
          <p:cNvPr id="47" name="TextBox 47"/>
          <p:cNvSpPr txBox="1"/>
          <p:nvPr/>
        </p:nvSpPr>
        <p:spPr>
          <a:xfrm>
            <a:off x="3688068" y="6562249"/>
            <a:ext cx="4815864" cy="198120"/>
          </a:xfrm>
          <a:prstGeom prst="rect">
            <a:avLst/>
          </a:prstGeom>
          <a:noFill/>
          <a:ln>
            <a:noFill/>
          </a:ln>
        </p:spPr>
        <p:txBody>
          <a:bodyPr wrap="none" lIns="0" tIns="0" rIns="0" bIns="0" anchor="t" anchorCtr="0">
            <a:spAutoFit/>
          </a:bodyPr>
          <a:lstStyle/>
          <a:p>
            <a:pPr algn="ctr"/>
            <a:r>
              <a:rPr lang="zh-CN" sz="975" dirty="0">
                <a:solidFill>
                  <a:srgbClr val="718096"/>
                </a:solidFill>
                <a:latin typeface="Arial"/>
                <a:ea typeface="Microsoft YaHei"/>
                <a:cs typeface="Arial"/>
              </a:rPr>
              <a:t>以上行动建议按先行验证期90天时间节点排列，建议尽快启动01/02两项前置工作。</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solidFill>
            <a:srgbClr val="001A35">
              <a:alpha val="55000"/>
            </a:srgbClr>
          </a:solidFill>
          <a:ln>
            <a:noFill/>
          </a:ln>
        </p:spPr>
      </p:sp>
      <p:sp>
        <p:nvSpPr>
          <p:cNvPr id="4" name="TextBox 4"/>
          <p:cNvSpPr txBox="1"/>
          <p:nvPr/>
        </p:nvSpPr>
        <p:spPr>
          <a:xfrm>
            <a:off x="4515231" y="2084070"/>
            <a:ext cx="3161538" cy="1097280"/>
          </a:xfrm>
          <a:prstGeom prst="rect">
            <a:avLst/>
          </a:prstGeom>
          <a:noFill/>
          <a:ln>
            <a:noFill/>
          </a:ln>
        </p:spPr>
        <p:txBody>
          <a:bodyPr wrap="none" lIns="0" tIns="0" rIns="0" bIns="0" anchor="t" anchorCtr="0">
            <a:spAutoFit/>
          </a:bodyPr>
          <a:lstStyle/>
          <a:p>
            <a:pPr algn="ctr"/>
            <a:r>
              <a:rPr lang="zh-CN" sz="5400" b="1" dirty="0">
                <a:solidFill>
                  <a:srgbClr val="C00000"/>
                </a:solidFill>
                <a:latin typeface="Arial"/>
                <a:ea typeface="SimHei"/>
                <a:cs typeface="Arial"/>
              </a:rPr>
              <a:t>感谢聆听</a:t>
            </a:r>
          </a:p>
        </p:txBody>
      </p:sp>
      <p:sp>
        <p:nvSpPr>
          <p:cNvPr id="5" name="Ellipse 5"/>
          <p:cNvSpPr/>
          <p:nvPr/>
        </p:nvSpPr>
        <p:spPr>
          <a:xfrm>
            <a:off x="6038850" y="3371850"/>
            <a:ext cx="114300" cy="114300"/>
          </a:xfrm>
          <a:prstGeom prst="ellipse">
            <a:avLst/>
          </a:prstGeom>
          <a:solidFill>
            <a:srgbClr val="C00000"/>
          </a:solidFill>
          <a:ln>
            <a:noFill/>
          </a:ln>
        </p:spPr>
      </p:sp>
      <p:sp>
        <p:nvSpPr>
          <p:cNvPr id="6" name="TextBox 6"/>
          <p:cNvSpPr txBox="1"/>
          <p:nvPr/>
        </p:nvSpPr>
        <p:spPr>
          <a:xfrm>
            <a:off x="4601880" y="3832860"/>
            <a:ext cx="2988240" cy="853440"/>
          </a:xfrm>
          <a:prstGeom prst="rect">
            <a:avLst/>
          </a:prstGeom>
          <a:noFill/>
          <a:ln>
            <a:noFill/>
          </a:ln>
        </p:spPr>
        <p:txBody>
          <a:bodyPr wrap="none" lIns="0" tIns="0" rIns="0" bIns="0" anchor="t" anchorCtr="0">
            <a:spAutoFit/>
          </a:bodyPr>
          <a:lstStyle/>
          <a:p>
            <a:pPr algn="ctr"/>
            <a:r>
              <a:rPr lang="en-US" sz="4200" b="1" dirty="0">
                <a:solidFill>
                  <a:srgbClr val="FFFFFF"/>
                </a:solidFill>
                <a:latin typeface="Arial"/>
                <a:ea typeface="Arial"/>
                <a:cs typeface="Arial"/>
              </a:rPr>
              <a:t>THANK YOU</a:t>
            </a:r>
          </a:p>
        </p:txBody>
      </p:sp>
      <p:sp>
        <p:nvSpPr>
          <p:cNvPr id="7" name="Line 7"/>
          <p:cNvSpPr/>
          <p:nvPr/>
        </p:nvSpPr>
        <p:spPr>
          <a:xfrm>
            <a:off x="3810000" y="4743450"/>
            <a:ext cx="4572000" cy="9525"/>
          </a:xfrm>
          <a:custGeom>
            <a:avLst/>
            <a:gdLst/>
            <a:ahLst/>
            <a:cxnLst/>
            <a:rect l="l" t="t" r="r" b="b"/>
            <a:pathLst>
              <a:path w="4572000" h="9525">
                <a:moveTo>
                  <a:pt x="0" y="0"/>
                </a:moveTo>
                <a:lnTo>
                  <a:pt x="4572000" y="0"/>
                </a:lnTo>
              </a:path>
            </a:pathLst>
          </a:custGeom>
          <a:noFill/>
          <a:ln w="9525">
            <a:solidFill>
              <a:srgbClr val="FFFFFF">
                <a:alpha val="30000"/>
              </a:srgbClr>
            </a:solidFill>
          </a:ln>
        </p:spPr>
      </p:sp>
      <p:sp>
        <p:nvSpPr>
          <p:cNvPr id="8" name="TextBox 8"/>
          <p:cNvSpPr txBox="1"/>
          <p:nvPr/>
        </p:nvSpPr>
        <p:spPr>
          <a:xfrm>
            <a:off x="5084921" y="4965382"/>
            <a:ext cx="2022158" cy="335280"/>
          </a:xfrm>
          <a:prstGeom prst="rect">
            <a:avLst/>
          </a:prstGeom>
          <a:noFill/>
          <a:ln>
            <a:noFill/>
          </a:ln>
        </p:spPr>
        <p:txBody>
          <a:bodyPr wrap="none" lIns="0" tIns="0" rIns="0" bIns="0" anchor="t" anchorCtr="0">
            <a:spAutoFit/>
          </a:bodyPr>
          <a:lstStyle/>
          <a:p>
            <a:pPr algn="ctr"/>
            <a:r>
              <a:rPr lang="zh-CN" sz="1650" dirty="0">
                <a:solidFill>
                  <a:srgbClr val="FFFFFF">
                    <a:alphaMod val="85000"/>
                  </a:srgbClr>
                </a:solidFill>
                <a:latin typeface="Arial"/>
                <a:ea typeface="Microsoft YaHei"/>
                <a:cs typeface="Arial"/>
              </a:rPr>
              <a:t>中国电力企业联合会</a:t>
            </a:r>
          </a:p>
        </p:txBody>
      </p:sp>
      <p:sp>
        <p:nvSpPr>
          <p:cNvPr id="9" name="TextBox 9"/>
          <p:cNvSpPr txBox="1"/>
          <p:nvPr/>
        </p:nvSpPr>
        <p:spPr>
          <a:xfrm>
            <a:off x="5088731" y="5331142"/>
            <a:ext cx="2014538" cy="274320"/>
          </a:xfrm>
          <a:prstGeom prst="rect">
            <a:avLst/>
          </a:prstGeom>
          <a:noFill/>
          <a:ln>
            <a:noFill/>
          </a:ln>
        </p:spPr>
        <p:txBody>
          <a:bodyPr wrap="none" lIns="0" tIns="0" rIns="0" bIns="0" anchor="t" anchorCtr="0">
            <a:spAutoFit/>
          </a:bodyPr>
          <a:lstStyle/>
          <a:p>
            <a:pPr algn="ctr"/>
            <a:r>
              <a:rPr lang="zh-CN" sz="1350" dirty="0">
                <a:solidFill>
                  <a:srgbClr val="FFFFFF">
                    <a:alphaMod val="65000"/>
                  </a:srgbClr>
                </a:solidFill>
                <a:latin typeface="Arial"/>
                <a:ea typeface="Microsoft YaHei"/>
                <a:cs typeface="Arial"/>
              </a:rPr>
              <a:t>中电联数智科技有限公司</a:t>
            </a:r>
          </a:p>
        </p:txBody>
      </p:sp>
      <p:sp>
        <p:nvSpPr>
          <p:cNvPr id="10" name="TextBox 10"/>
          <p:cNvSpPr txBox="1"/>
          <p:nvPr/>
        </p:nvSpPr>
        <p:spPr>
          <a:xfrm>
            <a:off x="5280660" y="5680710"/>
            <a:ext cx="1630680" cy="243840"/>
          </a:xfrm>
          <a:prstGeom prst="rect">
            <a:avLst/>
          </a:prstGeom>
          <a:noFill/>
          <a:ln>
            <a:noFill/>
          </a:ln>
        </p:spPr>
        <p:txBody>
          <a:bodyPr wrap="none" lIns="0" tIns="0" rIns="0" bIns="0" anchor="t" anchorCtr="0">
            <a:spAutoFit/>
          </a:bodyPr>
          <a:lstStyle/>
          <a:p>
            <a:pPr algn="ctr"/>
            <a:r>
              <a:rPr lang="zh-CN" sz="1200" dirty="0">
                <a:solidFill>
                  <a:srgbClr val="FFFFFF">
                    <a:alphaMod val="50000"/>
                  </a:srgbClr>
                </a:solidFill>
                <a:latin typeface="Arial"/>
                <a:ea typeface="Microsoft YaHei"/>
                <a:cs typeface="Arial"/>
              </a:rPr>
              <a:t>联系方式请见报告封面</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2026-06-21T23:32:48Z</dcterms:created>
  <dcterms:modified xsi:type="dcterms:W3CDTF">2026-06-21T23:32:48Z</dcterms:modified>
  <cp:category/>
  <cp:contentStatus/>
</cp:coreProperties>
</file>